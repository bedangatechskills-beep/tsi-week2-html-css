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TITLE (0:00)
Say: "Namaste! Welcome to Week 2. Last week you built a tiny About Me page. Today we go deep into HTML."
Say: "Today is very hands-on. I will show you, then YOU type. Many pages today are broken on purpose. Your job is to mend them."
Point at the pill: "In class today there are 42 planted bugs across 7 bug-hunts. By 4:00 you will have fixed most of them."
The One Rule comes on slide 3. Keep this slide short, about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ROADMAP
Read the day quickly, not every line. Two breaks: 1:28 and 2:49.
Say: "Every block has the same rhythm: I show for a few minutes, you type with me, then you fix a broken page, then we reveal the answers together."
Say: "Around 3:27 you work in pairs on the big one: Didi's Momo House website. It broke the night before opening."
If the room is behind at any point, the cut list is in the instructor guide: D1-08 and D1-12 go to homework first. D1-15 is never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THE ONE RULE
Read the rule aloud, slowly: "You may only ship code you can explain, line by line."
Say: "AI is your tutor this week. You can ask it to explain an error. But YOU type every line. If you cannot explain a line, it does not go in."
Walk the four cards:
1. Code-along: you type with me. Not copy-paste. Typing is how your fingers learn.
2. Bug-hunts: every README says "There are N bugs. Find at least N minus 2." You do not need all of them.
3. Reveal: after every hunt, I open solution/BUGS.md on the projector and we go through every bug. No bug goes unexplained.
4. Fast finishers: classwork/fast-finishers/ has 6 extra challenges. Finished early? Go there, or help a neighbour (point, do not type for them).
Staged demos: if my live demo breaks, I open the next step folder. You can open the same folders.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FALLBACK (say this before D1-00 so nobody panics)
Say: "Live Server should be installed from home (START-HERE.md). If it is not there, do not stop. Do this instead."
Show it once: in File Explorer, double-click index.html. It opens in Chrome. Change something in VS Code, press Ctrl+S, go to Chrome, press F5.
Say: "Same result, one more key. We install Live Server together at the first break (1:28)."
Rule for the room: one install problem must not stop 20 people. Students with problems use the fallback and wave at the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ACTIVITY D1-00 Setup check (8 min, solo) — W2D1/classwork/D1-00-setup-check/
Say: "Open the W2D1 folder. Not the zip. Not a single file. The whole folder." (File → Open Folder.)
Circulate. Most common problems:
- They opened the zip, not the unzipped folder → unzip first.
- They opened one file, not the folder → Live Server greys out. File → Open Folder.
- No "Open with Live Server" in the menu → extension missing → fallback (double-click + F5).
- The heading does not change → they did not save. Look for the white dot on the tab.
Checkpoint: hands up when your own name shows. Move on at about 80% of 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PREDICTION (B1 hook, 0:10)
Ask: "You type momohouse.com.np and press Enter. In 2 seconds a page appears. What happened in those 2 seconds?"
Let them shout guesses for 1 minute. Write 3-4 words on the board (e.g. "internet", "server", "Google", "WiFi").
Do not correct yet. Say: "Keep your guess. In 5 minutes we check it with the postal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ANALOGY: THE POSTAL SYSTEM (B1 teach, about 4 min)
Walk left to right:
1. Browser = YOU writing a letter. The letter says "please send me your home page".
2. DNS = the phone book. You know the NAME (momohouse.com.np). DNS gives you the ADDRESS.
3. IP address = the precise home address, like 104.21.45.10. Computers only use numbers.
4. Server = a warehouse. It finds the goods and mails them back.
5. Response = the parcel: HTML, CSS, images.
Say the line: "The internet is not magic. It is computers mailing text to each other."
Check their guesses from slide 6: who was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A PAGE IS MANY PARCELS + RESTAURANT RECAP
Say: "One page is not one parcel. First the HTML parcel arrives. The browser reads it and finds it needs more: a CSS file and five pictures. So it sends more letters."
"On our parcel page you will count them: 1 HTML + 1 CSS + 5 SVG = 7 parcels."
Then the restaurant recap from Week 1: HTML = the ingredients and menu structure, CSS = the plating and decor, JS = the waiter who reacts to you.
STORY (web evolution, 1 min, only if time): the first website (1991) was only text and links. No CSS, no images. The Wayback Machine (web.archive.org) shows old versions of sites. Show it only if Wi-Fi works; it is not hands-on.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ACTIVITY D1-01 See the letters arrive (8 min, solo) — W2D1/classwork/D1-01-see-the-letters-arrive/
Demo first (inside T, 1 min) from W2D1/instructor-demos/B1-internet/STEPS.md: open a terminal (Ctrl+` in VS Code), ping localhost. Each "Reply" line = one letter there and back. Then F12 → Network → F5 on step-01-parcel-page.
Students:
1. ping localhost (offline) or ping google.com (Wi-Fi). Press Ctrl+C to stop.
2. Open the parcel page index.html with Live Server, F12 → Network → refresh. Count the rows: 1 html + 1 css + 5 svg = 7.
3. View Page Source and find the &lt;h1&gt;: write its text and its line number.
Common problems: Network tab is empty → they opened it AFTER the load: press F5 with the tab open. Count shows 8 → that is Live Server's websocket row (type "ws"): do not count it (the README says so). The page has &lt;link rel="icon" href="data:,"&gt; so Chrome adds no favicon.ico row.
Answer: solution/sample-findings.md.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VS CODE TOUR (B2, 0:25) — the professional kitchen
Analogy: a professional kitchen. Every tool is labelled and within reach. "Taste as you cook" = Live Server: save and see.
Show live in VS Code (do not stay on the slide):
1. Explorer (left): the W2D1 folder, every file.
2. Editor (middle): tabs; the white dot = not saved.
3. Problems panel: Ctrl+Shift+M (our spell-checker shows errors here; slide 21).
4. Terminal: Ctrl+` (we used it for ping).
5. Status bar (bottom): "Go Live" button = Live Server.
LIVE: Switch to the live tool here. Open VS Code with W2D1 and walk the 5 parts above.
(Optional: a capture of VS Code with the W2D1 folder open, index.html in the editor, Problems panel and the Go Live button visible can go in deck/_build/shots/ and the slot shows it after a rebuild.)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EMMET (B2 demo, watch)
Analogy: speed-dial. You press one short code, VS Code types the whole thing.
Demo in W2D1/instructor-demos/B2-vscode-emmet/ (step-01-emmet-skeleton, step-02-emmet-structures): type each abbreviation, press Tab.
Live order: ! → h1+p → ul&gt;li*5 → nav&gt;a*3 → .card&gt;h2+p → ul&gt;li.item$*3 → lorem20.
Say: "&gt; means inside, + means next to, * means repeat, . means class, $ means a number."
If Tab does nothing: the file must be saved as .html first (Emmet only works in an HTML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SHORTCUTS (B2 demo)
Show each one live, 15 seconds each:
1. Alt+Shift+↓ — copy the line down (make 5 list items fast).
2. Ctrl+/ — comment / uncomment a line.
3. Shift+Alt+F — format the whole file (fixes messy indents).
4. Ctrl+D — select the next same word (rename 3 classes at once).
5. Linked editing — change &lt;div&gt; to &lt;section&gt;: the closing tag follows by itself. It is ON in our .vscode/settings.json.
6. Ctrl+S — save. Every time.
Say: "In the drill you will use at least three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ACTIVITY D1-02 Emmet speed drill (7 min, solo) — W2D1/classwork/D1-02-emmet-speed-drill/
Required (6): ! · h1+p · ul&gt;li*5 · nav&gt;a*3 · table&gt;tr*3&gt;td*2 · .card&gt;h2+p. Bonus (2): ul&gt;li.item$*3 · lorem20.
Also use Alt+Shift+↓, Ctrl+/, Shift+Alt+F and linked editing.
Circulate: the most common mistake is a space inside the abbreviation (ul &gt; li) — Emmet stops at the space. Second: pressing Enter instead of Tab.
Done = index.html looks like target.html. Answer: solution/index.html.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B3 OPENER: THE SKELETON (0:35)
Analogy: a skeleton. Your body has a shape because of the skeleton. Clothes (CSS) come tomorrow. Movement (JS) comes later.
Second picture: labelled boxes inside boxes. Every tag is a label on a box. &lt;body&gt; is a big box. Inside it, a &lt;p&gt; box. Inside that, a &lt;strong&gt; box.
Say: "If one box is not closed, everything after it falls inside it. That is most of today's bugs."
Block plan: anatomy → skeleton code-along (5 min) → D1-03 from memory → polite guessers → spell-checker demo → D1-04 bug-hunt.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ANATOMY (labelled boxes)
Point at each part of the diagram:
- Opening tag &lt;a ...&gt; = the label on the front of the box.
- Attribute href="menu.html" = a sticker on the label with extra information. Name = value, in double quotes.
- Content "Our menu" = what is inside the box.
- Closing tag &lt;/a&gt; = the lid. Note the slash.
- Element = the whole thing, opening tag + content + closing tag.
Void elements (img, br, hr, meta, input) have no content and no closing tag. They are stickers, not boxes. (More on slide 35.)
Ask: "What is the attribute name here? What is its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CODE-ALONG: THE SKELETON (3 of the 5 code-along minutes)
Demo folders: W2D1/instructor-demos/B3-skeleton/step-01-doctype-html-lang, step-02-head-meta-title, step-03-body-h1-p. If the live typing goes wrong, open the next step folder.
Type it line by line. Students type with you. Say one sentence per line:
- &lt;!DOCTYPE html&gt; — "this is a modern HTML page".
- &lt;html lang="en"&gt; — the root box, and the language of the page.
- &lt;head&gt; — the parcel label: information ABOUT the page. Not shown on the page.
- meta charset — so Nepali names, ©, and emoji show correctly.
- meta viewport — so phones show the page at the right size.
- &lt;title&gt; — the text on the browser tab.
- &lt;body&gt; — what is inside the parcel: everything you see.
Then Emmet: delete it all, type ! and Tab. "Emmet gives you this in one key. But you must know every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NESTING
Say: "Boxes inside boxes. You opened &lt;p&gt;, then &lt;strong&gt;. So you must close &lt;/strong&gt; first, then &lt;/p&gt;. Last opened, first closed."
Read the wrong one: &lt;p&gt;I live in &lt;strong&gt;Kathmandu&lt;/p&gt;&lt;/strong&gt; — the boxes cross. The browser has to guess how to repair it.
Read the right one. Point at the indent: 2 spaces per level shows which box is inside which.
This exact bug is D1-04 bug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 CODE-ALONG: COMMENTS + HEAD (2 min) — W2D1/instructor-demos/B3-skeleton/step-04-nesting-comments
Analogy: &lt;head&gt; = the label on the parcel (address, contents list, "fragile"). Nobody sees the label as part of the gift. &lt;body&gt; = what is inside the parcel.
Type the two comments into the body of step-04 ("My introduction", "My favourite things") and the strong / em nesting. Then show Ctrl+/ on a line.
Say: "A comment must close with --&gt;: two dashes and an arrow. With only -&gt; the comment never closes and swallows the rest of the page." (That is D1-04 bug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 ACTIVITY D1-03 Skeleton from memory (4 min, solo) — W2D1/classwork/D1-03-skeleton-from-memory/
Rule: no Emmet, no notes, no copying. "Wrong is fine. Blank is not."
After 4 minutes: show solution/index.html. Ask: "Who remembered lang="en"? Who remembered viewport?" Hands up.
Common errors: &lt;!DOCTYPE&gt; spelled wrong, &lt;title&gt; inside &lt;body&gt;, meta tags with a closing tag (they are void).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20 — POLITE GUESSERS (B3, the big idea)
Say: "A browser never shows you an error. It is polite. When your HTML is broken, it GUESSES what you meant and shows something."
"Sometimes the guess looks fine. That is the dangerous part: the page looks OK on your laptop and breaks somewhere else."
"So we need a spell-checker.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21 — SPELL-CHECKER DEMO (3 min) — W2D1/instructor-demos/B3-skeleton/step-05-htmlhint-demo
Open step-05-htmlhint-demo/index.html. It has 3 errors on purpose: no doctype, an unclosed h1, an img with no alt.
1. Show the squiggles in the editor.
2. Ctrl+Shift+M: the Problems panel lists all 3 with a line number. Click one: VS Code jumps to the line.
3. F12 → Elements: show what the browser actually built (the h1 swallowed the next lines).
Then the legend. Say: "Every bug list today has a tag. V = you can see it. D(HH) = HTMLHint shows it. D(F12) = only the Elements panel shows it. H = hidden on Windows, breaks on a Linux server. R = no tool fires: you check the rule with your brain."
D(URL) = submit the form and read the address bar (forms block). D(W3C) = the online validator (Wi-Fi bonus).
LIVE: Switch to the live tool here. Open step-05-htmlhint-demo in VS Code and press Ctrl+Shift+M.
(Optional: a capture of VS Code with step-05-htmlhint-demo open, squiggles visible, Problems panel showing the 3 HTMLHint errors can go in deck/_build/shots/ and the slot shows it after a rebuild.)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22 — ACTIVITY D1-04 Broken Skeleton (10 min, solo) — W2D1/classwork/D1-04-broken-skeleton/  (6 bugs, find at least 4)
README note: "Fix bug 4 first if the page looks strange."
REVEAL (2 min) — open solution/BUGS.md on the projector:
1. &lt;!DOCTYPE html&gt; missing — D(HH) doctype-first. Fix: add it as line 1.
2. &lt;html&gt; has no lang="en" — D(HH) html-lang-require. Fix: &lt;html lang="en"&gt;.
3. &lt;titel&gt;Aarav's Page&lt;/titel&gt; typo — V: the tab shows the file path, not the title; D(HH) title-require. Fix: &lt;title&gt;.
4. &lt;h1&gt; never closed, so the paragraph under it is huge — V + D(HH) tag-pair. Fix: add &lt;/h1&gt;.
5. Wrong nesting &lt;p&gt;I live in &lt;strong&gt;Kathmandu&lt;/p&gt;&lt;/strong&gt; — D(HH) tag-pair / D(F12). Fix: &lt;/strong&gt;&lt;/p&gt;.
6. &lt;!-- todo: add photo -&gt; (-&gt; instead of --&gt;) — V: the footer and everything after it disappears. Fix: --&gt;.
While circulating: students fix bug 1 and think they are done. Point them to the Problems panel count. Bug 6 is the one nobody finds alone: ask "where did the footer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23 — TEXT TAGS = TONE OF VOICE (B4, 1:05)
Analogy: when you speak, your voice changes: you stress a word, you pause, you quote somebody. Text tags are your tone of voice on the page.
Go row by row. Key differences:
- strong = "this matters" (meaning). b = just bold (looks only).
- em = a stressed word (meaning). i = just italic.
- br = a pause INSIDE one thought (an address, a poem). Not for spacing between paragraphs.
- blockquote = "quoting someone else" (a block). q = a short quote inside a sentence.
- span = no meaning, a hook for CSS later.
Code-along (2 min): type one line of each into W2D1/instructor-demos/B4-text/step-02-strong-em-br-hr and step-03-blockquote-q-span.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24 — HEADINGS ARE AN OUTLINE
Say: "Headings are not font sizes. They are the outline of your page, like a book: one title, then chapters, then sections."
Rule 1: one &lt;h1&gt; per page (the page title). Rule 2: no jumps: after h2 comes h3, not h5.
Why: Google and screen readers use headings to understand and jump through the page.
These are R bugs: no tool fires. You check them with your brain. D1-06 bug 1 is two &lt;h1&gt;s.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25 — CODE-ALONG: ENTITIES — W2D1/instructor-demos/B4-text/step-04-entities
Analogy: escape codes. The &lt; sign normally means "a tag starts here". To PRINT a &lt;, you write &amp;lt; ("less than").
Type the three lines. Open in Live Server. Then show the broken version: type &lt;p&gt; without the entity and watch the browser hide it ("Wrap text in tags").
Show &amp;nbsp;: "Rs. 170" never splits across two lines.
D1-06 has two entity bugs (bugs 2 and 3). D1-FF1 Entity art is the fast-finisher for this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26 — ACTIVITY D1-05 Grandmother's note (4 min, solo, modify) — W2D1/classwork/D1-05-grandmothers-note/
A short plain-text note (4 sentences, Kathmandu). Students add strong / em / br / blockquote.
Ask 2 students: "Why strong here and not b?" The answer should be about meaning.
Answer: solution/index.html.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27 — ACTIVITY D1-06 Canteen News (10 min, solo) — W2D1/classwork/D1-06-canteen-news-bughunt/  (5 bugs, find at least 3)
REVEAL (2 min) — solution/BUGS.md:
1. Two &lt;h1&gt; elements — R (one h1 per page). Fix: the second becomes &lt;h2&gt;.
2. Text "Wrap text in &lt;p&gt; tags" shows as "Wrap text in tags" — V. Fix: &amp;lt;p&amp;gt;.
3. Rs.&amp;nbps;150 typo shows literally — V. Fix: &amp;nbsp;.
4. &lt;blockquote&gt; closed with &lt;/quote&gt;, so the rest of the page is indented — V + D(HH). Fix: &lt;/blockquote&gt;.
5. &lt;em&gt; opened and never closed, so everything after it is italic — V + D(HH). Placed after the blockquote so the two effects can be told apart. Fix: &lt;/em&gt;.
Circulating: bug 1 has no squiggle (R). Ask "how many h1s are on the page?"
FAST FINISHER: D1-FF1 Entity art — W2D1/classwork/fast-finishers/D1-FF1-entity-art/ (a price board + a paragraph that shows &lt;p&gt; literally, using &amp;lt; &amp;gt; &amp;amp; &amp;copy; &amp;nbsp; &amp;rarr; &amp;hearts;).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28 — BREAK (1:28 – 1:38)
Teaser on screen: "This page has 6 broken links. After the break, you fix them."
Use the break for late Live Server + HTMLHint installs: Extensions (Ctrl+Shift+X) → "Live Server" (Ritwick Dey) → Install; "HTMLHint" → Install. Then reload the window.
Start again at 1:38 sharp.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29 — LISTS: SHOPPING LIST vs RECIPE (B5, 1:38)
Ask: "Does order matter on a shopping list?" No → &lt;ul&gt; (unordered, bullets).
"Does order matter in a recipe?" Yes → &lt;ol&gt; (ordered, numbers). Step 3 before step 1 = a disaster.
Every item is an &lt;li&gt;, and an &lt;li&gt; must live inside a &lt;ul&gt; or &lt;ol&gt;. Never alone.
&lt;ol&gt; extras: type="A" (A, B, C) and start="5" (start counting at 5).
Code-along (2 min) in W2D1/instructor-demos/B5-lists/step-01-ul-ol.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30 — CODE-ALONG: NESTED + DL — W2D1/instructor-demos/B5-lists/step-02-nested and step-03-dl
Type it together. Point at line 8: the &lt;/li&gt; of "Spices" comes AFTER the inner &lt;/ul&gt;. "The sub-list lives inside the item."
dl/dt/dd = a dictionary or glossary: dt = the term, dd = the description.
Common mistake (D1-07 bug 4): using &lt;li&gt; inside &lt;dl&gt; instead of &lt;dd&gt;.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31 — ACTIVITY D1-07 Broken Lists (7 min) → reveal → D1-08 Momo recipe (5 min). Folders: W2D1/classwork/D1-07-broken-lists/ and W2D1/classwork/D1-08-momo-recipe/
D1-07 (4 bugs, find at least 2). REVEAL — solution/BUGS.md:
1. Three &lt;li&gt; with no &lt;ul&gt; around them — V + D(F12). In Chrome the bullets hang off the left edge, so they seem to vanish. README hint: "look for the missing indent (and the missing bullets)". Fix: wrap them in &lt;ul&gt;.
2. Cooking steps (order matters) are in a &lt;ul&gt; — V. Fix: &lt;ol&gt;.
3. &lt;il&gt; typo instead of &lt;li&gt; — V (no bullet) + D(HH). Fix: &lt;li&gt;.
4. Glossary &lt;dl&gt; uses &lt;li&gt; for the definitions instead of &lt;dd&gt; — V. Fix: &lt;dd&gt;.
D1-08 (build): required = ingredients &lt;ul&gt; with one nested sub-list inside an &lt;li&gt;, steps &lt;ol&gt;, one image with alt (images/momo-plate.svg). Bonus: a &lt;dl&gt; glossary.
IF BEHIND: D1-08 goes to homework first (it is a build; the bug-hunt stays).
FAST FINISHER: D1-FF2 Table of contents — W2D1/classwork/fast-finishers/D1-FF2-table-of-contents/ (nested-list TOC jumping to #id sections + "back to top" 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32 — ANALOGY 1: SAME HOUSE vs POSTAL ADDRESS (B6, 1:57)
Say: "Inside your house you say 'the kitchen'. You do not say 'Dillibazar, Kathmandu, Nepal, the kitchen'. That is a RELATIVE path: relative to where you are."
"To send a letter to another city you need the full postal address. That is an ABSOLUTE URL: https:// and the whole address."
Relative: about.html, pages/menu.html, ../index.html, images/momo.svg.
Absolute: https://www.wikipedia.org — the https:// is NOT optional. Without it the browser thinks www.wikipedia.org is a file in your folder (D1-09 bug 3).
Code-along (3 min across slides 34-35): W2D1/instructor-demos/B6-links-images/ (step-01-external-link to step-05-figure-anchors-mailto).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33 — FOLDERS AND ../
Point at the tree. index.html is on the ground floor. pages/ is upstairs. images/ is a room on the ground floor.
From index.html: "pages/about.html" (go up into pages) and "images/momo.svg".
From pages/about.html: you are upstairs. To reach index.html you first go downstairs one floor: "../index.html". To reach the image: "../images/thamel.svg".
Say it as a chant: "dot dot slash = go downstairs one floor".
Also: never use C:\Users\Aarav\Desktop\... That path exists only on Aarav's laptop (D1-09 bug 6).
And: names are case-sensitive on a real server. Momo.svg is not momo.svg.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34 — CODE-ALONG: LINKS — W2D1/instructor-demos/B6-links-images/step-01-external-link, step-02-relative-pages, step-03-folders-dotdot, step-05-figure-anchors-mailto
Type line by line, test each link in Live Server:
1. Relative link into pages/ (step-02 / step-03).
2. External link with https:// and target="_blank" (new tab).
3. mailto: opens the email app. tel: opens the phone dialler on a phone.
4. #contact jumps to id="contact". The id has no #; the href has the #. #top jumps to the top of the page.
If a link 404s, read the address bar: it tells you exactly where the browser looked.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35 — ANALOGY 2 + CODE-ALONG: IMAGES — W2D1/instructor-demos/B6-links-images/step-04-img-alt-width and step-05-figure-anchors-mailto
Analogy: an &lt;img&gt; is a sticker, not an envelope. It has no content and no closing tag. Everything it needs is in its attributes.
src = where the picture file is (a path, like links). alt = the description you would read over the phone. width = the size in pixels (keep the shape: give width only).
figure + figcaption = a picture with its caption, kept together.
Case: on Windows, Momo.svg and momo.svg are the same file. On a real Linux server they are DIFFERENT. Use lowercase file names always. (H bugs in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36 — ACTIVITY D1-09 Broken Paths (9 min, solo) — W2D1/classwork/D1-09-broken-paths/  (6 bugs, find at least 4)
REVEAL (2 min) — solution/BUGS.md:
1. index.html: &lt;img src="image/logo-momo-house.svg"&gt;, but the folder is images — V. Fix: images/logo-momo-house.svg.
2. index.html: &lt;a href="about.html"&gt; should be pages/about.html — V (404).
3. index.html: href="www.wikipedia.org" (missing https://) becomes a relative path — V (404). Fix: https://www.wikipedia.org.
4. pages/about.html: &lt;a href="index.html"&gt;Home&lt;/a&gt; should be ../index.html — V.
5. pages/about.html: &lt;img src="images/thamel.svg"&gt; should be ../images/thamel.svg — V.
6. pages/menu.html: href="C:\Users\Aarav\Desktop\site\index.html" should be ../index.html — V (works only on Aarav's laptop).
Teaching move: on every 404, read the address bar aloud. "The browser tells you exactly where it looked."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37 — ACTIVITY D1-10 Kathmandu gallery (7 min, solo, build) — W2D1/classwork/D1-10-kathmandu-gallery/
Required: 2 figures with figcaption + alt + width, 1 external link with target="_blank", 1 "back to top" #top anchor (the id="top" goes on the h1 or the body's first element).
Circulate: alt="image" is not a description. Ask "what would you say on the phone?"
Answer: solution/index.html.
FAST FINISHER: D1-FF3 Mystery page — W2D1/classwork/fast-finishers/D1-FF3-mystery-page/ (rebuild a page from a picture, target.svg: h1, image, 2 lists, a table, a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38 — ACTIVITY: SHOW &amp; TELL (3 min) — D1-10 gallery
Pick 2-3 students (ask for volunteers first). Open their index.html on the projector with Live Server.
Ask each one: "Show me your alt text. Read it to us like on the phone." and "Which line makes the link open a new tab?"
Praise one specific line each. Code gets shown, not hidden. Mistakes on the projector are a gift to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39 — CODE-ALONG: TABLES (B7, 2:27) — W2D1/instructor-demos/B7-tables/step-01-basic-price-board
Analogy: the TSI canteen price board. Four tags, one team: table = the board, tr = a row, th = a heading cell (bold, centred), td = a data cell.
Type it (one row per line, like the step-01 file). The step-01 head also has a 2-line &lt;style&gt; that draws the cell borders: "CSS comes on Day 2". Say: "ignore it today".
Emmet shortcut: table&gt;tr*3&gt;td*2.
Say: "Rows first. A cell never sits directly in &lt;table&gt;; it lives in a &lt;tr&gt;."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40 — TABLE PARTS + MERGED CELLS — W2D1/instructor-demos/B7-tables/step-02-caption-thead-tbody-tfoot and step-03-colspan-rowspan
caption = the title of the table (first thing inside &lt;table&gt;). thead = the heading rows, tbody = the data, tfoot = the totals.
scope="col" on a th tells screen readers "I am the heading for this column".
colspan="3" = one cell as wide as 3 columns (the tfoot line). rowspan="2" = one cell as tall as 2 rows (Chicken momo: half plate and full plate).
THE ARITHMETIC: count the cells in every row. A colspan="2" cell counts as 2. If a cell above has rowspan="2", the row below has ONE LESS cell of its own.
D1-11 bugs 3 and 4 are about this arithmetic. Chrome detail: a colspan that is too BIG is invisible (the extra column is 0 px wide); one that is too SMALL leaves a visible gap at the end of the row (D1-15 bug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41 — DATA, NOT LAYOUT
Old websites (1990s) used tables to place things side by side: a menu on the left, text on the right. Do not do this.
Tables are for DATA: rows and columns that mean something (prices, results, a timetable).
Layout (side by side) is CSS work: flexbox and grid in sessions 3 / 3.2.
Why: screen readers read a table cell by cell ("row 2, column 3") — a layout table makes nonsense.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42 — ACTIVITY D1-11 Broken Timetable (8 min, solo) — W2D1/classwork/D1-11-broken-timetable/  (5 bugs, find at least 3)
REVEAL (2 min) — solution/BUGS.md:
1. Header row uses &lt;td&gt; instead of &lt;th&gt; — V (not bold). Fix: &lt;th scope="col"&gt; for the six header cells.
2. The 11:00 row has only 4 day cells (it needs 5), so the cells shift left — V. Fix: add &lt;td&gt;Lab&lt;/td&gt; for Thursday.
3. colspam="5" typo on the "Lunch" row, so it fills only 1 column — V. Fix: colspan="5".
4. rowspan="2" on "Project lab", but the 2:00 row still has its own Thursday cell, so an extra cell sticks out — V. Fix: delete the last &lt;td&gt;Lab&lt;/td&gt; from the 2:00 row.
5. Text "Tea break 3:00" written between &lt;/tr&gt; and &lt;tr&gt;, outside any cell; the browser moves it above the table — V. Fix: make it a row: &lt;tr&gt;&lt;td&gt;3:00&lt;/td&gt;&lt;td colspan="5"&gt;Tea break&lt;/td&gt;&lt;/tr&gt;.
The table is 6 columns (Time + Sun–Thu). A 2-line &lt;style&gt; in the head draws the borders ("CSS comes on Day 2").
Bug 5 is the "polite guesser" in action: show F12 → Elements, the text was moved out of the table.
FAST FINISHER: D1-FF4 Evil page — W2D1/classwork/fast-finishers/D1-FF4-evil-page-bughunt/ (8 "the browser hides it" bugs).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43 — ACTIVITY D1-12 Exam results table (6 min, solo, modify) — W2D1/classwork/D1-12-exam-results-table/
The starter is a plain table with data rows. Add: caption, thead/tbody, th scope="col", a "Total" row using colspan. Bonus: tfoot.
Circulate: the Total row's colspan must match the number of columns it should cover. Count!
IF BEHIND: D1-12 goes to homework (build; the bug-hunt D1-11 stays).
Answer: solution/index.html.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44 — BREAK (2:49 – 2:59)
Teaser: "Forms let the visitor talk back."
Before the restart, open W2D1/instructor-demos/B8-forms/step-01-form-label-text-email in Live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45 — ANALOGY: THE ORDER SLIP (B8, 2:59)
Picture the order slip on a restaurant table: boxes to fill (text), ticks (checkbox), "choose one" circles (radio), a list to pick from (select).
The printed word next to each box = the &lt;label&gt;.
name = the column the kitchen files your answer under. When you submit, the slip goes to the kitchen (later in the course: the server is the waiter who takes it).
Trick for today: method="get" puts the answers in the address bar, so you can SEE what the kitchen would receive.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46 — CODE-ALONG: INPUTS + LABELS — W2D1/instructor-demos/B8-forms/step-01-form-label-text-email, step-02-radio-checkbox, step-03-select-textarea
Type step-01 with me (2 min: the two label + input pairs; the demo files wrap each pair in a &lt;p&gt;). Watch steps 02–04 on the projector (open step-02 and step-03 now, step-04 is the next slide): students do NOT type them. They type radios, select and textarea themselves in D1-13 and D1-14.
Test: click the words "Your name" — the cursor jumps into the box. That only works when for and id match exactly.
One tag, many types: text, email, tel, password, number, date, radio, checkbox, color. Change type="text" to type="date" live and watch the date picker appear.
Radio: every radio in one group shares ONE name. Each one has its own value.
required: the browser refuses an empty submit. placeholder: grey hint text (not a label!).
Step-03: &lt;select&gt; with &lt;option&gt;s, and &lt;textarea&gt;&lt;/textarea&gt; — always with a real closing 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47 — CODE-ALONG: SUBMIT AND READ THE URL — W2D1/instructor-demos/B8-forms/step-04-fieldset-submit-read-url
Fill the form, press Submit. Read the address bar aloud: ?name=Sunita+Gurung&amp;email=sunita%40mail.com&amp;batch=morning&amp;extras=achar&amp;momo=chicken&amp;notes=
Say: "Each name=value pair is one answer on the slip. The + is a space. &amp; separates two answers."
Show the bugs this reveals: a radio with no value sends batch=on. An input with no name is not sent at all.
fieldset + legend = a box with a title around a group of fields.
LIVE: Switch to the live tool here. Submit step-04 in Chrome and zoom (Ctrl +) so the URL is big.
(Optional: a capture of Chrome after submitting step-04 — the address bar showing ?name=…&amp;batch=… (zoom the browser so the URL is big) can go in deck/_build/shots/ and the slot shows it after a rebuild.)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48 — ACTIVITY D1-13 Broken Signup (10 min, solo) — W2D1/classwork/D1-13-broken-signup-form/  (6 bugs, find at least 4)
The form is &lt;form method="get"&gt; with no action (an empty action="" fails the validators; without action the form submits to the same page).
README: "Fix this one first; it hides bug 6." (the textarea)
REVEAL (2 min) — solution/BUGS.md:
1. &lt;label for="fullname"&gt; but the input is id="name" — V (clicking the label does nothing). Fix: make them match.
2. Phone type="number" (spinner arrows, a leading 0 is lost) — V. Fix: type="tel".
3. Batch radios have different names (batch1, batch2), so both can be ticked — V. Fix: one shared name="batch".
4. Radios have no value, so the URL shows batch=on — D(URL). Fix: value="morning" / value="evening".
5. &lt;textarea /&gt; self-closed, so it swallows the rest of the form as text — V. Fix: &lt;textarea&gt;&lt;/textarea&gt;.
6. The Submit &lt;button&gt; sits after &lt;/form&gt;, so it does nothing — V (visible once bug 5 is fixed). Fix: move it inside the form.
FAST FINISHER: D1-FF5 Notice Board — W2D1/classwork/fast-finishers/D1-FF5-notice-board-bughunt/ (12 surplus bugs from all the class hunts).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49 — ACTIVITY D1-14 Extend the order slip (7 min, solo, modify) — W2D1/classwork/D1-14-extend-order-slip/
Required (3): a tel field, a radio group (Morning / Evening batch) with one shared name, a fieldset + legend around them.
Bonus: date, two checkboxes, type="color" ("favourite colour for your TSI T-shirt").
Every input is labelled. Test by submitting and reading the URL. (No optgroup.)
Answer: solution/index.html.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50 — ACTIVITY D1-15 Momo House repair relay (rules 2 min + 17 min + reveal 3 min, PAIRS) — W2D1/classwork/D1-15-momo-house-repair/
Story: "Didi's Momo House website broke the night before opening. You are the repair crew."
RULES (2 min): pairs. Driver types, navigator reads and points. Swap after EVERY bug. 1 point per bug + 1 bonus point for naming its visibility tag (V, D(HH), D(F12), R…). Pairs that finish become helpers for another pair (they may point, not type), then move to fast finishers. Scores on the whiteboard at 3:38 and 3:45. Where a bug has two tags (e.g. V + D(HH)), accept either for the bonus point.
Per page: index 3 · menu 3 · order 2 · about 2. On order.html: fix the textarea first.
REVEAL (3 min) — solution/BUGS.md:
index.html: 1 nav link menu.htm — V (fix menu.html) · 2 hero &lt;img&gt; without alt — D(HH) (add alt) · 3 unclosed &lt;a&gt;, the last nav item directly before the &lt;h1&gt;, so the h1 becomes part of the link — V + D(HH) (add &lt;/a&gt;).
menu.html: 4 colspan="2" in a 3-column table, so a gap is left at the end of the row — V (colspan="3") · 5 "Today's specials" &lt;li&gt;s with no &lt;ul&gt; — V + D(F12) (wrap in &lt;ul&gt;) · 6 heading jump h1 → h4 — R (use h2).
order.html: 7 label for/id mismatch — V (match them) · 8 &lt;textarea /&gt; self-closed — V (&lt;textarea&gt;&lt;/textarea&gt;; fix first on this page).
about.html: 9 src="../images/chef-didi.svg", but images/ is next to the page — V (images/chef-didi.svg) · 10 Instagram link without https:// — V (add https://).
Never cut this block.
FAST FINISHER: D1-FF6 Gallery detail page — W2D1/classwork/fast-finishers/D1-FF6-gallery-detail-page/ (places/swayambhu.html with ../ paths and a mailto: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51 — ACTIVITY D1-16 Validate &amp; self-audit (4 min) — W2D1/classwork/D1-16-validate-self-audit/
First, 1-minute demo: W2D1/instructor-demos/B10-validate/step-01-before (5 errors) → paste into validator.w3.org (Wi-Fi) or show the Problems panel → step-02-after (clean).
Students audit their OWN D1-10 folder: run HTMLHint (and W3C if Wi-Fi), fix every error, tick the checklist: skeleton, lang, one h1, every img has alt, every link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52 — QUIZ (5 min). Kahoot if Wi-Fi; otherwise read each question and the class shows A/B/C/D with fingers (1-4).
1. What does DNS do? A) stores pages B) turns a name into an IP address C) draws the page D) sends email → B
2. Which line must come first in every HTML file? A) &lt;html&gt; B) &lt;head&gt; C) &lt;!DOCTYPE html&gt; D) &lt;title&gt; → C
3. Where does &lt;title&gt; show? A) on the page B) on the browser tab C) in the footer D) nowhere → B
4. How many &lt;h1&gt; per page? A) one B) two C) any D) none → A
5. How do you print a &lt; sign? A) &lt;&lt; B) &amp;lt; C) \&lt; D) &amp;less; → B
6. Recipe steps go in… A) &lt;ul&gt; B) &lt;ol&gt; C) &lt;dl&gt; D) &lt;li&gt; only → B
7. From pages/about.html, the home page is… A) index.html B) /index.html C) ../index.html D) pages/index.html → C
8. A cell with colspan="2" counts as… A) 1 cell B) 2 cells C) half a cell D) a row → B
9. Clicking a label does nothing. Why? A) no name B) for and id do not match C) no value D) no required → B
10. Two radios can both be ticked. Why? A) different names B) no labels C) no form D) type="checkbox" → A
STRETCH NOTE: if a stretch was taken after B3, cut to 7 questions (drop 3, 6,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53 — HOMEWORK + EXIT TICKET (1 min) + "Tomorrow: the outfit"
Homework sheet: W2D1/homework/W2D1-Homework-Sheet.md (core about 2.5 h; HW1 and HW3 are the must-do (1 h), HW2 if you can):
- D1-HW1 Kathmandu Treks repair (12 bugs, 40 min, must-do). If a page is completely blank, fix the &lt;title&gt; first.
- D1-HW2 Momo House catering page (build, about 1.5 h, if you can): add catering.html with a table and a form, link it from all 5 pages, pass HTMLHint.
- D1-HW3 Self-check &amp; interview prep (20 min, must-do).
- D1-HW4 Thamel Guesthouse replay (stretch, optional, +30 min, 12 bugs).
Exit ticket (on paper or in chat): 1) One bug you fixed today and how you found it. 2) One thing that is still confusing.
Close: "Today you built the skeleton and mended it. Tomorrow the skeleton gets its outfit: semantic HTML, then CSS. We will style the Momo House site you repaired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7498080" y="-1463040"/>
            <a:ext cx="3291840" cy="3291840"/>
          </a:xfrm>
          <a:prstGeom prst="ellipse">
            <a:avLst/>
          </a:prstGeom>
          <a:solidFill>
            <a:srgbClr val="2A3F63">
              <a:alpha val="60000"/>
            </a:srgbClr>
          </a:solidFill>
          <a:ln/>
        </p:spPr>
      </p:sp>
      <p:sp>
        <p:nvSpPr>
          <p:cNvPr id="3" name="Shape 1"/>
          <p:cNvSpPr/>
          <p:nvPr/>
        </p:nvSpPr>
        <p:spPr>
          <a:xfrm>
            <a:off x="-1097280" y="3657600"/>
            <a:ext cx="2743200" cy="2743200"/>
          </a:xfrm>
          <a:prstGeom prst="ellipse">
            <a:avLst/>
          </a:prstGeom>
          <a:solidFill>
            <a:srgbClr val="2A3F63">
              <a:alpha val="45000"/>
            </a:srgbClr>
          </a:solidFill>
          <a:ln/>
        </p:spPr>
      </p:sp>
      <p:sp>
        <p:nvSpPr>
          <p:cNvPr id="4" name="Text 2"/>
          <p:cNvSpPr/>
          <p:nvPr/>
        </p:nvSpPr>
        <p:spPr>
          <a:xfrm>
            <a:off x="640080" y="1051560"/>
            <a:ext cx="7863840" cy="365760"/>
          </a:xfrm>
          <a:prstGeom prst="rect">
            <a:avLst/>
          </a:prstGeom>
          <a:noFill/>
          <a:ln/>
        </p:spPr>
        <p:txBody>
          <a:bodyPr wrap="square" lIns="0" tIns="0" rIns="0" bIns="0" rtlCol="0" anchor="ctr"/>
          <a:lstStyle/>
          <a:p>
            <a:pPr indent="0" marL="0">
              <a:buNone/>
            </a:pPr>
            <a:r>
              <a:rPr lang="en-US" sz="1500" b="1" spc="200" kern="0" dirty="0">
                <a:solidFill>
                  <a:srgbClr val="9FB3D1"/>
                </a:solidFill>
                <a:latin typeface="Calibri" pitchFamily="34" charset="0"/>
                <a:ea typeface="Calibri" pitchFamily="34" charset="-122"/>
                <a:cs typeface="Calibri" pitchFamily="34" charset="-120"/>
              </a:rPr>
              <a:t>WEEK 2  ·  DAY 1  ·  4 HOURS</a:t>
            </a:r>
            <a:endParaRPr lang="en-US" sz="1500" dirty="0"/>
          </a:p>
        </p:txBody>
      </p:sp>
      <p:sp>
        <p:nvSpPr>
          <p:cNvPr id="5" name="Text 3"/>
          <p:cNvSpPr/>
          <p:nvPr/>
        </p:nvSpPr>
        <p:spPr>
          <a:xfrm>
            <a:off x="640080" y="1463040"/>
            <a:ext cx="7863840" cy="155448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How the Web Works</a:t>
            </a:r>
            <a:endParaRPr lang="en-US" sz="4000" dirty="0"/>
          </a:p>
          <a:p>
            <a:pPr indent="0" marL="0">
              <a:buNone/>
            </a:pPr>
            <a:r>
              <a:rPr lang="en-US" sz="4000" b="1" dirty="0">
                <a:solidFill>
                  <a:srgbClr val="FFFFFF"/>
                </a:solidFill>
                <a:latin typeface="Calibri" pitchFamily="34" charset="0"/>
                <a:ea typeface="Calibri" pitchFamily="34" charset="-122"/>
                <a:cs typeface="Calibri" pitchFamily="34" charset="-120"/>
              </a:rPr>
              <a:t>+ HTML Core</a:t>
            </a:r>
            <a:endParaRPr lang="en-US" sz="4000" dirty="0"/>
          </a:p>
        </p:txBody>
      </p:sp>
      <p:sp>
        <p:nvSpPr>
          <p:cNvPr id="6" name="Text 4"/>
          <p:cNvSpPr/>
          <p:nvPr/>
        </p:nvSpPr>
        <p:spPr>
          <a:xfrm>
            <a:off x="640080" y="3063240"/>
            <a:ext cx="7680960" cy="685800"/>
          </a:xfrm>
          <a:prstGeom prst="rect">
            <a:avLst/>
          </a:prstGeom>
          <a:noFill/>
          <a:ln/>
        </p:spPr>
        <p:txBody>
          <a:bodyPr wrap="square" lIns="0" tIns="0" rIns="0" bIns="0" rtlCol="0" anchor="t"/>
          <a:lstStyle/>
          <a:p>
            <a:pPr indent="0" marL="0">
              <a:buNone/>
            </a:pPr>
            <a:r>
              <a:rPr lang="en-US" sz="1700" dirty="0">
                <a:solidFill>
                  <a:srgbClr val="CADCFC"/>
                </a:solidFill>
                <a:latin typeface="Calibri" pitchFamily="34" charset="0"/>
                <a:ea typeface="Calibri" pitchFamily="34" charset="-122"/>
                <a:cs typeface="Calibri" pitchFamily="34" charset="-120"/>
              </a:rPr>
              <a:t>Build it, break it, fix it. Today you are the repair crew.</a:t>
            </a:r>
            <a:endParaRPr lang="en-US" sz="1700" dirty="0"/>
          </a:p>
        </p:txBody>
      </p:sp>
      <p:sp>
        <p:nvSpPr>
          <p:cNvPr id="7" name="Text 5"/>
          <p:cNvSpPr/>
          <p:nvPr/>
        </p:nvSpPr>
        <p:spPr>
          <a:xfrm>
            <a:off x="640080" y="3794760"/>
            <a:ext cx="4572000" cy="457200"/>
          </a:xfrm>
          <a:prstGeom prst="roundRect">
            <a:avLst>
              <a:gd name="adj" fmla="val 50000"/>
            </a:avLst>
          </a:prstGeom>
          <a:solidFill>
            <a:srgbClr val="990011"/>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Today: 42 broken things to mend</a:t>
            </a:r>
            <a:endParaRPr lang="en-US" sz="1500" dirty="0"/>
          </a:p>
        </p:txBody>
      </p:sp>
      <p:sp>
        <p:nvSpPr>
          <p:cNvPr id="8" name="Text 6"/>
          <p:cNvSpPr/>
          <p:nvPr/>
        </p:nvSpPr>
        <p:spPr>
          <a:xfrm>
            <a:off x="640080" y="4526280"/>
            <a:ext cx="7863840" cy="320040"/>
          </a:xfrm>
          <a:prstGeom prst="rect">
            <a:avLst/>
          </a:prstGeom>
          <a:noFill/>
          <a:ln/>
        </p:spPr>
        <p:txBody>
          <a:bodyPr wrap="square" lIns="0" tIns="0" rIns="0" bIns="0" rtlCol="0" anchor="ctr"/>
          <a:lstStyle/>
          <a:p>
            <a:pPr indent="0" marL="0">
              <a:buNone/>
            </a:pPr>
            <a:r>
              <a:rPr lang="en-US" sz="1200" dirty="0">
                <a:solidFill>
                  <a:srgbClr val="B9C2CF"/>
                </a:solidFill>
                <a:latin typeface="Calibri" pitchFamily="34" charset="0"/>
                <a:ea typeface="Calibri" pitchFamily="34" charset="-122"/>
                <a:cs typeface="Calibri" pitchFamily="34" charset="-120"/>
              </a:rPr>
              <a:t>AI-Powered Full Stack Developer  ·  Tech Skills Institute Nepal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clock-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758952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Today's Roadmap</a:t>
            </a:r>
            <a:endParaRPr lang="en-US" sz="2700" dirty="0"/>
          </a:p>
        </p:txBody>
      </p:sp>
      <p:sp>
        <p:nvSpPr>
          <p:cNvPr id="6" name="Shape 2"/>
          <p:cNvSpPr/>
          <p:nvPr/>
        </p:nvSpPr>
        <p:spPr>
          <a:xfrm>
            <a:off x="548640" y="1234440"/>
            <a:ext cx="3886200" cy="713232"/>
          </a:xfrm>
          <a:prstGeom prst="roundRect">
            <a:avLst>
              <a:gd name="adj" fmla="val 10256"/>
            </a:avLst>
          </a:prstGeom>
          <a:solidFill>
            <a:srgbClr val="F9F6F5"/>
          </a:solidFill>
          <a:ln w="9525">
            <a:solidFill>
              <a:srgbClr val="E8E2E1"/>
            </a:solidFill>
            <a:prstDash val="solid"/>
          </a:ln>
        </p:spPr>
      </p:sp>
      <p:sp>
        <p:nvSpPr>
          <p:cNvPr id="7" name="Text 3"/>
          <p:cNvSpPr/>
          <p:nvPr/>
        </p:nvSpPr>
        <p:spPr>
          <a:xfrm>
            <a:off x="713232" y="1234440"/>
            <a:ext cx="685800" cy="713232"/>
          </a:xfrm>
          <a:prstGeom prst="rect">
            <a:avLst/>
          </a:prstGeom>
          <a:noFill/>
          <a:ln/>
        </p:spPr>
        <p:txBody>
          <a:bodyPr wrap="square" lIns="0" tIns="0" rIns="0" bIns="0" rtlCol="0" anchor="ctr"/>
          <a:lstStyle/>
          <a:p>
            <a:pPr indent="0" marL="0">
              <a:buNone/>
            </a:pPr>
            <a:r>
              <a:rPr lang="en-US" sz="1500" b="1" dirty="0">
                <a:solidFill>
                  <a:srgbClr val="990011"/>
                </a:solidFill>
                <a:latin typeface="Calibri" pitchFamily="34" charset="0"/>
                <a:ea typeface="Calibri" pitchFamily="34" charset="-122"/>
                <a:cs typeface="Calibri" pitchFamily="34" charset="-120"/>
              </a:rPr>
              <a:t>0:00</a:t>
            </a:r>
            <a:endParaRPr lang="en-US" sz="1500" dirty="0"/>
          </a:p>
        </p:txBody>
      </p:sp>
      <p:sp>
        <p:nvSpPr>
          <p:cNvPr id="8" name="Text 4"/>
          <p:cNvSpPr/>
          <p:nvPr/>
        </p:nvSpPr>
        <p:spPr>
          <a:xfrm>
            <a:off x="1417320" y="1234440"/>
            <a:ext cx="2194560" cy="713232"/>
          </a:xfrm>
          <a:prstGeom prst="rect">
            <a:avLst/>
          </a:prstGeom>
          <a:noFill/>
          <a:ln/>
        </p:spPr>
        <p:txBody>
          <a:bodyPr wrap="square" lIns="0" tIns="0" rIns="0" bIns="0" rtlCol="0" anchor="ctr">
            <a:normAutofit/>
          </a:bodyPr>
          <a:lstStyle/>
          <a:p>
            <a:pPr indent="0" marL="0">
              <a:buNone/>
            </a:pPr>
            <a:r>
              <a:rPr lang="en-US" sz="1350" b="1" dirty="0">
                <a:solidFill>
                  <a:srgbClr val="14213D"/>
                </a:solidFill>
                <a:latin typeface="Calibri" pitchFamily="34" charset="0"/>
                <a:ea typeface="Calibri" pitchFamily="34" charset="-122"/>
                <a:cs typeface="Calibri" pitchFamily="34" charset="-120"/>
              </a:rPr>
              <a:t>Welcome, setup, How the web works</a:t>
            </a:r>
            <a:endParaRPr lang="en-US" sz="1350" dirty="0"/>
          </a:p>
        </p:txBody>
      </p:sp>
      <p:sp>
        <p:nvSpPr>
          <p:cNvPr id="9" name="Text 5"/>
          <p:cNvSpPr/>
          <p:nvPr/>
        </p:nvSpPr>
        <p:spPr>
          <a:xfrm>
            <a:off x="3611880" y="1234440"/>
            <a:ext cx="685800" cy="713232"/>
          </a:xfrm>
          <a:prstGeom prst="rect">
            <a:avLst/>
          </a:prstGeom>
          <a:noFill/>
          <a:ln/>
        </p:spPr>
        <p:txBody>
          <a:bodyPr wrap="square" lIns="0" tIns="0" rIns="0" bIns="0" rtlCol="0" anchor="ctr"/>
          <a:lstStyle/>
          <a:p>
            <a:pPr algn="r" indent="0" marL="0">
              <a:buNone/>
            </a:pPr>
            <a:r>
              <a:rPr lang="en-US" sz="1100" dirty="0">
                <a:solidFill>
                  <a:srgbClr val="2C3547"/>
                </a:solidFill>
                <a:latin typeface="Calibri" pitchFamily="34" charset="0"/>
                <a:ea typeface="Calibri" pitchFamily="34" charset="-122"/>
                <a:cs typeface="Calibri" pitchFamily="34" charset="-120"/>
              </a:rPr>
              <a:t>25 min</a:t>
            </a:r>
            <a:endParaRPr lang="en-US" sz="1100" dirty="0"/>
          </a:p>
        </p:txBody>
      </p:sp>
      <p:sp>
        <p:nvSpPr>
          <p:cNvPr id="10" name="Shape 6"/>
          <p:cNvSpPr/>
          <p:nvPr/>
        </p:nvSpPr>
        <p:spPr>
          <a:xfrm>
            <a:off x="548640" y="2075688"/>
            <a:ext cx="3886200" cy="713232"/>
          </a:xfrm>
          <a:prstGeom prst="roundRect">
            <a:avLst>
              <a:gd name="adj" fmla="val 10256"/>
            </a:avLst>
          </a:prstGeom>
          <a:solidFill>
            <a:srgbClr val="F9F6F5"/>
          </a:solidFill>
          <a:ln w="9525">
            <a:solidFill>
              <a:srgbClr val="E8E2E1"/>
            </a:solidFill>
            <a:prstDash val="solid"/>
          </a:ln>
        </p:spPr>
      </p:sp>
      <p:sp>
        <p:nvSpPr>
          <p:cNvPr id="11" name="Text 7"/>
          <p:cNvSpPr/>
          <p:nvPr/>
        </p:nvSpPr>
        <p:spPr>
          <a:xfrm>
            <a:off x="713232" y="2075688"/>
            <a:ext cx="685800" cy="713232"/>
          </a:xfrm>
          <a:prstGeom prst="rect">
            <a:avLst/>
          </a:prstGeom>
          <a:noFill/>
          <a:ln/>
        </p:spPr>
        <p:txBody>
          <a:bodyPr wrap="square" lIns="0" tIns="0" rIns="0" bIns="0" rtlCol="0" anchor="ctr"/>
          <a:lstStyle/>
          <a:p>
            <a:pPr indent="0" marL="0">
              <a:buNone/>
            </a:pPr>
            <a:r>
              <a:rPr lang="en-US" sz="1500" b="1" dirty="0">
                <a:solidFill>
                  <a:srgbClr val="990011"/>
                </a:solidFill>
                <a:latin typeface="Calibri" pitchFamily="34" charset="0"/>
                <a:ea typeface="Calibri" pitchFamily="34" charset="-122"/>
                <a:cs typeface="Calibri" pitchFamily="34" charset="-120"/>
              </a:rPr>
              <a:t>0:25</a:t>
            </a:r>
            <a:endParaRPr lang="en-US" sz="1500" dirty="0"/>
          </a:p>
        </p:txBody>
      </p:sp>
      <p:sp>
        <p:nvSpPr>
          <p:cNvPr id="12" name="Text 8"/>
          <p:cNvSpPr/>
          <p:nvPr/>
        </p:nvSpPr>
        <p:spPr>
          <a:xfrm>
            <a:off x="1417320" y="2075688"/>
            <a:ext cx="2194560" cy="713232"/>
          </a:xfrm>
          <a:prstGeom prst="rect">
            <a:avLst/>
          </a:prstGeom>
          <a:noFill/>
          <a:ln/>
        </p:spPr>
        <p:txBody>
          <a:bodyPr wrap="square" lIns="0" tIns="0" rIns="0" bIns="0" rtlCol="0" anchor="ctr">
            <a:normAutofit/>
          </a:bodyPr>
          <a:lstStyle/>
          <a:p>
            <a:pPr indent="0" marL="0">
              <a:buNone/>
            </a:pPr>
            <a:r>
              <a:rPr lang="en-US" sz="1350" b="1" dirty="0">
                <a:solidFill>
                  <a:srgbClr val="14213D"/>
                </a:solidFill>
                <a:latin typeface="Calibri" pitchFamily="34" charset="0"/>
                <a:ea typeface="Calibri" pitchFamily="34" charset="-122"/>
                <a:cs typeface="Calibri" pitchFamily="34" charset="-120"/>
              </a:rPr>
              <a:t>VS Code power tools + Emmet</a:t>
            </a:r>
            <a:endParaRPr lang="en-US" sz="1350" dirty="0"/>
          </a:p>
        </p:txBody>
      </p:sp>
      <p:sp>
        <p:nvSpPr>
          <p:cNvPr id="13" name="Text 9"/>
          <p:cNvSpPr/>
          <p:nvPr/>
        </p:nvSpPr>
        <p:spPr>
          <a:xfrm>
            <a:off x="3611880" y="2075688"/>
            <a:ext cx="685800" cy="713232"/>
          </a:xfrm>
          <a:prstGeom prst="rect">
            <a:avLst/>
          </a:prstGeom>
          <a:noFill/>
          <a:ln/>
        </p:spPr>
        <p:txBody>
          <a:bodyPr wrap="square" lIns="0" tIns="0" rIns="0" bIns="0" rtlCol="0" anchor="ctr"/>
          <a:lstStyle/>
          <a:p>
            <a:pPr algn="r" indent="0" marL="0">
              <a:buNone/>
            </a:pPr>
            <a:r>
              <a:rPr lang="en-US" sz="1100" dirty="0">
                <a:solidFill>
                  <a:srgbClr val="2C3547"/>
                </a:solidFill>
                <a:latin typeface="Calibri" pitchFamily="34" charset="0"/>
                <a:ea typeface="Calibri" pitchFamily="34" charset="-122"/>
                <a:cs typeface="Calibri" pitchFamily="34" charset="-120"/>
              </a:rPr>
              <a:t>10 min</a:t>
            </a:r>
            <a:endParaRPr lang="en-US" sz="1100" dirty="0"/>
          </a:p>
        </p:txBody>
      </p:sp>
      <p:sp>
        <p:nvSpPr>
          <p:cNvPr id="14" name="Shape 10"/>
          <p:cNvSpPr/>
          <p:nvPr/>
        </p:nvSpPr>
        <p:spPr>
          <a:xfrm>
            <a:off x="548640" y="2916936"/>
            <a:ext cx="3886200" cy="713232"/>
          </a:xfrm>
          <a:prstGeom prst="roundRect">
            <a:avLst>
              <a:gd name="adj" fmla="val 10256"/>
            </a:avLst>
          </a:prstGeom>
          <a:solidFill>
            <a:srgbClr val="F9F6F5"/>
          </a:solidFill>
          <a:ln w="9525">
            <a:solidFill>
              <a:srgbClr val="E8E2E1"/>
            </a:solidFill>
            <a:prstDash val="solid"/>
          </a:ln>
        </p:spPr>
      </p:sp>
      <p:sp>
        <p:nvSpPr>
          <p:cNvPr id="15" name="Text 11"/>
          <p:cNvSpPr/>
          <p:nvPr/>
        </p:nvSpPr>
        <p:spPr>
          <a:xfrm>
            <a:off x="713232" y="2916936"/>
            <a:ext cx="685800" cy="713232"/>
          </a:xfrm>
          <a:prstGeom prst="rect">
            <a:avLst/>
          </a:prstGeom>
          <a:noFill/>
          <a:ln/>
        </p:spPr>
        <p:txBody>
          <a:bodyPr wrap="square" lIns="0" tIns="0" rIns="0" bIns="0" rtlCol="0" anchor="ctr"/>
          <a:lstStyle/>
          <a:p>
            <a:pPr indent="0" marL="0">
              <a:buNone/>
            </a:pPr>
            <a:r>
              <a:rPr lang="en-US" sz="1500" b="1" dirty="0">
                <a:solidFill>
                  <a:srgbClr val="990011"/>
                </a:solidFill>
                <a:latin typeface="Calibri" pitchFamily="34" charset="0"/>
                <a:ea typeface="Calibri" pitchFamily="34" charset="-122"/>
                <a:cs typeface="Calibri" pitchFamily="34" charset="-120"/>
              </a:rPr>
              <a:t>0:35</a:t>
            </a:r>
            <a:endParaRPr lang="en-US" sz="1500" dirty="0"/>
          </a:p>
        </p:txBody>
      </p:sp>
      <p:sp>
        <p:nvSpPr>
          <p:cNvPr id="16" name="Text 12"/>
          <p:cNvSpPr/>
          <p:nvPr/>
        </p:nvSpPr>
        <p:spPr>
          <a:xfrm>
            <a:off x="1417320" y="2916936"/>
            <a:ext cx="2194560" cy="713232"/>
          </a:xfrm>
          <a:prstGeom prst="rect">
            <a:avLst/>
          </a:prstGeom>
          <a:noFill/>
          <a:ln/>
        </p:spPr>
        <p:txBody>
          <a:bodyPr wrap="square" lIns="0" tIns="0" rIns="0" bIns="0" rtlCol="0" anchor="ctr">
            <a:normAutofit/>
          </a:bodyPr>
          <a:lstStyle/>
          <a:p>
            <a:pPr indent="0" marL="0">
              <a:buNone/>
            </a:pPr>
            <a:r>
              <a:rPr lang="en-US" sz="1350" b="1" dirty="0">
                <a:solidFill>
                  <a:srgbClr val="14213D"/>
                </a:solidFill>
                <a:latin typeface="Calibri" pitchFamily="34" charset="0"/>
                <a:ea typeface="Calibri" pitchFamily="34" charset="-122"/>
                <a:cs typeface="Calibri" pitchFamily="34" charset="-120"/>
              </a:rPr>
              <a:t>Skeleton, nesting + spell-checker</a:t>
            </a:r>
            <a:endParaRPr lang="en-US" sz="1350" dirty="0"/>
          </a:p>
        </p:txBody>
      </p:sp>
      <p:sp>
        <p:nvSpPr>
          <p:cNvPr id="17" name="Text 13"/>
          <p:cNvSpPr/>
          <p:nvPr/>
        </p:nvSpPr>
        <p:spPr>
          <a:xfrm>
            <a:off x="3611880" y="2916936"/>
            <a:ext cx="685800" cy="713232"/>
          </a:xfrm>
          <a:prstGeom prst="rect">
            <a:avLst/>
          </a:prstGeom>
          <a:noFill/>
          <a:ln/>
        </p:spPr>
        <p:txBody>
          <a:bodyPr wrap="square" lIns="0" tIns="0" rIns="0" bIns="0" rtlCol="0" anchor="ctr"/>
          <a:lstStyle/>
          <a:p>
            <a:pPr algn="r" indent="0" marL="0">
              <a:buNone/>
            </a:pPr>
            <a:r>
              <a:rPr lang="en-US" sz="1100" dirty="0">
                <a:solidFill>
                  <a:srgbClr val="2C3547"/>
                </a:solidFill>
                <a:latin typeface="Calibri" pitchFamily="34" charset="0"/>
                <a:ea typeface="Calibri" pitchFamily="34" charset="-122"/>
                <a:cs typeface="Calibri" pitchFamily="34" charset="-120"/>
              </a:rPr>
              <a:t>30 min</a:t>
            </a:r>
            <a:endParaRPr lang="en-US" sz="1100" dirty="0"/>
          </a:p>
        </p:txBody>
      </p:sp>
      <p:sp>
        <p:nvSpPr>
          <p:cNvPr id="18" name="Shape 14"/>
          <p:cNvSpPr/>
          <p:nvPr/>
        </p:nvSpPr>
        <p:spPr>
          <a:xfrm>
            <a:off x="548640" y="3758184"/>
            <a:ext cx="3886200" cy="713232"/>
          </a:xfrm>
          <a:prstGeom prst="roundRect">
            <a:avLst>
              <a:gd name="adj" fmla="val 10256"/>
            </a:avLst>
          </a:prstGeom>
          <a:solidFill>
            <a:srgbClr val="F9F6F5"/>
          </a:solidFill>
          <a:ln w="9525">
            <a:solidFill>
              <a:srgbClr val="E8E2E1"/>
            </a:solidFill>
            <a:prstDash val="solid"/>
          </a:ln>
        </p:spPr>
      </p:sp>
      <p:sp>
        <p:nvSpPr>
          <p:cNvPr id="19" name="Text 15"/>
          <p:cNvSpPr/>
          <p:nvPr/>
        </p:nvSpPr>
        <p:spPr>
          <a:xfrm>
            <a:off x="713232" y="3758184"/>
            <a:ext cx="685800" cy="713232"/>
          </a:xfrm>
          <a:prstGeom prst="rect">
            <a:avLst/>
          </a:prstGeom>
          <a:noFill/>
          <a:ln/>
        </p:spPr>
        <p:txBody>
          <a:bodyPr wrap="square" lIns="0" tIns="0" rIns="0" bIns="0" rtlCol="0" anchor="ctr"/>
          <a:lstStyle/>
          <a:p>
            <a:pPr indent="0" marL="0">
              <a:buNone/>
            </a:pPr>
            <a:r>
              <a:rPr lang="en-US" sz="1500" b="1" dirty="0">
                <a:solidFill>
                  <a:srgbClr val="990011"/>
                </a:solidFill>
                <a:latin typeface="Calibri" pitchFamily="34" charset="0"/>
                <a:ea typeface="Calibri" pitchFamily="34" charset="-122"/>
                <a:cs typeface="Calibri" pitchFamily="34" charset="-120"/>
              </a:rPr>
              <a:t>1:05</a:t>
            </a:r>
            <a:endParaRPr lang="en-US" sz="1500" dirty="0"/>
          </a:p>
        </p:txBody>
      </p:sp>
      <p:sp>
        <p:nvSpPr>
          <p:cNvPr id="20" name="Text 16"/>
          <p:cNvSpPr/>
          <p:nvPr/>
        </p:nvSpPr>
        <p:spPr>
          <a:xfrm>
            <a:off x="1417320" y="3758184"/>
            <a:ext cx="2194560" cy="713232"/>
          </a:xfrm>
          <a:prstGeom prst="rect">
            <a:avLst/>
          </a:prstGeom>
          <a:noFill/>
          <a:ln/>
        </p:spPr>
        <p:txBody>
          <a:bodyPr wrap="square" lIns="0" tIns="0" rIns="0" bIns="0" rtlCol="0" anchor="ctr">
            <a:normAutofit/>
          </a:bodyPr>
          <a:lstStyle/>
          <a:p>
            <a:pPr indent="0" marL="0">
              <a:buNone/>
            </a:pPr>
            <a:r>
              <a:rPr lang="en-US" sz="1350" b="1" dirty="0">
                <a:solidFill>
                  <a:srgbClr val="14213D"/>
                </a:solidFill>
                <a:latin typeface="Calibri" pitchFamily="34" charset="0"/>
                <a:ea typeface="Calibri" pitchFamily="34" charset="-122"/>
                <a:cs typeface="Calibri" pitchFamily="34" charset="-120"/>
              </a:rPr>
              <a:t>Text tags + entities  ·  Break</a:t>
            </a:r>
            <a:endParaRPr lang="en-US" sz="1350" dirty="0"/>
          </a:p>
        </p:txBody>
      </p:sp>
      <p:sp>
        <p:nvSpPr>
          <p:cNvPr id="21" name="Text 17"/>
          <p:cNvSpPr/>
          <p:nvPr/>
        </p:nvSpPr>
        <p:spPr>
          <a:xfrm>
            <a:off x="3611880" y="3758184"/>
            <a:ext cx="685800" cy="713232"/>
          </a:xfrm>
          <a:prstGeom prst="rect">
            <a:avLst/>
          </a:prstGeom>
          <a:noFill/>
          <a:ln/>
        </p:spPr>
        <p:txBody>
          <a:bodyPr wrap="square" lIns="0" tIns="0" rIns="0" bIns="0" rtlCol="0" anchor="ctr"/>
          <a:lstStyle/>
          <a:p>
            <a:pPr algn="r" indent="0" marL="0">
              <a:buNone/>
            </a:pPr>
            <a:r>
              <a:rPr lang="en-US" sz="1100" dirty="0">
                <a:solidFill>
                  <a:srgbClr val="2C3547"/>
                </a:solidFill>
                <a:latin typeface="Calibri" pitchFamily="34" charset="0"/>
                <a:ea typeface="Calibri" pitchFamily="34" charset="-122"/>
                <a:cs typeface="Calibri" pitchFamily="34" charset="-120"/>
              </a:rPr>
              <a:t>33 min</a:t>
            </a:r>
            <a:endParaRPr lang="en-US" sz="1100" dirty="0"/>
          </a:p>
        </p:txBody>
      </p:sp>
      <p:sp>
        <p:nvSpPr>
          <p:cNvPr id="22" name="Shape 18"/>
          <p:cNvSpPr/>
          <p:nvPr/>
        </p:nvSpPr>
        <p:spPr>
          <a:xfrm>
            <a:off x="4709160" y="1234440"/>
            <a:ext cx="3886200" cy="713232"/>
          </a:xfrm>
          <a:prstGeom prst="roundRect">
            <a:avLst>
              <a:gd name="adj" fmla="val 10256"/>
            </a:avLst>
          </a:prstGeom>
          <a:solidFill>
            <a:srgbClr val="F9F6F5"/>
          </a:solidFill>
          <a:ln w="9525">
            <a:solidFill>
              <a:srgbClr val="E8E2E1"/>
            </a:solidFill>
            <a:prstDash val="solid"/>
          </a:ln>
        </p:spPr>
      </p:sp>
      <p:sp>
        <p:nvSpPr>
          <p:cNvPr id="23" name="Text 19"/>
          <p:cNvSpPr/>
          <p:nvPr/>
        </p:nvSpPr>
        <p:spPr>
          <a:xfrm>
            <a:off x="4873752" y="1234440"/>
            <a:ext cx="685800" cy="713232"/>
          </a:xfrm>
          <a:prstGeom prst="rect">
            <a:avLst/>
          </a:prstGeom>
          <a:noFill/>
          <a:ln/>
        </p:spPr>
        <p:txBody>
          <a:bodyPr wrap="square" lIns="0" tIns="0" rIns="0" bIns="0" rtlCol="0" anchor="ctr"/>
          <a:lstStyle/>
          <a:p>
            <a:pPr indent="0" marL="0">
              <a:buNone/>
            </a:pPr>
            <a:r>
              <a:rPr lang="en-US" sz="1500" b="1" dirty="0">
                <a:solidFill>
                  <a:srgbClr val="990011"/>
                </a:solidFill>
                <a:latin typeface="Calibri" pitchFamily="34" charset="0"/>
                <a:ea typeface="Calibri" pitchFamily="34" charset="-122"/>
                <a:cs typeface="Calibri" pitchFamily="34" charset="-120"/>
              </a:rPr>
              <a:t>1:38</a:t>
            </a:r>
            <a:endParaRPr lang="en-US" sz="1500" dirty="0"/>
          </a:p>
        </p:txBody>
      </p:sp>
      <p:sp>
        <p:nvSpPr>
          <p:cNvPr id="24" name="Text 20"/>
          <p:cNvSpPr/>
          <p:nvPr/>
        </p:nvSpPr>
        <p:spPr>
          <a:xfrm>
            <a:off x="5577840" y="1234440"/>
            <a:ext cx="2194560" cy="713232"/>
          </a:xfrm>
          <a:prstGeom prst="rect">
            <a:avLst/>
          </a:prstGeom>
          <a:noFill/>
          <a:ln/>
        </p:spPr>
        <p:txBody>
          <a:bodyPr wrap="square" lIns="0" tIns="0" rIns="0" bIns="0" rtlCol="0" anchor="ctr">
            <a:normAutofit/>
          </a:bodyPr>
          <a:lstStyle/>
          <a:p>
            <a:pPr indent="0" marL="0">
              <a:buNone/>
            </a:pPr>
            <a:r>
              <a:rPr lang="en-US" sz="1350" b="1" dirty="0">
                <a:solidFill>
                  <a:srgbClr val="14213D"/>
                </a:solidFill>
                <a:latin typeface="Calibri" pitchFamily="34" charset="0"/>
                <a:ea typeface="Calibri" pitchFamily="34" charset="-122"/>
                <a:cs typeface="Calibri" pitchFamily="34" charset="-120"/>
              </a:rPr>
              <a:t>Lists, then Links, paths + images</a:t>
            </a:r>
            <a:endParaRPr lang="en-US" sz="1350" dirty="0"/>
          </a:p>
        </p:txBody>
      </p:sp>
      <p:sp>
        <p:nvSpPr>
          <p:cNvPr id="25" name="Text 21"/>
          <p:cNvSpPr/>
          <p:nvPr/>
        </p:nvSpPr>
        <p:spPr>
          <a:xfrm>
            <a:off x="7772400" y="1234440"/>
            <a:ext cx="685800" cy="713232"/>
          </a:xfrm>
          <a:prstGeom prst="rect">
            <a:avLst/>
          </a:prstGeom>
          <a:noFill/>
          <a:ln/>
        </p:spPr>
        <p:txBody>
          <a:bodyPr wrap="square" lIns="0" tIns="0" rIns="0" bIns="0" rtlCol="0" anchor="ctr"/>
          <a:lstStyle/>
          <a:p>
            <a:pPr algn="r" indent="0" marL="0">
              <a:buNone/>
            </a:pPr>
            <a:r>
              <a:rPr lang="en-US" sz="1100" dirty="0">
                <a:solidFill>
                  <a:srgbClr val="2C3547"/>
                </a:solidFill>
                <a:latin typeface="Calibri" pitchFamily="34" charset="0"/>
                <a:ea typeface="Calibri" pitchFamily="34" charset="-122"/>
                <a:cs typeface="Calibri" pitchFamily="34" charset="-120"/>
              </a:rPr>
              <a:t>49 min</a:t>
            </a:r>
            <a:endParaRPr lang="en-US" sz="1100" dirty="0"/>
          </a:p>
        </p:txBody>
      </p:sp>
      <p:sp>
        <p:nvSpPr>
          <p:cNvPr id="26" name="Shape 22"/>
          <p:cNvSpPr/>
          <p:nvPr/>
        </p:nvSpPr>
        <p:spPr>
          <a:xfrm>
            <a:off x="4709160" y="2075688"/>
            <a:ext cx="3886200" cy="713232"/>
          </a:xfrm>
          <a:prstGeom prst="roundRect">
            <a:avLst>
              <a:gd name="adj" fmla="val 10256"/>
            </a:avLst>
          </a:prstGeom>
          <a:solidFill>
            <a:srgbClr val="F9F6F5"/>
          </a:solidFill>
          <a:ln w="9525">
            <a:solidFill>
              <a:srgbClr val="E8E2E1"/>
            </a:solidFill>
            <a:prstDash val="solid"/>
          </a:ln>
        </p:spPr>
      </p:sp>
      <p:sp>
        <p:nvSpPr>
          <p:cNvPr id="27" name="Text 23"/>
          <p:cNvSpPr/>
          <p:nvPr/>
        </p:nvSpPr>
        <p:spPr>
          <a:xfrm>
            <a:off x="4873752" y="2075688"/>
            <a:ext cx="685800" cy="713232"/>
          </a:xfrm>
          <a:prstGeom prst="rect">
            <a:avLst/>
          </a:prstGeom>
          <a:noFill/>
          <a:ln/>
        </p:spPr>
        <p:txBody>
          <a:bodyPr wrap="square" lIns="0" tIns="0" rIns="0" bIns="0" rtlCol="0" anchor="ctr"/>
          <a:lstStyle/>
          <a:p>
            <a:pPr indent="0" marL="0">
              <a:buNone/>
            </a:pPr>
            <a:r>
              <a:rPr lang="en-US" sz="1500" b="1" dirty="0">
                <a:solidFill>
                  <a:srgbClr val="990011"/>
                </a:solidFill>
                <a:latin typeface="Calibri" pitchFamily="34" charset="0"/>
                <a:ea typeface="Calibri" pitchFamily="34" charset="-122"/>
                <a:cs typeface="Calibri" pitchFamily="34" charset="-120"/>
              </a:rPr>
              <a:t>2:27</a:t>
            </a:r>
            <a:endParaRPr lang="en-US" sz="1500" dirty="0"/>
          </a:p>
        </p:txBody>
      </p:sp>
      <p:sp>
        <p:nvSpPr>
          <p:cNvPr id="28" name="Text 24"/>
          <p:cNvSpPr/>
          <p:nvPr/>
        </p:nvSpPr>
        <p:spPr>
          <a:xfrm>
            <a:off x="5577840" y="2075688"/>
            <a:ext cx="2194560" cy="713232"/>
          </a:xfrm>
          <a:prstGeom prst="rect">
            <a:avLst/>
          </a:prstGeom>
          <a:noFill/>
          <a:ln/>
        </p:spPr>
        <p:txBody>
          <a:bodyPr wrap="square" lIns="0" tIns="0" rIns="0" bIns="0" rtlCol="0" anchor="ctr">
            <a:normAutofit/>
          </a:bodyPr>
          <a:lstStyle/>
          <a:p>
            <a:pPr indent="0" marL="0">
              <a:buNone/>
            </a:pPr>
            <a:r>
              <a:rPr lang="en-US" sz="1350" b="1" dirty="0">
                <a:solidFill>
                  <a:srgbClr val="14213D"/>
                </a:solidFill>
                <a:latin typeface="Calibri" pitchFamily="34" charset="0"/>
                <a:ea typeface="Calibri" pitchFamily="34" charset="-122"/>
                <a:cs typeface="Calibri" pitchFamily="34" charset="-120"/>
              </a:rPr>
              <a:t>Tables  ·  Break</a:t>
            </a:r>
            <a:endParaRPr lang="en-US" sz="1350" dirty="0"/>
          </a:p>
        </p:txBody>
      </p:sp>
      <p:sp>
        <p:nvSpPr>
          <p:cNvPr id="29" name="Text 25"/>
          <p:cNvSpPr/>
          <p:nvPr/>
        </p:nvSpPr>
        <p:spPr>
          <a:xfrm>
            <a:off x="7772400" y="2075688"/>
            <a:ext cx="685800" cy="713232"/>
          </a:xfrm>
          <a:prstGeom prst="rect">
            <a:avLst/>
          </a:prstGeom>
          <a:noFill/>
          <a:ln/>
        </p:spPr>
        <p:txBody>
          <a:bodyPr wrap="square" lIns="0" tIns="0" rIns="0" bIns="0" rtlCol="0" anchor="ctr"/>
          <a:lstStyle/>
          <a:p>
            <a:pPr algn="r" indent="0" marL="0">
              <a:buNone/>
            </a:pPr>
            <a:r>
              <a:rPr lang="en-US" sz="1100" dirty="0">
                <a:solidFill>
                  <a:srgbClr val="2C3547"/>
                </a:solidFill>
                <a:latin typeface="Calibri" pitchFamily="34" charset="0"/>
                <a:ea typeface="Calibri" pitchFamily="34" charset="-122"/>
                <a:cs typeface="Calibri" pitchFamily="34" charset="-120"/>
              </a:rPr>
              <a:t>32 min</a:t>
            </a:r>
            <a:endParaRPr lang="en-US" sz="1100" dirty="0"/>
          </a:p>
        </p:txBody>
      </p:sp>
      <p:sp>
        <p:nvSpPr>
          <p:cNvPr id="30" name="Shape 26"/>
          <p:cNvSpPr/>
          <p:nvPr/>
        </p:nvSpPr>
        <p:spPr>
          <a:xfrm>
            <a:off x="4709160" y="2916936"/>
            <a:ext cx="3886200" cy="713232"/>
          </a:xfrm>
          <a:prstGeom prst="roundRect">
            <a:avLst>
              <a:gd name="adj" fmla="val 10256"/>
            </a:avLst>
          </a:prstGeom>
          <a:solidFill>
            <a:srgbClr val="F9F6F5"/>
          </a:solidFill>
          <a:ln w="9525">
            <a:solidFill>
              <a:srgbClr val="E8E2E1"/>
            </a:solidFill>
            <a:prstDash val="solid"/>
          </a:ln>
        </p:spPr>
      </p:sp>
      <p:sp>
        <p:nvSpPr>
          <p:cNvPr id="31" name="Text 27"/>
          <p:cNvSpPr/>
          <p:nvPr/>
        </p:nvSpPr>
        <p:spPr>
          <a:xfrm>
            <a:off x="4873752" y="2916936"/>
            <a:ext cx="685800" cy="713232"/>
          </a:xfrm>
          <a:prstGeom prst="rect">
            <a:avLst/>
          </a:prstGeom>
          <a:noFill/>
          <a:ln/>
        </p:spPr>
        <p:txBody>
          <a:bodyPr wrap="square" lIns="0" tIns="0" rIns="0" bIns="0" rtlCol="0" anchor="ctr"/>
          <a:lstStyle/>
          <a:p>
            <a:pPr indent="0" marL="0">
              <a:buNone/>
            </a:pPr>
            <a:r>
              <a:rPr lang="en-US" sz="1500" b="1" dirty="0">
                <a:solidFill>
                  <a:srgbClr val="990011"/>
                </a:solidFill>
                <a:latin typeface="Calibri" pitchFamily="34" charset="0"/>
                <a:ea typeface="Calibri" pitchFamily="34" charset="-122"/>
                <a:cs typeface="Calibri" pitchFamily="34" charset="-120"/>
              </a:rPr>
              <a:t>2:59</a:t>
            </a:r>
            <a:endParaRPr lang="en-US" sz="1500" dirty="0"/>
          </a:p>
        </p:txBody>
      </p:sp>
      <p:sp>
        <p:nvSpPr>
          <p:cNvPr id="32" name="Text 28"/>
          <p:cNvSpPr/>
          <p:nvPr/>
        </p:nvSpPr>
        <p:spPr>
          <a:xfrm>
            <a:off x="5577840" y="2916936"/>
            <a:ext cx="2194560" cy="713232"/>
          </a:xfrm>
          <a:prstGeom prst="rect">
            <a:avLst/>
          </a:prstGeom>
          <a:noFill/>
          <a:ln/>
        </p:spPr>
        <p:txBody>
          <a:bodyPr wrap="square" lIns="0" tIns="0" rIns="0" bIns="0" rtlCol="0" anchor="ctr">
            <a:normAutofit/>
          </a:bodyPr>
          <a:lstStyle/>
          <a:p>
            <a:pPr indent="0" marL="0">
              <a:buNone/>
            </a:pPr>
            <a:r>
              <a:rPr lang="en-US" sz="1350" b="1" dirty="0">
                <a:solidFill>
                  <a:srgbClr val="14213D"/>
                </a:solidFill>
                <a:latin typeface="Calibri" pitchFamily="34" charset="0"/>
                <a:ea typeface="Calibri" pitchFamily="34" charset="-122"/>
                <a:cs typeface="Calibri" pitchFamily="34" charset="-120"/>
              </a:rPr>
              <a:t>Forms</a:t>
            </a:r>
            <a:endParaRPr lang="en-US" sz="1350" dirty="0"/>
          </a:p>
        </p:txBody>
      </p:sp>
      <p:sp>
        <p:nvSpPr>
          <p:cNvPr id="33" name="Text 29"/>
          <p:cNvSpPr/>
          <p:nvPr/>
        </p:nvSpPr>
        <p:spPr>
          <a:xfrm>
            <a:off x="7772400" y="2916936"/>
            <a:ext cx="685800" cy="713232"/>
          </a:xfrm>
          <a:prstGeom prst="rect">
            <a:avLst/>
          </a:prstGeom>
          <a:noFill/>
          <a:ln/>
        </p:spPr>
        <p:txBody>
          <a:bodyPr wrap="square" lIns="0" tIns="0" rIns="0" bIns="0" rtlCol="0" anchor="ctr"/>
          <a:lstStyle/>
          <a:p>
            <a:pPr algn="r" indent="0" marL="0">
              <a:buNone/>
            </a:pPr>
            <a:r>
              <a:rPr lang="en-US" sz="1100" dirty="0">
                <a:solidFill>
                  <a:srgbClr val="2C3547"/>
                </a:solidFill>
                <a:latin typeface="Calibri" pitchFamily="34" charset="0"/>
                <a:ea typeface="Calibri" pitchFamily="34" charset="-122"/>
                <a:cs typeface="Calibri" pitchFamily="34" charset="-120"/>
              </a:rPr>
              <a:t>28 min</a:t>
            </a:r>
            <a:endParaRPr lang="en-US" sz="1100" dirty="0"/>
          </a:p>
        </p:txBody>
      </p:sp>
      <p:sp>
        <p:nvSpPr>
          <p:cNvPr id="34" name="Shape 30"/>
          <p:cNvSpPr/>
          <p:nvPr/>
        </p:nvSpPr>
        <p:spPr>
          <a:xfrm>
            <a:off x="4709160" y="3758184"/>
            <a:ext cx="3886200" cy="713232"/>
          </a:xfrm>
          <a:prstGeom prst="roundRect">
            <a:avLst>
              <a:gd name="adj" fmla="val 10256"/>
            </a:avLst>
          </a:prstGeom>
          <a:solidFill>
            <a:srgbClr val="F9F6F5"/>
          </a:solidFill>
          <a:ln w="9525">
            <a:solidFill>
              <a:srgbClr val="E8E2E1"/>
            </a:solidFill>
            <a:prstDash val="solid"/>
          </a:ln>
        </p:spPr>
      </p:sp>
      <p:sp>
        <p:nvSpPr>
          <p:cNvPr id="35" name="Text 31"/>
          <p:cNvSpPr/>
          <p:nvPr/>
        </p:nvSpPr>
        <p:spPr>
          <a:xfrm>
            <a:off x="4873752" y="3758184"/>
            <a:ext cx="685800" cy="713232"/>
          </a:xfrm>
          <a:prstGeom prst="rect">
            <a:avLst/>
          </a:prstGeom>
          <a:noFill/>
          <a:ln/>
        </p:spPr>
        <p:txBody>
          <a:bodyPr wrap="square" lIns="0" tIns="0" rIns="0" bIns="0" rtlCol="0" anchor="ctr"/>
          <a:lstStyle/>
          <a:p>
            <a:pPr indent="0" marL="0">
              <a:buNone/>
            </a:pPr>
            <a:r>
              <a:rPr lang="en-US" sz="1500" b="1" dirty="0">
                <a:solidFill>
                  <a:srgbClr val="990011"/>
                </a:solidFill>
                <a:latin typeface="Calibri" pitchFamily="34" charset="0"/>
                <a:ea typeface="Calibri" pitchFamily="34" charset="-122"/>
                <a:cs typeface="Calibri" pitchFamily="34" charset="-120"/>
              </a:rPr>
              <a:t>3:27</a:t>
            </a:r>
            <a:endParaRPr lang="en-US" sz="1500" dirty="0"/>
          </a:p>
        </p:txBody>
      </p:sp>
      <p:sp>
        <p:nvSpPr>
          <p:cNvPr id="36" name="Text 32"/>
          <p:cNvSpPr/>
          <p:nvPr/>
        </p:nvSpPr>
        <p:spPr>
          <a:xfrm>
            <a:off x="5577840" y="3758184"/>
            <a:ext cx="2194560" cy="713232"/>
          </a:xfrm>
          <a:prstGeom prst="rect">
            <a:avLst/>
          </a:prstGeom>
          <a:noFill/>
          <a:ln/>
        </p:spPr>
        <p:txBody>
          <a:bodyPr wrap="square" lIns="0" tIns="0" rIns="0" bIns="0" rtlCol="0" anchor="ctr">
            <a:normAutofit/>
          </a:bodyPr>
          <a:lstStyle/>
          <a:p>
            <a:pPr indent="0" marL="0">
              <a:buNone/>
            </a:pPr>
            <a:r>
              <a:rPr lang="en-US" sz="1350" b="1" dirty="0">
                <a:solidFill>
                  <a:srgbClr val="14213D"/>
                </a:solidFill>
                <a:latin typeface="Calibri" pitchFamily="34" charset="0"/>
                <a:ea typeface="Calibri" pitchFamily="34" charset="-122"/>
                <a:cs typeface="Calibri" pitchFamily="34" charset="-120"/>
              </a:rPr>
              <a:t>Momo House relay, validate, quiz</a:t>
            </a:r>
            <a:endParaRPr lang="en-US" sz="1350" dirty="0"/>
          </a:p>
        </p:txBody>
      </p:sp>
      <p:sp>
        <p:nvSpPr>
          <p:cNvPr id="37" name="Text 33"/>
          <p:cNvSpPr/>
          <p:nvPr/>
        </p:nvSpPr>
        <p:spPr>
          <a:xfrm>
            <a:off x="7772400" y="3758184"/>
            <a:ext cx="685800" cy="713232"/>
          </a:xfrm>
          <a:prstGeom prst="rect">
            <a:avLst/>
          </a:prstGeom>
          <a:noFill/>
          <a:ln/>
        </p:spPr>
        <p:txBody>
          <a:bodyPr wrap="square" lIns="0" tIns="0" rIns="0" bIns="0" rtlCol="0" anchor="ctr"/>
          <a:lstStyle/>
          <a:p>
            <a:pPr algn="r" indent="0" marL="0">
              <a:buNone/>
            </a:pPr>
            <a:r>
              <a:rPr lang="en-US" sz="1100" dirty="0">
                <a:solidFill>
                  <a:srgbClr val="2C3547"/>
                </a:solidFill>
                <a:latin typeface="Calibri" pitchFamily="34" charset="0"/>
                <a:ea typeface="Calibri" pitchFamily="34" charset="-122"/>
                <a:cs typeface="Calibri" pitchFamily="34" charset="-120"/>
              </a:rPr>
              <a:t>33 min</a:t>
            </a:r>
            <a:endParaRPr lang="en-US" sz="1100" dirty="0"/>
          </a:p>
        </p:txBody>
      </p:sp>
      <p:sp>
        <p:nvSpPr>
          <p:cNvPr id="38" name="Shape 34"/>
          <p:cNvSpPr/>
          <p:nvPr/>
        </p:nvSpPr>
        <p:spPr>
          <a:xfrm>
            <a:off x="548640" y="4572000"/>
            <a:ext cx="8046720" cy="384048"/>
          </a:xfrm>
          <a:prstGeom prst="roundRect">
            <a:avLst>
              <a:gd name="adj" fmla="val 19048"/>
            </a:avLst>
          </a:prstGeom>
          <a:solidFill>
            <a:srgbClr val="FFF3F4"/>
          </a:solidFill>
          <a:ln/>
        </p:spPr>
      </p:sp>
      <p:sp>
        <p:nvSpPr>
          <p:cNvPr id="39" name="Text 35"/>
          <p:cNvSpPr/>
          <p:nvPr/>
        </p:nvSpPr>
        <p:spPr>
          <a:xfrm>
            <a:off x="749808" y="4572000"/>
            <a:ext cx="7644384" cy="384048"/>
          </a:xfrm>
          <a:prstGeom prst="rect">
            <a:avLst/>
          </a:prstGeom>
          <a:noFill/>
          <a:ln/>
        </p:spPr>
        <p:txBody>
          <a:bodyPr wrap="square" lIns="0" tIns="0" rIns="0" bIns="0" rtlCol="0" anchor="ctr"/>
          <a:lstStyle/>
          <a:p>
            <a:pPr indent="0" marL="0">
              <a:buNone/>
            </a:pPr>
            <a:r>
              <a:rPr lang="en-US" sz="1250" b="1" dirty="0">
                <a:solidFill>
                  <a:srgbClr val="990011"/>
                </a:solidFill>
                <a:latin typeface="Calibri" pitchFamily="34" charset="0"/>
                <a:ea typeface="Calibri" pitchFamily="34" charset="-122"/>
                <a:cs typeface="Calibri" pitchFamily="34" charset="-120"/>
              </a:rPr>
              <a:t>Breaks:  </a:t>
            </a:r>
            <a:pPr indent="0" marL="0">
              <a:buNone/>
            </a:pPr>
            <a:r>
              <a:rPr lang="en-US" sz="1250" dirty="0">
                <a:solidFill>
                  <a:srgbClr val="2C3547"/>
                </a:solidFill>
                <a:latin typeface="Calibri" pitchFamily="34" charset="0"/>
                <a:ea typeface="Calibri" pitchFamily="34" charset="-122"/>
                <a:cs typeface="Calibri" pitchFamily="34" charset="-120"/>
              </a:rPr>
              <a:t>1:28 – 1:38 and 2:49 – 2:59 (10 min each).</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target-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758952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The One Rule + how today works</a:t>
            </a:r>
            <a:endParaRPr lang="en-US" sz="2700" dirty="0"/>
          </a:p>
        </p:txBody>
      </p:sp>
      <p:sp>
        <p:nvSpPr>
          <p:cNvPr id="6" name="Shape 2"/>
          <p:cNvSpPr/>
          <p:nvPr/>
        </p:nvSpPr>
        <p:spPr>
          <a:xfrm>
            <a:off x="548640" y="1188720"/>
            <a:ext cx="1874520" cy="1691640"/>
          </a:xfrm>
          <a:prstGeom prst="roundRect">
            <a:avLst>
              <a:gd name="adj" fmla="val 4324"/>
            </a:avLst>
          </a:prstGeom>
          <a:solidFill>
            <a:srgbClr val="F9F6F5"/>
          </a:solidFill>
          <a:ln w="9525">
            <a:solidFill>
              <a:srgbClr val="E8E2E1"/>
            </a:solidFill>
            <a:prstDash val="solid"/>
          </a:ln>
        </p:spPr>
      </p:sp>
      <p:sp>
        <p:nvSpPr>
          <p:cNvPr id="7" name="Text 3"/>
          <p:cNvSpPr/>
          <p:nvPr/>
        </p:nvSpPr>
        <p:spPr>
          <a:xfrm>
            <a:off x="731520" y="1316736"/>
            <a:ext cx="1508760" cy="32004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Code-along</a:t>
            </a:r>
            <a:endParaRPr lang="en-US" sz="1600" dirty="0"/>
          </a:p>
        </p:txBody>
      </p:sp>
      <p:sp>
        <p:nvSpPr>
          <p:cNvPr id="8" name="Text 4"/>
          <p:cNvSpPr/>
          <p:nvPr/>
        </p:nvSpPr>
        <p:spPr>
          <a:xfrm>
            <a:off x="731520" y="1691640"/>
            <a:ext cx="1508760" cy="105156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I type, you type. Same lines, same time. No copy-paste.</a:t>
            </a:r>
            <a:endParaRPr lang="en-US" sz="1250" dirty="0"/>
          </a:p>
        </p:txBody>
      </p:sp>
      <p:sp>
        <p:nvSpPr>
          <p:cNvPr id="9" name="Shape 5"/>
          <p:cNvSpPr/>
          <p:nvPr/>
        </p:nvSpPr>
        <p:spPr>
          <a:xfrm>
            <a:off x="2606040" y="1188720"/>
            <a:ext cx="1874520" cy="1691640"/>
          </a:xfrm>
          <a:prstGeom prst="roundRect">
            <a:avLst>
              <a:gd name="adj" fmla="val 4324"/>
            </a:avLst>
          </a:prstGeom>
          <a:solidFill>
            <a:srgbClr val="FFF3F4"/>
          </a:solidFill>
          <a:ln/>
        </p:spPr>
      </p:sp>
      <p:sp>
        <p:nvSpPr>
          <p:cNvPr id="10" name="Text 6"/>
          <p:cNvSpPr/>
          <p:nvPr/>
        </p:nvSpPr>
        <p:spPr>
          <a:xfrm>
            <a:off x="2788920" y="1316736"/>
            <a:ext cx="1508760" cy="320040"/>
          </a:xfrm>
          <a:prstGeom prst="rect">
            <a:avLst/>
          </a:prstGeom>
          <a:noFill/>
          <a:ln/>
        </p:spPr>
        <p:txBody>
          <a:bodyPr wrap="square" lIns="0" tIns="0" rIns="0" bIns="0" rtlCol="0" anchor="ctr"/>
          <a:lstStyle/>
          <a:p>
            <a:pPr indent="0" marL="0">
              <a:buNone/>
            </a:pPr>
            <a:r>
              <a:rPr lang="en-US" sz="1600" b="1" dirty="0">
                <a:solidFill>
                  <a:srgbClr val="990011"/>
                </a:solidFill>
                <a:latin typeface="Cambria" pitchFamily="34" charset="0"/>
                <a:ea typeface="Cambria" pitchFamily="34" charset="-122"/>
                <a:cs typeface="Cambria" pitchFamily="34" charset="-120"/>
              </a:rPr>
              <a:t>Bug-hunts</a:t>
            </a:r>
            <a:endParaRPr lang="en-US" sz="1600" dirty="0"/>
          </a:p>
        </p:txBody>
      </p:sp>
      <p:sp>
        <p:nvSpPr>
          <p:cNvPr id="11" name="Text 7"/>
          <p:cNvSpPr/>
          <p:nvPr/>
        </p:nvSpPr>
        <p:spPr>
          <a:xfrm>
            <a:off x="2788920" y="1691640"/>
            <a:ext cx="1508760" cy="105156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"There are N bugs. Find at least N−2." Then the reveal: every bug explained.</a:t>
            </a:r>
            <a:endParaRPr lang="en-US" sz="1250" dirty="0"/>
          </a:p>
        </p:txBody>
      </p:sp>
      <p:sp>
        <p:nvSpPr>
          <p:cNvPr id="12" name="Shape 8"/>
          <p:cNvSpPr/>
          <p:nvPr/>
        </p:nvSpPr>
        <p:spPr>
          <a:xfrm>
            <a:off x="4663440" y="1188720"/>
            <a:ext cx="1874520" cy="1691640"/>
          </a:xfrm>
          <a:prstGeom prst="roundRect">
            <a:avLst>
              <a:gd name="adj" fmla="val 4324"/>
            </a:avLst>
          </a:prstGeom>
          <a:solidFill>
            <a:srgbClr val="F9F6F5"/>
          </a:solidFill>
          <a:ln w="9525">
            <a:solidFill>
              <a:srgbClr val="E8E2E1"/>
            </a:solidFill>
            <a:prstDash val="solid"/>
          </a:ln>
        </p:spPr>
      </p:sp>
      <p:sp>
        <p:nvSpPr>
          <p:cNvPr id="13" name="Text 9"/>
          <p:cNvSpPr/>
          <p:nvPr/>
        </p:nvSpPr>
        <p:spPr>
          <a:xfrm>
            <a:off x="4846320" y="1316736"/>
            <a:ext cx="1508760" cy="32004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Scoreboard line</a:t>
            </a:r>
            <a:endParaRPr lang="en-US" sz="1600" dirty="0"/>
          </a:p>
        </p:txBody>
      </p:sp>
      <p:sp>
        <p:nvSpPr>
          <p:cNvPr id="14" name="Text 10"/>
          <p:cNvSpPr/>
          <p:nvPr/>
        </p:nvSpPr>
        <p:spPr>
          <a:xfrm>
            <a:off x="4846320" y="1691640"/>
            <a:ext cx="1508760" cy="105156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I found __ / N. The reveal taught me: ______</a:t>
            </a:r>
            <a:endParaRPr lang="en-US" sz="1250" dirty="0"/>
          </a:p>
        </p:txBody>
      </p:sp>
      <p:sp>
        <p:nvSpPr>
          <p:cNvPr id="15" name="Shape 11"/>
          <p:cNvSpPr/>
          <p:nvPr/>
        </p:nvSpPr>
        <p:spPr>
          <a:xfrm>
            <a:off x="6720840" y="1188720"/>
            <a:ext cx="1874520" cy="1691640"/>
          </a:xfrm>
          <a:prstGeom prst="roundRect">
            <a:avLst>
              <a:gd name="adj" fmla="val 4324"/>
            </a:avLst>
          </a:prstGeom>
          <a:solidFill>
            <a:srgbClr val="F9F6F5"/>
          </a:solidFill>
          <a:ln w="9525">
            <a:solidFill>
              <a:srgbClr val="E8E2E1"/>
            </a:solidFill>
            <a:prstDash val="solid"/>
          </a:ln>
        </p:spPr>
      </p:sp>
      <p:sp>
        <p:nvSpPr>
          <p:cNvPr id="16" name="Text 12"/>
          <p:cNvSpPr/>
          <p:nvPr/>
        </p:nvSpPr>
        <p:spPr>
          <a:xfrm>
            <a:off x="6903720" y="1316736"/>
            <a:ext cx="1508760" cy="32004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Fast finishers</a:t>
            </a:r>
            <a:endParaRPr lang="en-US" sz="1600" dirty="0"/>
          </a:p>
        </p:txBody>
      </p:sp>
      <p:sp>
        <p:nvSpPr>
          <p:cNvPr id="17" name="Text 13"/>
          <p:cNvSpPr/>
          <p:nvPr/>
        </p:nvSpPr>
        <p:spPr>
          <a:xfrm>
            <a:off x="6903720" y="1691640"/>
            <a:ext cx="1508760" cy="105156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classwork/fast-finishers/ has 6 extra challenges. Or help a neighbour.</a:t>
            </a:r>
            <a:endParaRPr lang="en-US" sz="1250" dirty="0"/>
          </a:p>
        </p:txBody>
      </p:sp>
      <p:sp>
        <p:nvSpPr>
          <p:cNvPr id="18" name="Shape 14"/>
          <p:cNvSpPr/>
          <p:nvPr/>
        </p:nvSpPr>
        <p:spPr>
          <a:xfrm>
            <a:off x="548640" y="3035808"/>
            <a:ext cx="8046720" cy="548640"/>
          </a:xfrm>
          <a:prstGeom prst="roundRect">
            <a:avLst>
              <a:gd name="adj" fmla="val 13333"/>
            </a:avLst>
          </a:prstGeom>
          <a:solidFill>
            <a:srgbClr val="F5EBD8"/>
          </a:solidFill>
          <a:ln/>
        </p:spPr>
      </p:sp>
      <p:sp>
        <p:nvSpPr>
          <p:cNvPr id="19" name="Text 15"/>
          <p:cNvSpPr/>
          <p:nvPr/>
        </p:nvSpPr>
        <p:spPr>
          <a:xfrm>
            <a:off x="749808" y="3035808"/>
            <a:ext cx="7644384" cy="548640"/>
          </a:xfrm>
          <a:prstGeom prst="rect">
            <a:avLst/>
          </a:prstGeom>
          <a:noFill/>
          <a:ln/>
        </p:spPr>
        <p:txBody>
          <a:bodyPr wrap="square" lIns="0" tIns="0" rIns="0" bIns="0" rtlCol="0" anchor="ctr"/>
          <a:lstStyle/>
          <a:p>
            <a:pPr indent="0" marL="0">
              <a:buNone/>
            </a:pPr>
            <a:r>
              <a:rPr lang="en-US" sz="1250" b="1" dirty="0">
                <a:solidFill>
                  <a:srgbClr val="9A701F"/>
                </a:solidFill>
                <a:latin typeface="Calibri" pitchFamily="34" charset="0"/>
                <a:ea typeface="Calibri" pitchFamily="34" charset="-122"/>
                <a:cs typeface="Calibri" pitchFamily="34" charset="-120"/>
              </a:rPr>
              <a:t>Staged demos:  </a:t>
            </a:r>
            <a:pPr indent="0" marL="0">
              <a:buNone/>
            </a:pPr>
            <a:r>
              <a:rPr lang="en-US" sz="1250" dirty="0">
                <a:solidFill>
                  <a:srgbClr val="2C3547"/>
                </a:solidFill>
                <a:latin typeface="Calibri" pitchFamily="34" charset="0"/>
                <a:ea typeface="Calibri" pitchFamily="34" charset="-122"/>
                <a:cs typeface="Calibri" pitchFamily="34" charset="-120"/>
              </a:rPr>
              <a:t>if my live demo breaks, I open the next step folder in instructor-demos/. So can you.</a:t>
            </a:r>
            <a:endParaRPr lang="en-US" sz="1250" dirty="0"/>
          </a:p>
        </p:txBody>
      </p:sp>
      <p:sp>
        <p:nvSpPr>
          <p:cNvPr id="20" name="Shape 16"/>
          <p:cNvSpPr/>
          <p:nvPr/>
        </p:nvSpPr>
        <p:spPr>
          <a:xfrm>
            <a:off x="548640" y="3794760"/>
            <a:ext cx="8046720" cy="548640"/>
          </a:xfrm>
          <a:prstGeom prst="roundRect">
            <a:avLst>
              <a:gd name="adj" fmla="val 13333"/>
            </a:avLst>
          </a:prstGeom>
          <a:solidFill>
            <a:srgbClr val="14213D"/>
          </a:solidFill>
          <a:ln/>
        </p:spPr>
      </p:sp>
      <p:sp>
        <p:nvSpPr>
          <p:cNvPr id="21" name="Text 17"/>
          <p:cNvSpPr/>
          <p:nvPr/>
        </p:nvSpPr>
        <p:spPr>
          <a:xfrm>
            <a:off x="749808" y="3794760"/>
            <a:ext cx="7644384"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"You may only ship code you can explain, line by line."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monitor-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758952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No Live Server? Double-click + F5</a:t>
            </a:r>
            <a:endParaRPr lang="en-US" sz="2700" dirty="0"/>
          </a:p>
        </p:txBody>
      </p:sp>
      <p:sp>
        <p:nvSpPr>
          <p:cNvPr id="6" name="Shape 2"/>
          <p:cNvSpPr/>
          <p:nvPr/>
        </p:nvSpPr>
        <p:spPr>
          <a:xfrm>
            <a:off x="548640" y="1188720"/>
            <a:ext cx="3931920" cy="1600200"/>
          </a:xfrm>
          <a:prstGeom prst="roundRect">
            <a:avLst>
              <a:gd name="adj" fmla="val 4571"/>
            </a:avLst>
          </a:prstGeom>
          <a:solidFill>
            <a:srgbClr val="F9F6F5"/>
          </a:solidFill>
          <a:ln w="9525">
            <a:solidFill>
              <a:srgbClr val="E8E2E1"/>
            </a:solidFill>
            <a:prstDash val="solid"/>
          </a:ln>
        </p:spPr>
      </p:sp>
      <p:sp>
        <p:nvSpPr>
          <p:cNvPr id="7" name="Text 3"/>
          <p:cNvSpPr/>
          <p:nvPr/>
        </p:nvSpPr>
        <p:spPr>
          <a:xfrm>
            <a:off x="731520" y="1316736"/>
            <a:ext cx="3566160" cy="32004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With Live Server</a:t>
            </a:r>
            <a:endParaRPr lang="en-US" sz="1600" dirty="0"/>
          </a:p>
        </p:txBody>
      </p:sp>
      <p:sp>
        <p:nvSpPr>
          <p:cNvPr id="8" name="Text 4"/>
          <p:cNvSpPr/>
          <p:nvPr/>
        </p:nvSpPr>
        <p:spPr>
          <a:xfrm>
            <a:off x="731520" y="1691640"/>
            <a:ext cx="3566160" cy="96012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1. Right-click index.html → Open with Live Server</a:t>
            </a: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2. Save (Ctrl+S): the page reloads by itself</a:t>
            </a: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3. The address starts with 127.0.0.1:5500</a:t>
            </a:r>
            <a:endParaRPr lang="en-US" sz="1250" dirty="0"/>
          </a:p>
        </p:txBody>
      </p:sp>
      <p:sp>
        <p:nvSpPr>
          <p:cNvPr id="9" name="Shape 5"/>
          <p:cNvSpPr/>
          <p:nvPr/>
        </p:nvSpPr>
        <p:spPr>
          <a:xfrm>
            <a:off x="4663440" y="1188720"/>
            <a:ext cx="3931920" cy="1600200"/>
          </a:xfrm>
          <a:prstGeom prst="roundRect">
            <a:avLst>
              <a:gd name="adj" fmla="val 4571"/>
            </a:avLst>
          </a:prstGeom>
          <a:solidFill>
            <a:srgbClr val="FFF3F4"/>
          </a:solidFill>
          <a:ln/>
        </p:spPr>
      </p:sp>
      <p:sp>
        <p:nvSpPr>
          <p:cNvPr id="10" name="Text 6"/>
          <p:cNvSpPr/>
          <p:nvPr/>
        </p:nvSpPr>
        <p:spPr>
          <a:xfrm>
            <a:off x="4846320" y="1316736"/>
            <a:ext cx="3566160" cy="320040"/>
          </a:xfrm>
          <a:prstGeom prst="rect">
            <a:avLst/>
          </a:prstGeom>
          <a:noFill/>
          <a:ln/>
        </p:spPr>
        <p:txBody>
          <a:bodyPr wrap="square" lIns="0" tIns="0" rIns="0" bIns="0" rtlCol="0" anchor="ctr"/>
          <a:lstStyle/>
          <a:p>
            <a:pPr indent="0" marL="0">
              <a:buNone/>
            </a:pPr>
            <a:r>
              <a:rPr lang="en-US" sz="1600" b="1" dirty="0">
                <a:solidFill>
                  <a:srgbClr val="990011"/>
                </a:solidFill>
                <a:latin typeface="Cambria" pitchFamily="34" charset="0"/>
                <a:ea typeface="Cambria" pitchFamily="34" charset="-122"/>
                <a:cs typeface="Cambria" pitchFamily="34" charset="-120"/>
              </a:rPr>
              <a:t>Without it (fallback)</a:t>
            </a:r>
            <a:endParaRPr lang="en-US" sz="1600" dirty="0"/>
          </a:p>
        </p:txBody>
      </p:sp>
      <p:sp>
        <p:nvSpPr>
          <p:cNvPr id="11" name="Text 7"/>
          <p:cNvSpPr/>
          <p:nvPr/>
        </p:nvSpPr>
        <p:spPr>
          <a:xfrm>
            <a:off x="4846320" y="1691640"/>
            <a:ext cx="3566160" cy="96012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1. Double-click index.html in File Explorer</a:t>
            </a: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2. Save (Ctrl+S) in VS Code</a:t>
            </a: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3. Go to Chrome and press F5 to reload</a:t>
            </a:r>
            <a:endParaRPr lang="en-US" sz="1250" dirty="0"/>
          </a:p>
        </p:txBody>
      </p:sp>
      <p:sp>
        <p:nvSpPr>
          <p:cNvPr id="12" name="Shape 8"/>
          <p:cNvSpPr/>
          <p:nvPr/>
        </p:nvSpPr>
        <p:spPr>
          <a:xfrm>
            <a:off x="548640" y="2926080"/>
            <a:ext cx="8046720" cy="685800"/>
          </a:xfrm>
          <a:prstGeom prst="roundRect">
            <a:avLst>
              <a:gd name="adj" fmla="val 10667"/>
            </a:avLst>
          </a:prstGeom>
          <a:solidFill>
            <a:srgbClr val="FFF3F4"/>
          </a:solidFill>
          <a:ln/>
        </p:spPr>
      </p:sp>
      <p:sp>
        <p:nvSpPr>
          <p:cNvPr id="13" name="Text 9"/>
          <p:cNvSpPr/>
          <p:nvPr/>
        </p:nvSpPr>
        <p:spPr>
          <a:xfrm>
            <a:off x="868680" y="3063240"/>
            <a:ext cx="7406640" cy="411480"/>
          </a:xfrm>
          <a:prstGeom prst="rect">
            <a:avLst/>
          </a:prstGeom>
          <a:noFill/>
          <a:ln/>
        </p:spPr>
        <p:txBody>
          <a:bodyPr wrap="square" lIns="0" tIns="0" rIns="0" bIns="0" rtlCol="0" anchor="ctr"/>
          <a:lstStyle/>
          <a:p>
            <a:pPr algn="ctr" indent="0" marL="0">
              <a:buNone/>
            </a:pPr>
            <a:r>
              <a:rPr lang="en-US" sz="2000" b="1" dirty="0">
                <a:solidFill>
                  <a:srgbClr val="14213D"/>
                </a:solidFill>
                <a:latin typeface="Cambria" pitchFamily="34" charset="0"/>
                <a:ea typeface="Cambria" pitchFamily="34" charset="-122"/>
                <a:cs typeface="Cambria" pitchFamily="34" charset="-120"/>
              </a:rPr>
              <a:t>Same page, one more key: F5.</a:t>
            </a:r>
            <a:endParaRPr lang="en-US" sz="2000" dirty="0"/>
          </a:p>
        </p:txBody>
      </p:sp>
      <p:sp>
        <p:nvSpPr>
          <p:cNvPr id="14" name="Shape 10"/>
          <p:cNvSpPr/>
          <p:nvPr/>
        </p:nvSpPr>
        <p:spPr>
          <a:xfrm>
            <a:off x="548640" y="3794760"/>
            <a:ext cx="8046720" cy="548640"/>
          </a:xfrm>
          <a:prstGeom prst="roundRect">
            <a:avLst>
              <a:gd name="adj" fmla="val 13333"/>
            </a:avLst>
          </a:prstGeom>
          <a:solidFill>
            <a:srgbClr val="F5EBD8"/>
          </a:solidFill>
          <a:ln/>
        </p:spPr>
      </p:sp>
      <p:sp>
        <p:nvSpPr>
          <p:cNvPr id="15" name="Text 11"/>
          <p:cNvSpPr/>
          <p:nvPr/>
        </p:nvSpPr>
        <p:spPr>
          <a:xfrm>
            <a:off x="749808" y="3794760"/>
            <a:ext cx="7644384" cy="548640"/>
          </a:xfrm>
          <a:prstGeom prst="rect">
            <a:avLst/>
          </a:prstGeom>
          <a:noFill/>
          <a:ln/>
        </p:spPr>
        <p:txBody>
          <a:bodyPr wrap="square" lIns="0" tIns="0" rIns="0" bIns="0" rtlCol="0" anchor="ctr"/>
          <a:lstStyle/>
          <a:p>
            <a:pPr indent="0" marL="0">
              <a:buNone/>
            </a:pPr>
            <a:r>
              <a:rPr lang="en-US" sz="1250" b="1" dirty="0">
                <a:solidFill>
                  <a:srgbClr val="9A701F"/>
                </a:solidFill>
                <a:latin typeface="Calibri" pitchFamily="34" charset="0"/>
                <a:ea typeface="Calibri" pitchFamily="34" charset="-122"/>
                <a:cs typeface="Calibri" pitchFamily="34" charset="-120"/>
              </a:rPr>
              <a:t>Do not wait for an install.  </a:t>
            </a:r>
            <a:pPr indent="0" marL="0">
              <a:buNone/>
            </a:pPr>
            <a:r>
              <a:rPr lang="en-US" sz="1250" dirty="0">
                <a:solidFill>
                  <a:srgbClr val="2C3547"/>
                </a:solidFill>
                <a:latin typeface="Calibri" pitchFamily="34" charset="0"/>
                <a:ea typeface="Calibri" pitchFamily="34" charset="-122"/>
                <a:cs typeface="Calibri" pitchFamily="34" charset="-120"/>
              </a:rPr>
              <a:t>Use the fallback now. We install Live Server together at the 1:28 break.</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wrench-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612648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D1-00  ·  Setup check</a:t>
            </a:r>
            <a:endParaRPr lang="en-US" sz="2700" dirty="0"/>
          </a:p>
        </p:txBody>
      </p:sp>
      <p:sp>
        <p:nvSpPr>
          <p:cNvPr id="5" name="Text 2"/>
          <p:cNvSpPr/>
          <p:nvPr/>
        </p:nvSpPr>
        <p:spPr>
          <a:xfrm>
            <a:off x="7315200" y="402336"/>
            <a:ext cx="1417320" cy="310896"/>
          </a:xfrm>
          <a:prstGeom prst="roundRect">
            <a:avLst>
              <a:gd name="adj" fmla="val 50000"/>
            </a:avLst>
          </a:prstGeom>
          <a:solidFill>
            <a:srgbClr val="F5EBD8"/>
          </a:solidFill>
          <a:ln/>
        </p:spPr>
        <p:txBody>
          <a:bodyPr wrap="square" lIns="0" tIns="0" rIns="0" bIns="0" rtlCol="0" anchor="ctr"/>
          <a:lstStyle/>
          <a:p>
            <a:pPr algn="ctr" indent="0" marL="0">
              <a:buNone/>
            </a:pPr>
            <a:r>
              <a:rPr lang="en-US" sz="1100" b="1" spc="200" kern="0" dirty="0">
                <a:solidFill>
                  <a:srgbClr val="9A701F"/>
                </a:solidFill>
                <a:latin typeface="Calibri" pitchFamily="34" charset="0"/>
                <a:ea typeface="Calibri" pitchFamily="34" charset="-122"/>
                <a:cs typeface="Calibri" pitchFamily="34" charset="-120"/>
              </a:rPr>
              <a:t>ACTIVITY</a:t>
            </a:r>
            <a:endParaRPr lang="en-US" sz="1100" dirty="0"/>
          </a:p>
        </p:txBody>
      </p:sp>
      <p:sp>
        <p:nvSpPr>
          <p:cNvPr id="7" name="Text 3"/>
          <p:cNvSpPr/>
          <p:nvPr/>
        </p:nvSpPr>
        <p:spPr>
          <a:xfrm>
            <a:off x="548640" y="1078992"/>
            <a:ext cx="8046720" cy="274320"/>
          </a:xfrm>
          <a:prstGeom prst="rect">
            <a:avLst/>
          </a:prstGeom>
          <a:noFill/>
          <a:ln/>
        </p:spPr>
        <p:txBody>
          <a:bodyPr wrap="square" lIns="0" tIns="0" rIns="0" bIns="0" rtlCol="0" anchor="ctr"/>
          <a:lstStyle/>
          <a:p>
            <a:pPr indent="0" marL="0">
              <a:buNone/>
            </a:pPr>
            <a:r>
              <a:rPr lang="en-US" sz="1300" b="1" dirty="0">
                <a:solidFill>
                  <a:srgbClr val="990011"/>
                </a:solidFill>
                <a:latin typeface="Calibri" pitchFamily="34" charset="0"/>
                <a:ea typeface="Calibri" pitchFamily="34" charset="-122"/>
                <a:cs typeface="Calibri" pitchFamily="34" charset="-120"/>
              </a:rPr>
              <a:t>8 minutes  ·  solo  ·  W2D1/classwork/D1-00-setup-check/</a:t>
            </a:r>
            <a:endParaRPr lang="en-US" sz="1300" dirty="0"/>
          </a:p>
        </p:txBody>
      </p:sp>
      <p:sp>
        <p:nvSpPr>
          <p:cNvPr id="8" name="Text 4"/>
          <p:cNvSpPr/>
          <p:nvPr/>
        </p:nvSpPr>
        <p:spPr>
          <a:xfrm>
            <a:off x="566928" y="15544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5"/>
          <p:cNvSpPr/>
          <p:nvPr/>
        </p:nvSpPr>
        <p:spPr>
          <a:xfrm>
            <a:off x="1005840" y="15270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File → Open Folder → choose W2D1</a:t>
            </a:r>
            <a:endParaRPr lang="en-US" sz="1350" dirty="0"/>
          </a:p>
        </p:txBody>
      </p:sp>
      <p:sp>
        <p:nvSpPr>
          <p:cNvPr id="10" name="Text 6"/>
          <p:cNvSpPr/>
          <p:nvPr/>
        </p:nvSpPr>
        <p:spPr>
          <a:xfrm>
            <a:off x="566928" y="20116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7"/>
          <p:cNvSpPr/>
          <p:nvPr/>
        </p:nvSpPr>
        <p:spPr>
          <a:xfrm>
            <a:off x="1005840" y="19842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Open classwork/D1-00-setup-check/index.html</a:t>
            </a:r>
            <a:endParaRPr lang="en-US" sz="1350" dirty="0"/>
          </a:p>
        </p:txBody>
      </p:sp>
      <p:sp>
        <p:nvSpPr>
          <p:cNvPr id="12" name="Text 8"/>
          <p:cNvSpPr/>
          <p:nvPr/>
        </p:nvSpPr>
        <p:spPr>
          <a:xfrm>
            <a:off x="566928" y="24688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9"/>
          <p:cNvSpPr/>
          <p:nvPr/>
        </p:nvSpPr>
        <p:spPr>
          <a:xfrm>
            <a:off x="1005840" y="24414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Right-click → Open with Live Server (or double-click + F5)</a:t>
            </a:r>
            <a:endParaRPr lang="en-US" sz="1350" dirty="0"/>
          </a:p>
        </p:txBody>
      </p:sp>
      <p:sp>
        <p:nvSpPr>
          <p:cNvPr id="14" name="Text 10"/>
          <p:cNvSpPr/>
          <p:nvPr/>
        </p:nvSpPr>
        <p:spPr>
          <a:xfrm>
            <a:off x="566928" y="29260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1"/>
          <p:cNvSpPr/>
          <p:nvPr/>
        </p:nvSpPr>
        <p:spPr>
          <a:xfrm>
            <a:off x="1005840" y="28986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Change the &lt;h1&gt; to your own name. Save.</a:t>
            </a:r>
            <a:endParaRPr lang="en-US" sz="1350" dirty="0"/>
          </a:p>
        </p:txBody>
      </p:sp>
      <p:sp>
        <p:nvSpPr>
          <p:cNvPr id="16" name="Text 12"/>
          <p:cNvSpPr/>
          <p:nvPr/>
        </p:nvSpPr>
        <p:spPr>
          <a:xfrm>
            <a:off x="566928" y="33832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7" name="Text 13"/>
          <p:cNvSpPr/>
          <p:nvPr/>
        </p:nvSpPr>
        <p:spPr>
          <a:xfrm>
            <a:off x="1005840" y="33558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Press F12. Find your &lt;h1&gt; in Elements.</a:t>
            </a:r>
            <a:endParaRPr lang="en-US" sz="1350" dirty="0"/>
          </a:p>
        </p:txBody>
      </p:sp>
      <p:sp>
        <p:nvSpPr>
          <p:cNvPr id="18" name="Shape 14"/>
          <p:cNvSpPr/>
          <p:nvPr/>
        </p:nvSpPr>
        <p:spPr>
          <a:xfrm>
            <a:off x="5760720" y="1554480"/>
            <a:ext cx="2834640" cy="2331720"/>
          </a:xfrm>
          <a:prstGeom prst="roundRect">
            <a:avLst>
              <a:gd name="adj" fmla="val 3137"/>
            </a:avLst>
          </a:prstGeom>
          <a:solidFill>
            <a:srgbClr val="FFF3F4"/>
          </a:solidFill>
          <a:ln/>
        </p:spPr>
      </p:sp>
      <p:sp>
        <p:nvSpPr>
          <p:cNvPr id="19" name="Text 15"/>
          <p:cNvSpPr/>
          <p:nvPr/>
        </p:nvSpPr>
        <p:spPr>
          <a:xfrm>
            <a:off x="5943600" y="1682496"/>
            <a:ext cx="2468880" cy="320040"/>
          </a:xfrm>
          <a:prstGeom prst="rect">
            <a:avLst/>
          </a:prstGeom>
          <a:noFill/>
          <a:ln/>
        </p:spPr>
        <p:txBody>
          <a:bodyPr wrap="square" lIns="0" tIns="0" rIns="0" bIns="0" rtlCol="0" anchor="ctr"/>
          <a:lstStyle/>
          <a:p>
            <a:pPr indent="0" marL="0">
              <a:buNone/>
            </a:pPr>
            <a:r>
              <a:rPr lang="en-US" sz="1600" b="1" dirty="0">
                <a:solidFill>
                  <a:srgbClr val="990011"/>
                </a:solidFill>
                <a:latin typeface="Cambria" pitchFamily="34" charset="0"/>
                <a:ea typeface="Cambria" pitchFamily="34" charset="-122"/>
                <a:cs typeface="Cambria" pitchFamily="34" charset="-120"/>
              </a:rPr>
              <a:t>DONE looks like</a:t>
            </a:r>
            <a:endParaRPr lang="en-US" sz="1600" dirty="0"/>
          </a:p>
        </p:txBody>
      </p:sp>
      <p:sp>
        <p:nvSpPr>
          <p:cNvPr id="20" name="Text 16"/>
          <p:cNvSpPr/>
          <p:nvPr/>
        </p:nvSpPr>
        <p:spPr>
          <a:xfrm>
            <a:off x="5943600" y="2057400"/>
            <a:ext cx="2468880" cy="169164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The browser shows YOUR name in the big heading.</a:t>
            </a:r>
            <a:endParaRPr lang="en-US" sz="1250" dirty="0"/>
          </a:p>
          <a:p>
            <a:pPr indent="0" marL="0">
              <a:buNone/>
            </a:pP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F12 is open and you can see the &lt;h1&gt; in the Elements panel.</a:t>
            </a:r>
            <a:endParaRPr lang="en-US" sz="1250" dirty="0"/>
          </a:p>
        </p:txBody>
      </p:sp>
      <p:sp>
        <p:nvSpPr>
          <p:cNvPr id="21" name="Shape 17"/>
          <p:cNvSpPr/>
          <p:nvPr/>
        </p:nvSpPr>
        <p:spPr>
          <a:xfrm>
            <a:off x="548640" y="4206240"/>
            <a:ext cx="8046720" cy="502920"/>
          </a:xfrm>
          <a:prstGeom prst="roundRect">
            <a:avLst>
              <a:gd name="adj" fmla="val 14545"/>
            </a:avLst>
          </a:prstGeom>
          <a:solidFill>
            <a:srgbClr val="F5EBD8"/>
          </a:solidFill>
          <a:ln/>
        </p:spPr>
      </p:sp>
      <p:sp>
        <p:nvSpPr>
          <p:cNvPr id="22" name="Text 18"/>
          <p:cNvSpPr/>
          <p:nvPr/>
        </p:nvSpPr>
        <p:spPr>
          <a:xfrm>
            <a:off x="749808" y="4206240"/>
            <a:ext cx="7644384" cy="502920"/>
          </a:xfrm>
          <a:prstGeom prst="rect">
            <a:avLst/>
          </a:prstGeom>
          <a:noFill/>
          <a:ln/>
        </p:spPr>
        <p:txBody>
          <a:bodyPr wrap="square" lIns="0" tIns="0" rIns="0" bIns="0" rtlCol="0" anchor="ctr"/>
          <a:lstStyle/>
          <a:p>
            <a:pPr indent="0" marL="0">
              <a:buNone/>
            </a:pPr>
            <a:r>
              <a:rPr lang="en-US" sz="1250" b="1" dirty="0">
                <a:solidFill>
                  <a:srgbClr val="9A701F"/>
                </a:solidFill>
                <a:latin typeface="Calibri" pitchFamily="34" charset="0"/>
                <a:ea typeface="Calibri" pitchFamily="34" charset="-122"/>
                <a:cs typeface="Calibri" pitchFamily="34" charset="-120"/>
              </a:rPr>
              <a:t>Hands up when your name shows.  </a:t>
            </a:r>
            <a:pPr indent="0" marL="0">
              <a:buNone/>
            </a:pPr>
            <a:r>
              <a:rPr lang="en-US" sz="1250" dirty="0">
                <a:solidFill>
                  <a:srgbClr val="2C3547"/>
                </a:solidFill>
                <a:latin typeface="Calibri" pitchFamily="34" charset="0"/>
                <a:ea typeface="Calibri" pitchFamily="34" charset="-122"/>
                <a:cs typeface="Calibri" pitchFamily="34" charset="-120"/>
              </a:rPr>
              <a:t>Stuck after 4 minutes? Use the double-click + F5 fallback.</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globe-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612648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THINK: You press Enter. Then?</a:t>
            </a:r>
            <a:endParaRPr lang="en-US" sz="2700" dirty="0"/>
          </a:p>
        </p:txBody>
      </p:sp>
      <p:sp>
        <p:nvSpPr>
          <p:cNvPr id="5" name="Text 2"/>
          <p:cNvSpPr/>
          <p:nvPr/>
        </p:nvSpPr>
        <p:spPr>
          <a:xfrm>
            <a:off x="7315200" y="402336"/>
            <a:ext cx="1417320" cy="310896"/>
          </a:xfrm>
          <a:prstGeom prst="roundRect">
            <a:avLst>
              <a:gd name="adj" fmla="val 50000"/>
            </a:avLst>
          </a:prstGeom>
          <a:solidFill>
            <a:srgbClr val="F5EBD8"/>
          </a:solidFill>
          <a:ln/>
        </p:spPr>
        <p:txBody>
          <a:bodyPr wrap="square" lIns="0" tIns="0" rIns="0" bIns="0" rtlCol="0" anchor="ctr"/>
          <a:lstStyle/>
          <a:p>
            <a:pPr algn="ctr" indent="0" marL="0">
              <a:buNone/>
            </a:pPr>
            <a:r>
              <a:rPr lang="en-US" sz="1100" b="1" spc="200" kern="0" dirty="0">
                <a:solidFill>
                  <a:srgbClr val="9A701F"/>
                </a:solidFill>
                <a:latin typeface="Calibri" pitchFamily="34" charset="0"/>
                <a:ea typeface="Calibri" pitchFamily="34" charset="-122"/>
                <a:cs typeface="Calibri" pitchFamily="34" charset="-120"/>
              </a:rPr>
              <a:t>ACTIVITY</a:t>
            </a:r>
            <a:endParaRPr lang="en-US" sz="1100" dirty="0"/>
          </a:p>
        </p:txBody>
      </p:sp>
      <p:sp>
        <p:nvSpPr>
          <p:cNvPr id="7" name="Text 3"/>
          <p:cNvSpPr/>
          <p:nvPr/>
        </p:nvSpPr>
        <p:spPr>
          <a:xfrm>
            <a:off x="548640" y="1078992"/>
            <a:ext cx="8046720" cy="274320"/>
          </a:xfrm>
          <a:prstGeom prst="rect">
            <a:avLst/>
          </a:prstGeom>
          <a:noFill/>
          <a:ln/>
        </p:spPr>
        <p:txBody>
          <a:bodyPr wrap="square" lIns="0" tIns="0" rIns="0" bIns="0" rtlCol="0" anchor="ctr"/>
          <a:lstStyle/>
          <a:p>
            <a:pPr indent="0" marL="0">
              <a:buNone/>
            </a:pPr>
            <a:r>
              <a:rPr lang="en-US" sz="1300" b="1" dirty="0">
                <a:solidFill>
                  <a:srgbClr val="990011"/>
                </a:solidFill>
                <a:latin typeface="Calibri" pitchFamily="34" charset="0"/>
                <a:ea typeface="Calibri" pitchFamily="34" charset="-122"/>
                <a:cs typeface="Calibri" pitchFamily="34" charset="-120"/>
              </a:rPr>
              <a:t>Prediction  ·  1 minute  ·  shout out your guesses</a:t>
            </a:r>
            <a:endParaRPr lang="en-US" sz="1300" dirty="0"/>
          </a:p>
        </p:txBody>
      </p:sp>
      <p:sp>
        <p:nvSpPr>
          <p:cNvPr id="8" name="Shape 4"/>
          <p:cNvSpPr/>
          <p:nvPr/>
        </p:nvSpPr>
        <p:spPr>
          <a:xfrm>
            <a:off x="548640" y="1600200"/>
            <a:ext cx="8046720" cy="1463040"/>
          </a:xfrm>
          <a:prstGeom prst="roundRect">
            <a:avLst>
              <a:gd name="adj" fmla="val 5000"/>
            </a:avLst>
          </a:prstGeom>
          <a:solidFill>
            <a:srgbClr val="FFF3F4"/>
          </a:solidFill>
          <a:ln/>
        </p:spPr>
      </p:sp>
      <p:sp>
        <p:nvSpPr>
          <p:cNvPr id="9" name="Text 5"/>
          <p:cNvSpPr/>
          <p:nvPr/>
        </p:nvSpPr>
        <p:spPr>
          <a:xfrm>
            <a:off x="868680" y="1737360"/>
            <a:ext cx="7406640" cy="1188720"/>
          </a:xfrm>
          <a:prstGeom prst="rect">
            <a:avLst/>
          </a:prstGeom>
          <a:noFill/>
          <a:ln/>
        </p:spPr>
        <p:txBody>
          <a:bodyPr wrap="square" lIns="0" tIns="0" rIns="0" bIns="0" rtlCol="0" anchor="ctr"/>
          <a:lstStyle/>
          <a:p>
            <a:pPr algn="ctr" indent="0" marL="0">
              <a:buNone/>
            </a:pPr>
            <a:r>
              <a:rPr lang="en-US" sz="2400" b="1" dirty="0">
                <a:solidFill>
                  <a:srgbClr val="14213D"/>
                </a:solidFill>
                <a:latin typeface="Cambria" pitchFamily="34" charset="0"/>
                <a:ea typeface="Cambria" pitchFamily="34" charset="-122"/>
                <a:cs typeface="Cambria" pitchFamily="34" charset="-120"/>
              </a:rPr>
              <a:t>momohouse.com.np  ⏎</a:t>
            </a:r>
            <a:endParaRPr lang="en-US" sz="2400" dirty="0"/>
          </a:p>
          <a:p>
            <a:pPr algn="ctr" indent="0" marL="0">
              <a:buNone/>
            </a:pPr>
            <a:r>
              <a:rPr lang="en-US" sz="2400" b="1" dirty="0">
                <a:solidFill>
                  <a:srgbClr val="14213D"/>
                </a:solidFill>
                <a:latin typeface="Cambria" pitchFamily="34" charset="0"/>
                <a:ea typeface="Cambria" pitchFamily="34" charset="-122"/>
                <a:cs typeface="Cambria" pitchFamily="34" charset="-120"/>
              </a:rPr>
              <a:t>What happens in the next 2 seconds?</a:t>
            </a:r>
            <a:endParaRPr lang="en-US" sz="2400" dirty="0"/>
          </a:p>
        </p:txBody>
      </p:sp>
      <p:sp>
        <p:nvSpPr>
          <p:cNvPr id="10" name="Shape 6"/>
          <p:cNvSpPr/>
          <p:nvPr/>
        </p:nvSpPr>
        <p:spPr>
          <a:xfrm>
            <a:off x="548640" y="3246120"/>
            <a:ext cx="2560320" cy="1143000"/>
          </a:xfrm>
          <a:prstGeom prst="roundRect">
            <a:avLst>
              <a:gd name="adj" fmla="val 6400"/>
            </a:avLst>
          </a:prstGeom>
          <a:solidFill>
            <a:srgbClr val="F9F6F5"/>
          </a:solidFill>
          <a:ln w="9525">
            <a:solidFill>
              <a:srgbClr val="E8E2E1"/>
            </a:solidFill>
            <a:prstDash val="solid"/>
          </a:ln>
        </p:spPr>
      </p:sp>
      <p:sp>
        <p:nvSpPr>
          <p:cNvPr id="11" name="Text 7"/>
          <p:cNvSpPr/>
          <p:nvPr/>
        </p:nvSpPr>
        <p:spPr>
          <a:xfrm>
            <a:off x="731520" y="3374136"/>
            <a:ext cx="2194560" cy="32004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Guess 1</a:t>
            </a:r>
            <a:endParaRPr lang="en-US" sz="1600" dirty="0"/>
          </a:p>
        </p:txBody>
      </p:sp>
      <p:sp>
        <p:nvSpPr>
          <p:cNvPr id="12" name="Text 8"/>
          <p:cNvSpPr/>
          <p:nvPr/>
        </p:nvSpPr>
        <p:spPr>
          <a:xfrm>
            <a:off x="731520" y="3749040"/>
            <a:ext cx="2194560" cy="50292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Who receives your request first?</a:t>
            </a:r>
            <a:endParaRPr lang="en-US" sz="1250" dirty="0"/>
          </a:p>
        </p:txBody>
      </p:sp>
      <p:sp>
        <p:nvSpPr>
          <p:cNvPr id="13" name="Shape 9"/>
          <p:cNvSpPr/>
          <p:nvPr/>
        </p:nvSpPr>
        <p:spPr>
          <a:xfrm>
            <a:off x="3291840" y="3246120"/>
            <a:ext cx="2560320" cy="1143000"/>
          </a:xfrm>
          <a:prstGeom prst="roundRect">
            <a:avLst>
              <a:gd name="adj" fmla="val 6400"/>
            </a:avLst>
          </a:prstGeom>
          <a:solidFill>
            <a:srgbClr val="F9F6F5"/>
          </a:solidFill>
          <a:ln w="9525">
            <a:solidFill>
              <a:srgbClr val="E8E2E1"/>
            </a:solidFill>
            <a:prstDash val="solid"/>
          </a:ln>
        </p:spPr>
      </p:sp>
      <p:sp>
        <p:nvSpPr>
          <p:cNvPr id="14" name="Text 10"/>
          <p:cNvSpPr/>
          <p:nvPr/>
        </p:nvSpPr>
        <p:spPr>
          <a:xfrm>
            <a:off x="3474720" y="3374136"/>
            <a:ext cx="2194560" cy="32004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Guess 2</a:t>
            </a:r>
            <a:endParaRPr lang="en-US" sz="1600" dirty="0"/>
          </a:p>
        </p:txBody>
      </p:sp>
      <p:sp>
        <p:nvSpPr>
          <p:cNvPr id="15" name="Text 11"/>
          <p:cNvSpPr/>
          <p:nvPr/>
        </p:nvSpPr>
        <p:spPr>
          <a:xfrm>
            <a:off x="3474720" y="3749040"/>
            <a:ext cx="2194560" cy="50292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How does your laptop find the right computer?</a:t>
            </a:r>
            <a:endParaRPr lang="en-US" sz="1250" dirty="0"/>
          </a:p>
        </p:txBody>
      </p:sp>
      <p:sp>
        <p:nvSpPr>
          <p:cNvPr id="16" name="Shape 12"/>
          <p:cNvSpPr/>
          <p:nvPr/>
        </p:nvSpPr>
        <p:spPr>
          <a:xfrm>
            <a:off x="6035040" y="3246120"/>
            <a:ext cx="2560320" cy="1143000"/>
          </a:xfrm>
          <a:prstGeom prst="roundRect">
            <a:avLst>
              <a:gd name="adj" fmla="val 6400"/>
            </a:avLst>
          </a:prstGeom>
          <a:solidFill>
            <a:srgbClr val="FFF3F4"/>
          </a:solidFill>
          <a:ln/>
        </p:spPr>
      </p:sp>
      <p:sp>
        <p:nvSpPr>
          <p:cNvPr id="17" name="Text 13"/>
          <p:cNvSpPr/>
          <p:nvPr/>
        </p:nvSpPr>
        <p:spPr>
          <a:xfrm>
            <a:off x="6217920" y="3374136"/>
            <a:ext cx="2194560" cy="320040"/>
          </a:xfrm>
          <a:prstGeom prst="rect">
            <a:avLst/>
          </a:prstGeom>
          <a:noFill/>
          <a:ln/>
        </p:spPr>
        <p:txBody>
          <a:bodyPr wrap="square" lIns="0" tIns="0" rIns="0" bIns="0" rtlCol="0" anchor="ctr"/>
          <a:lstStyle/>
          <a:p>
            <a:pPr indent="0" marL="0">
              <a:buNone/>
            </a:pPr>
            <a:r>
              <a:rPr lang="en-US" sz="1600" b="1" dirty="0">
                <a:solidFill>
                  <a:srgbClr val="990011"/>
                </a:solidFill>
                <a:latin typeface="Cambria" pitchFamily="34" charset="0"/>
                <a:ea typeface="Cambria" pitchFamily="34" charset="-122"/>
                <a:cs typeface="Cambria" pitchFamily="34" charset="-120"/>
              </a:rPr>
              <a:t>Guess 3</a:t>
            </a:r>
            <a:endParaRPr lang="en-US" sz="1600" dirty="0"/>
          </a:p>
        </p:txBody>
      </p:sp>
      <p:sp>
        <p:nvSpPr>
          <p:cNvPr id="18" name="Text 14"/>
          <p:cNvSpPr/>
          <p:nvPr/>
        </p:nvSpPr>
        <p:spPr>
          <a:xfrm>
            <a:off x="6217920" y="3749040"/>
            <a:ext cx="2194560" cy="50292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What comes back: one file or many?</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globe-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758952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The Internet is a postal system</a:t>
            </a:r>
            <a:endParaRPr lang="en-US" sz="2700" dirty="0"/>
          </a:p>
        </p:txBody>
      </p:sp>
      <p:sp>
        <p:nvSpPr>
          <p:cNvPr id="6" name="Shape 2"/>
          <p:cNvSpPr/>
          <p:nvPr/>
        </p:nvSpPr>
        <p:spPr>
          <a:xfrm>
            <a:off x="548640" y="1325880"/>
            <a:ext cx="1389888" cy="1051560"/>
          </a:xfrm>
          <a:prstGeom prst="roundRect">
            <a:avLst>
              <a:gd name="adj" fmla="val 8696"/>
            </a:avLst>
          </a:prstGeom>
          <a:solidFill>
            <a:srgbClr val="14213D"/>
          </a:solidFill>
          <a:ln/>
        </p:spPr>
      </p:sp>
      <p:sp>
        <p:nvSpPr>
          <p:cNvPr id="7" name="Text 3"/>
          <p:cNvSpPr/>
          <p:nvPr/>
        </p:nvSpPr>
        <p:spPr>
          <a:xfrm>
            <a:off x="658368" y="1417320"/>
            <a:ext cx="274320" cy="274320"/>
          </a:xfrm>
          <a:prstGeom prst="ellipse">
            <a:avLst/>
          </a:prstGeom>
          <a:solidFill>
            <a:srgbClr val="FFFFFF"/>
          </a:solid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1</a:t>
            </a:r>
            <a:endParaRPr lang="en-US" sz="1300" dirty="0"/>
          </a:p>
        </p:txBody>
      </p:sp>
      <p:sp>
        <p:nvSpPr>
          <p:cNvPr id="8" name="Text 4"/>
          <p:cNvSpPr/>
          <p:nvPr/>
        </p:nvSpPr>
        <p:spPr>
          <a:xfrm>
            <a:off x="640080" y="1709928"/>
            <a:ext cx="1207008" cy="59436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Cambria" pitchFamily="34" charset="0"/>
                <a:ea typeface="Cambria" pitchFamily="34" charset="-122"/>
                <a:cs typeface="Cambria" pitchFamily="34" charset="-120"/>
              </a:rPr>
              <a:t>Browser</a:t>
            </a:r>
            <a:endParaRPr lang="en-US" sz="1400" dirty="0"/>
          </a:p>
        </p:txBody>
      </p:sp>
      <p:sp>
        <p:nvSpPr>
          <p:cNvPr id="9" name="Text 5"/>
          <p:cNvSpPr/>
          <p:nvPr/>
        </p:nvSpPr>
        <p:spPr>
          <a:xfrm>
            <a:off x="548640" y="2450592"/>
            <a:ext cx="1389888" cy="548640"/>
          </a:xfrm>
          <a:prstGeom prst="rect">
            <a:avLst/>
          </a:prstGeom>
          <a:noFill/>
          <a:ln/>
        </p:spPr>
        <p:txBody>
          <a:bodyPr wrap="square" lIns="0" tIns="0" rIns="0" bIns="0" rtlCol="0" anchor="t"/>
          <a:lstStyle/>
          <a:p>
            <a:pPr algn="ctr" indent="0" marL="0">
              <a:buNone/>
            </a:pPr>
            <a:r>
              <a:rPr lang="en-US" sz="1200" dirty="0">
                <a:solidFill>
                  <a:srgbClr val="2C3547"/>
                </a:solidFill>
                <a:latin typeface="Calibri" pitchFamily="34" charset="0"/>
                <a:ea typeface="Calibri" pitchFamily="34" charset="-122"/>
                <a:cs typeface="Calibri" pitchFamily="34" charset="-120"/>
              </a:rPr>
              <a:t>you write a letter: "send me the home page"</a:t>
            </a:r>
            <a:endParaRPr lang="en-US" sz="1200" dirty="0"/>
          </a:p>
        </p:txBody>
      </p:sp>
      <p:sp>
        <p:nvSpPr>
          <p:cNvPr id="10" name="Shape 6"/>
          <p:cNvSpPr/>
          <p:nvPr/>
        </p:nvSpPr>
        <p:spPr>
          <a:xfrm>
            <a:off x="1984248" y="1751076"/>
            <a:ext cx="182880" cy="201168"/>
          </a:xfrm>
          <a:prstGeom prst="rightArrow">
            <a:avLst/>
          </a:prstGeom>
          <a:solidFill>
            <a:srgbClr val="9FB3D1"/>
          </a:solidFill>
          <a:ln/>
        </p:spPr>
      </p:sp>
      <p:sp>
        <p:nvSpPr>
          <p:cNvPr id="11" name="Shape 7"/>
          <p:cNvSpPr/>
          <p:nvPr/>
        </p:nvSpPr>
        <p:spPr>
          <a:xfrm>
            <a:off x="2212848" y="1325880"/>
            <a:ext cx="1389888" cy="1051560"/>
          </a:xfrm>
          <a:prstGeom prst="roundRect">
            <a:avLst>
              <a:gd name="adj" fmla="val 8696"/>
            </a:avLst>
          </a:prstGeom>
          <a:solidFill>
            <a:srgbClr val="14213D"/>
          </a:solidFill>
          <a:ln/>
        </p:spPr>
      </p:sp>
      <p:sp>
        <p:nvSpPr>
          <p:cNvPr id="12" name="Text 8"/>
          <p:cNvSpPr/>
          <p:nvPr/>
        </p:nvSpPr>
        <p:spPr>
          <a:xfrm>
            <a:off x="2322576" y="1417320"/>
            <a:ext cx="274320" cy="274320"/>
          </a:xfrm>
          <a:prstGeom prst="ellipse">
            <a:avLst/>
          </a:prstGeom>
          <a:solidFill>
            <a:srgbClr val="FFFFFF"/>
          </a:solid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2</a:t>
            </a:r>
            <a:endParaRPr lang="en-US" sz="1300" dirty="0"/>
          </a:p>
        </p:txBody>
      </p:sp>
      <p:sp>
        <p:nvSpPr>
          <p:cNvPr id="13" name="Text 9"/>
          <p:cNvSpPr/>
          <p:nvPr/>
        </p:nvSpPr>
        <p:spPr>
          <a:xfrm>
            <a:off x="2304288" y="1709928"/>
            <a:ext cx="1207008" cy="59436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Cambria" pitchFamily="34" charset="0"/>
                <a:ea typeface="Cambria" pitchFamily="34" charset="-122"/>
                <a:cs typeface="Cambria" pitchFamily="34" charset="-120"/>
              </a:rPr>
              <a:t>DNS</a:t>
            </a:r>
            <a:endParaRPr lang="en-US" sz="1400" dirty="0"/>
          </a:p>
        </p:txBody>
      </p:sp>
      <p:sp>
        <p:nvSpPr>
          <p:cNvPr id="14" name="Text 10"/>
          <p:cNvSpPr/>
          <p:nvPr/>
        </p:nvSpPr>
        <p:spPr>
          <a:xfrm>
            <a:off x="2212848" y="2450592"/>
            <a:ext cx="1389888" cy="548640"/>
          </a:xfrm>
          <a:prstGeom prst="rect">
            <a:avLst/>
          </a:prstGeom>
          <a:noFill/>
          <a:ln/>
        </p:spPr>
        <p:txBody>
          <a:bodyPr wrap="square" lIns="0" tIns="0" rIns="0" bIns="0" rtlCol="0" anchor="t"/>
          <a:lstStyle/>
          <a:p>
            <a:pPr algn="ctr" indent="0" marL="0">
              <a:buNone/>
            </a:pPr>
            <a:r>
              <a:rPr lang="en-US" sz="1200" dirty="0">
                <a:solidFill>
                  <a:srgbClr val="2C3547"/>
                </a:solidFill>
                <a:latin typeface="Calibri" pitchFamily="34" charset="0"/>
                <a:ea typeface="Calibri" pitchFamily="34" charset="-122"/>
                <a:cs typeface="Calibri" pitchFamily="34" charset="-120"/>
              </a:rPr>
              <a:t>the phone book: name → address</a:t>
            </a:r>
            <a:endParaRPr lang="en-US" sz="1200" dirty="0"/>
          </a:p>
        </p:txBody>
      </p:sp>
      <p:sp>
        <p:nvSpPr>
          <p:cNvPr id="15" name="Shape 11"/>
          <p:cNvSpPr/>
          <p:nvPr/>
        </p:nvSpPr>
        <p:spPr>
          <a:xfrm>
            <a:off x="3648456" y="1751076"/>
            <a:ext cx="182880" cy="201168"/>
          </a:xfrm>
          <a:prstGeom prst="rightArrow">
            <a:avLst/>
          </a:prstGeom>
          <a:solidFill>
            <a:srgbClr val="9FB3D1"/>
          </a:solidFill>
          <a:ln/>
        </p:spPr>
      </p:sp>
      <p:sp>
        <p:nvSpPr>
          <p:cNvPr id="16" name="Shape 12"/>
          <p:cNvSpPr/>
          <p:nvPr/>
        </p:nvSpPr>
        <p:spPr>
          <a:xfrm>
            <a:off x="3877056" y="1325880"/>
            <a:ext cx="1389888" cy="1051560"/>
          </a:xfrm>
          <a:prstGeom prst="roundRect">
            <a:avLst>
              <a:gd name="adj" fmla="val 8696"/>
            </a:avLst>
          </a:prstGeom>
          <a:solidFill>
            <a:srgbClr val="14213D"/>
          </a:solidFill>
          <a:ln/>
        </p:spPr>
      </p:sp>
      <p:sp>
        <p:nvSpPr>
          <p:cNvPr id="17" name="Text 13"/>
          <p:cNvSpPr/>
          <p:nvPr/>
        </p:nvSpPr>
        <p:spPr>
          <a:xfrm>
            <a:off x="3986784" y="1417320"/>
            <a:ext cx="274320" cy="274320"/>
          </a:xfrm>
          <a:prstGeom prst="ellipse">
            <a:avLst/>
          </a:prstGeom>
          <a:solidFill>
            <a:srgbClr val="FFFFFF"/>
          </a:solid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3</a:t>
            </a:r>
            <a:endParaRPr lang="en-US" sz="1300" dirty="0"/>
          </a:p>
        </p:txBody>
      </p:sp>
      <p:sp>
        <p:nvSpPr>
          <p:cNvPr id="18" name="Text 14"/>
          <p:cNvSpPr/>
          <p:nvPr/>
        </p:nvSpPr>
        <p:spPr>
          <a:xfrm>
            <a:off x="3968496" y="1709928"/>
            <a:ext cx="1207008" cy="59436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Cambria" pitchFamily="34" charset="0"/>
                <a:ea typeface="Cambria" pitchFamily="34" charset="-122"/>
                <a:cs typeface="Cambria" pitchFamily="34" charset="-120"/>
              </a:rPr>
              <a:t>IP address</a:t>
            </a:r>
            <a:endParaRPr lang="en-US" sz="1400" dirty="0"/>
          </a:p>
        </p:txBody>
      </p:sp>
      <p:sp>
        <p:nvSpPr>
          <p:cNvPr id="19" name="Text 15"/>
          <p:cNvSpPr/>
          <p:nvPr/>
        </p:nvSpPr>
        <p:spPr>
          <a:xfrm>
            <a:off x="3877056" y="2450592"/>
            <a:ext cx="1389888" cy="548640"/>
          </a:xfrm>
          <a:prstGeom prst="rect">
            <a:avLst/>
          </a:prstGeom>
          <a:noFill/>
          <a:ln/>
        </p:spPr>
        <p:txBody>
          <a:bodyPr wrap="square" lIns="0" tIns="0" rIns="0" bIns="0" rtlCol="0" anchor="t"/>
          <a:lstStyle/>
          <a:p>
            <a:pPr algn="ctr" indent="0" marL="0">
              <a:buNone/>
            </a:pPr>
            <a:r>
              <a:rPr lang="en-US" sz="1200" dirty="0">
                <a:solidFill>
                  <a:srgbClr val="2C3547"/>
                </a:solidFill>
                <a:latin typeface="Calibri" pitchFamily="34" charset="0"/>
                <a:ea typeface="Calibri" pitchFamily="34" charset="-122"/>
                <a:cs typeface="Calibri" pitchFamily="34" charset="-120"/>
              </a:rPr>
              <a:t>the exact home address (numbers)</a:t>
            </a:r>
            <a:endParaRPr lang="en-US" sz="1200" dirty="0"/>
          </a:p>
        </p:txBody>
      </p:sp>
      <p:sp>
        <p:nvSpPr>
          <p:cNvPr id="20" name="Shape 16"/>
          <p:cNvSpPr/>
          <p:nvPr/>
        </p:nvSpPr>
        <p:spPr>
          <a:xfrm>
            <a:off x="5312664" y="1751076"/>
            <a:ext cx="182880" cy="201168"/>
          </a:xfrm>
          <a:prstGeom prst="rightArrow">
            <a:avLst/>
          </a:prstGeom>
          <a:solidFill>
            <a:srgbClr val="9FB3D1"/>
          </a:solidFill>
          <a:ln/>
        </p:spPr>
      </p:sp>
      <p:sp>
        <p:nvSpPr>
          <p:cNvPr id="21" name="Shape 17"/>
          <p:cNvSpPr/>
          <p:nvPr/>
        </p:nvSpPr>
        <p:spPr>
          <a:xfrm>
            <a:off x="5541264" y="1325880"/>
            <a:ext cx="1389888" cy="1051560"/>
          </a:xfrm>
          <a:prstGeom prst="roundRect">
            <a:avLst>
              <a:gd name="adj" fmla="val 8696"/>
            </a:avLst>
          </a:prstGeom>
          <a:solidFill>
            <a:srgbClr val="14213D"/>
          </a:solidFill>
          <a:ln/>
        </p:spPr>
      </p:sp>
      <p:sp>
        <p:nvSpPr>
          <p:cNvPr id="22" name="Text 18"/>
          <p:cNvSpPr/>
          <p:nvPr/>
        </p:nvSpPr>
        <p:spPr>
          <a:xfrm>
            <a:off x="5650992" y="1417320"/>
            <a:ext cx="274320" cy="274320"/>
          </a:xfrm>
          <a:prstGeom prst="ellipse">
            <a:avLst/>
          </a:prstGeom>
          <a:solidFill>
            <a:srgbClr val="FFFFFF"/>
          </a:solid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4</a:t>
            </a:r>
            <a:endParaRPr lang="en-US" sz="1300" dirty="0"/>
          </a:p>
        </p:txBody>
      </p:sp>
      <p:sp>
        <p:nvSpPr>
          <p:cNvPr id="23" name="Text 19"/>
          <p:cNvSpPr/>
          <p:nvPr/>
        </p:nvSpPr>
        <p:spPr>
          <a:xfrm>
            <a:off x="5632704" y="1709928"/>
            <a:ext cx="1207008" cy="59436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Cambria" pitchFamily="34" charset="0"/>
                <a:ea typeface="Cambria" pitchFamily="34" charset="-122"/>
                <a:cs typeface="Cambria" pitchFamily="34" charset="-120"/>
              </a:rPr>
              <a:t>Server</a:t>
            </a:r>
            <a:endParaRPr lang="en-US" sz="1400" dirty="0"/>
          </a:p>
        </p:txBody>
      </p:sp>
      <p:sp>
        <p:nvSpPr>
          <p:cNvPr id="24" name="Text 20"/>
          <p:cNvSpPr/>
          <p:nvPr/>
        </p:nvSpPr>
        <p:spPr>
          <a:xfrm>
            <a:off x="5541264" y="2450592"/>
            <a:ext cx="1389888" cy="548640"/>
          </a:xfrm>
          <a:prstGeom prst="rect">
            <a:avLst/>
          </a:prstGeom>
          <a:noFill/>
          <a:ln/>
        </p:spPr>
        <p:txBody>
          <a:bodyPr wrap="square" lIns="0" tIns="0" rIns="0" bIns="0" rtlCol="0" anchor="t"/>
          <a:lstStyle/>
          <a:p>
            <a:pPr algn="ctr" indent="0" marL="0">
              <a:buNone/>
            </a:pPr>
            <a:r>
              <a:rPr lang="en-US" sz="1200" dirty="0">
                <a:solidFill>
                  <a:srgbClr val="2C3547"/>
                </a:solidFill>
                <a:latin typeface="Calibri" pitchFamily="34" charset="0"/>
                <a:ea typeface="Calibri" pitchFamily="34" charset="-122"/>
                <a:cs typeface="Calibri" pitchFamily="34" charset="-120"/>
              </a:rPr>
              <a:t>the warehouse finds the goods</a:t>
            </a:r>
            <a:endParaRPr lang="en-US" sz="1200" dirty="0"/>
          </a:p>
        </p:txBody>
      </p:sp>
      <p:sp>
        <p:nvSpPr>
          <p:cNvPr id="25" name="Shape 21"/>
          <p:cNvSpPr/>
          <p:nvPr/>
        </p:nvSpPr>
        <p:spPr>
          <a:xfrm>
            <a:off x="6976872" y="1751076"/>
            <a:ext cx="182880" cy="201168"/>
          </a:xfrm>
          <a:prstGeom prst="rightArrow">
            <a:avLst/>
          </a:prstGeom>
          <a:solidFill>
            <a:srgbClr val="9FB3D1"/>
          </a:solidFill>
          <a:ln/>
        </p:spPr>
      </p:sp>
      <p:sp>
        <p:nvSpPr>
          <p:cNvPr id="26" name="Shape 22"/>
          <p:cNvSpPr/>
          <p:nvPr/>
        </p:nvSpPr>
        <p:spPr>
          <a:xfrm>
            <a:off x="7205472" y="1325880"/>
            <a:ext cx="1389888" cy="1051560"/>
          </a:xfrm>
          <a:prstGeom prst="roundRect">
            <a:avLst>
              <a:gd name="adj" fmla="val 8696"/>
            </a:avLst>
          </a:prstGeom>
          <a:solidFill>
            <a:srgbClr val="990011"/>
          </a:solidFill>
          <a:ln/>
        </p:spPr>
      </p:sp>
      <p:sp>
        <p:nvSpPr>
          <p:cNvPr id="27" name="Text 23"/>
          <p:cNvSpPr/>
          <p:nvPr/>
        </p:nvSpPr>
        <p:spPr>
          <a:xfrm>
            <a:off x="7315200" y="1417320"/>
            <a:ext cx="274320" cy="274320"/>
          </a:xfrm>
          <a:prstGeom prst="ellipse">
            <a:avLst/>
          </a:prstGeom>
          <a:solidFill>
            <a:srgbClr val="FFFFFF"/>
          </a:solid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5</a:t>
            </a:r>
            <a:endParaRPr lang="en-US" sz="1300" dirty="0"/>
          </a:p>
        </p:txBody>
      </p:sp>
      <p:sp>
        <p:nvSpPr>
          <p:cNvPr id="28" name="Text 24"/>
          <p:cNvSpPr/>
          <p:nvPr/>
        </p:nvSpPr>
        <p:spPr>
          <a:xfrm>
            <a:off x="7296912" y="1709928"/>
            <a:ext cx="1207008" cy="59436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Cambria" pitchFamily="34" charset="0"/>
                <a:ea typeface="Cambria" pitchFamily="34" charset="-122"/>
                <a:cs typeface="Cambria" pitchFamily="34" charset="-120"/>
              </a:rPr>
              <a:t>Response</a:t>
            </a:r>
            <a:endParaRPr lang="en-US" sz="1400" dirty="0"/>
          </a:p>
        </p:txBody>
      </p:sp>
      <p:sp>
        <p:nvSpPr>
          <p:cNvPr id="29" name="Text 25"/>
          <p:cNvSpPr/>
          <p:nvPr/>
        </p:nvSpPr>
        <p:spPr>
          <a:xfrm>
            <a:off x="7205472" y="2450592"/>
            <a:ext cx="1389888" cy="548640"/>
          </a:xfrm>
          <a:prstGeom prst="rect">
            <a:avLst/>
          </a:prstGeom>
          <a:noFill/>
          <a:ln/>
        </p:spPr>
        <p:txBody>
          <a:bodyPr wrap="square" lIns="0" tIns="0" rIns="0" bIns="0" rtlCol="0" anchor="t"/>
          <a:lstStyle/>
          <a:p>
            <a:pPr algn="ctr" indent="0" marL="0">
              <a:buNone/>
            </a:pPr>
            <a:r>
              <a:rPr lang="en-US" sz="1200" dirty="0">
                <a:solidFill>
                  <a:srgbClr val="2C3547"/>
                </a:solidFill>
                <a:latin typeface="Calibri" pitchFamily="34" charset="0"/>
                <a:ea typeface="Calibri" pitchFamily="34" charset="-122"/>
                <a:cs typeface="Calibri" pitchFamily="34" charset="-120"/>
              </a:rPr>
              <a:t>the parcel comes back: HTML, CSS, images</a:t>
            </a:r>
            <a:endParaRPr lang="en-US" sz="1200" dirty="0"/>
          </a:p>
        </p:txBody>
      </p:sp>
      <p:sp>
        <p:nvSpPr>
          <p:cNvPr id="30" name="Shape 26"/>
          <p:cNvSpPr/>
          <p:nvPr/>
        </p:nvSpPr>
        <p:spPr>
          <a:xfrm>
            <a:off x="548640" y="3337560"/>
            <a:ext cx="8046720" cy="548640"/>
          </a:xfrm>
          <a:prstGeom prst="roundRect">
            <a:avLst>
              <a:gd name="adj" fmla="val 13333"/>
            </a:avLst>
          </a:prstGeom>
          <a:solidFill>
            <a:srgbClr val="14213D"/>
          </a:solidFill>
          <a:ln/>
        </p:spPr>
      </p:sp>
      <p:sp>
        <p:nvSpPr>
          <p:cNvPr id="31" name="Text 27"/>
          <p:cNvSpPr/>
          <p:nvPr/>
        </p:nvSpPr>
        <p:spPr>
          <a:xfrm>
            <a:off x="749808" y="3337560"/>
            <a:ext cx="7644384"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The internet is not magic. It is computers mailing text to each other.</a:t>
            </a:r>
            <a:endParaRPr lang="en-US" sz="1500" dirty="0"/>
          </a:p>
        </p:txBody>
      </p:sp>
      <p:sp>
        <p:nvSpPr>
          <p:cNvPr id="32" name="Shape 28"/>
          <p:cNvSpPr/>
          <p:nvPr/>
        </p:nvSpPr>
        <p:spPr>
          <a:xfrm>
            <a:off x="548640" y="4069080"/>
            <a:ext cx="8046720" cy="548640"/>
          </a:xfrm>
          <a:prstGeom prst="roundRect">
            <a:avLst>
              <a:gd name="adj" fmla="val 13333"/>
            </a:avLst>
          </a:prstGeom>
          <a:solidFill>
            <a:srgbClr val="F5EBD8"/>
          </a:solidFill>
          <a:ln/>
        </p:spPr>
      </p:sp>
      <p:sp>
        <p:nvSpPr>
          <p:cNvPr id="33" name="Text 29"/>
          <p:cNvSpPr/>
          <p:nvPr/>
        </p:nvSpPr>
        <p:spPr>
          <a:xfrm>
            <a:off x="749808" y="4069080"/>
            <a:ext cx="7644384" cy="548640"/>
          </a:xfrm>
          <a:prstGeom prst="rect">
            <a:avLst/>
          </a:prstGeom>
          <a:noFill/>
          <a:ln/>
        </p:spPr>
        <p:txBody>
          <a:bodyPr wrap="square" lIns="0" tIns="0" rIns="0" bIns="0" rtlCol="0" anchor="ctr"/>
          <a:lstStyle/>
          <a:p>
            <a:pPr indent="0" marL="0">
              <a:buNone/>
            </a:pPr>
            <a:r>
              <a:rPr lang="en-US" sz="1250" b="1" dirty="0">
                <a:solidFill>
                  <a:srgbClr val="9A701F"/>
                </a:solidFill>
                <a:latin typeface="Calibri" pitchFamily="34" charset="0"/>
                <a:ea typeface="Calibri" pitchFamily="34" charset="-122"/>
                <a:cs typeface="Calibri" pitchFamily="34" charset="-120"/>
              </a:rPr>
              <a:t>HTTP request = the letter.  </a:t>
            </a:r>
            <a:pPr indent="0" marL="0">
              <a:buNone/>
            </a:pPr>
            <a:r>
              <a:rPr lang="en-US" sz="1250" dirty="0">
                <a:solidFill>
                  <a:srgbClr val="2C3547"/>
                </a:solidFill>
                <a:latin typeface="Calibri" pitchFamily="34" charset="0"/>
                <a:ea typeface="Calibri" pitchFamily="34" charset="-122"/>
                <a:cs typeface="Calibri" pitchFamily="34" charset="-120"/>
              </a:rPr>
              <a:t>HTTP response = the parcel. Your browser opens the parcel and builds the page.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box-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758952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A page is many parcels</a:t>
            </a:r>
            <a:endParaRPr lang="en-US" sz="2700" dirty="0"/>
          </a:p>
        </p:txBody>
      </p:sp>
      <p:sp>
        <p:nvSpPr>
          <p:cNvPr id="6" name="Text 2"/>
          <p:cNvSpPr/>
          <p:nvPr/>
        </p:nvSpPr>
        <p:spPr>
          <a:xfrm>
            <a:off x="1665122" y="1188720"/>
            <a:ext cx="1216152" cy="384048"/>
          </a:xfrm>
          <a:prstGeom prst="roundRect">
            <a:avLst>
              <a:gd name="adj" fmla="val 14286"/>
            </a:avLst>
          </a:prstGeom>
          <a:solidFill>
            <a:srgbClr val="14213D"/>
          </a:solidFill>
          <a:ln/>
        </p:spPr>
        <p:txBody>
          <a:bodyPr wrap="square" lIns="50800" tIns="50800" rIns="50800" bIns="5080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index.html</a:t>
            </a:r>
            <a:endParaRPr lang="en-US" sz="1200" dirty="0"/>
          </a:p>
        </p:txBody>
      </p:sp>
      <p:sp>
        <p:nvSpPr>
          <p:cNvPr id="7" name="Text 3"/>
          <p:cNvSpPr/>
          <p:nvPr/>
        </p:nvSpPr>
        <p:spPr>
          <a:xfrm>
            <a:off x="3018434" y="1188720"/>
            <a:ext cx="1126541" cy="384048"/>
          </a:xfrm>
          <a:prstGeom prst="roundRect">
            <a:avLst>
              <a:gd name="adj" fmla="val 14286"/>
            </a:avLst>
          </a:prstGeom>
          <a:solidFill>
            <a:srgbClr val="FFF3F4"/>
          </a:solidFill>
          <a:ln w="15875">
            <a:solidFill>
              <a:srgbClr val="B9C2CF"/>
            </a:solidFill>
          </a:ln>
        </p:spPr>
        <p:txBody>
          <a:bodyPr wrap="square" lIns="50800" tIns="50800" rIns="50800" bIns="50800" rtlCol="0" anchor="ctr"/>
          <a:lstStyle/>
          <a:p>
            <a:pPr algn="ctr" indent="0" marL="0">
              <a:buNone/>
            </a:pPr>
            <a:r>
              <a:rPr lang="en-US" sz="1200" b="1" dirty="0">
                <a:solidFill>
                  <a:srgbClr val="990011"/>
                </a:solidFill>
                <a:latin typeface="Courier New" pitchFamily="34" charset="0"/>
                <a:ea typeface="Courier New" pitchFamily="34" charset="-122"/>
                <a:cs typeface="Courier New" pitchFamily="34" charset="-120"/>
              </a:rPr>
              <a:t>style.css</a:t>
            </a:r>
            <a:endParaRPr lang="en-US" sz="1200" dirty="0"/>
          </a:p>
        </p:txBody>
      </p:sp>
      <p:sp>
        <p:nvSpPr>
          <p:cNvPr id="8" name="Text 4"/>
          <p:cNvSpPr/>
          <p:nvPr/>
        </p:nvSpPr>
        <p:spPr>
          <a:xfrm>
            <a:off x="4282135" y="1188720"/>
            <a:ext cx="2022653" cy="384048"/>
          </a:xfrm>
          <a:prstGeom prst="roundRect">
            <a:avLst>
              <a:gd name="adj" fmla="val 14286"/>
            </a:avLst>
          </a:prstGeom>
          <a:solidFill>
            <a:srgbClr val="F9F6F5"/>
          </a:solidFill>
          <a:ln w="15875">
            <a:solidFill>
              <a:srgbClr val="B9C2CF"/>
            </a:solidFill>
          </a:ln>
        </p:spPr>
        <p:txBody>
          <a:bodyPr wrap="square" lIns="50800" tIns="50800" rIns="50800" bIns="50800" rtlCol="0" anchor="ctr"/>
          <a:lstStyle/>
          <a:p>
            <a:pPr algn="ctr" indent="0" marL="0">
              <a:buNone/>
            </a:pPr>
            <a:r>
              <a:rPr lang="en-US" sz="1200" b="1" dirty="0">
                <a:solidFill>
                  <a:srgbClr val="14213D"/>
                </a:solidFill>
                <a:latin typeface="Courier New" pitchFamily="34" charset="0"/>
                <a:ea typeface="Courier New" pitchFamily="34" charset="-122"/>
                <a:cs typeface="Courier New" pitchFamily="34" charset="-120"/>
              </a:rPr>
              <a:t>logo-momo-house.svg</a:t>
            </a:r>
            <a:endParaRPr lang="en-US" sz="1200" dirty="0"/>
          </a:p>
        </p:txBody>
      </p:sp>
      <p:sp>
        <p:nvSpPr>
          <p:cNvPr id="9" name="Text 5"/>
          <p:cNvSpPr/>
          <p:nvPr/>
        </p:nvSpPr>
        <p:spPr>
          <a:xfrm>
            <a:off x="6441948" y="1188720"/>
            <a:ext cx="1036930" cy="384048"/>
          </a:xfrm>
          <a:prstGeom prst="roundRect">
            <a:avLst>
              <a:gd name="adj" fmla="val 14286"/>
            </a:avLst>
          </a:prstGeom>
          <a:solidFill>
            <a:srgbClr val="F9F6F5"/>
          </a:solidFill>
          <a:ln w="15875">
            <a:solidFill>
              <a:srgbClr val="B9C2CF"/>
            </a:solidFill>
          </a:ln>
        </p:spPr>
        <p:txBody>
          <a:bodyPr wrap="square" lIns="50800" tIns="50800" rIns="50800" bIns="50800" rtlCol="0" anchor="ctr"/>
          <a:lstStyle/>
          <a:p>
            <a:pPr algn="ctr" indent="0" marL="0">
              <a:buNone/>
            </a:pPr>
            <a:r>
              <a:rPr lang="en-US" sz="1200" b="1" dirty="0">
                <a:solidFill>
                  <a:srgbClr val="14213D"/>
                </a:solidFill>
                <a:latin typeface="Courier New" pitchFamily="34" charset="0"/>
                <a:ea typeface="Courier New" pitchFamily="34" charset="-122"/>
                <a:cs typeface="Courier New" pitchFamily="34" charset="-120"/>
              </a:rPr>
              <a:t>momo.svg</a:t>
            </a:r>
            <a:endParaRPr lang="en-US" sz="1200" dirty="0"/>
          </a:p>
        </p:txBody>
      </p:sp>
      <p:sp>
        <p:nvSpPr>
          <p:cNvPr id="10" name="Text 6"/>
          <p:cNvSpPr/>
          <p:nvPr/>
        </p:nvSpPr>
        <p:spPr>
          <a:xfrm>
            <a:off x="2296973" y="1664208"/>
            <a:ext cx="1574597" cy="384048"/>
          </a:xfrm>
          <a:prstGeom prst="roundRect">
            <a:avLst>
              <a:gd name="adj" fmla="val 14286"/>
            </a:avLst>
          </a:prstGeom>
          <a:solidFill>
            <a:srgbClr val="F9F6F5"/>
          </a:solidFill>
          <a:ln w="15875">
            <a:solidFill>
              <a:srgbClr val="B9C2CF"/>
            </a:solidFill>
          </a:ln>
        </p:spPr>
        <p:txBody>
          <a:bodyPr wrap="square" lIns="50800" tIns="50800" rIns="50800" bIns="50800" rtlCol="0" anchor="ctr"/>
          <a:lstStyle/>
          <a:p>
            <a:pPr algn="ctr" indent="0" marL="0">
              <a:buNone/>
            </a:pPr>
            <a:r>
              <a:rPr lang="en-US" sz="1200" b="1" dirty="0">
                <a:solidFill>
                  <a:srgbClr val="14213D"/>
                </a:solidFill>
                <a:latin typeface="Courier New" pitchFamily="34" charset="0"/>
                <a:ea typeface="Courier New" pitchFamily="34" charset="-122"/>
                <a:cs typeface="Courier New" pitchFamily="34" charset="-120"/>
              </a:rPr>
              <a:t>momo-plate.svg</a:t>
            </a:r>
            <a:endParaRPr lang="en-US" sz="1200" dirty="0"/>
          </a:p>
        </p:txBody>
      </p:sp>
      <p:sp>
        <p:nvSpPr>
          <p:cNvPr id="11" name="Text 7"/>
          <p:cNvSpPr/>
          <p:nvPr/>
        </p:nvSpPr>
        <p:spPr>
          <a:xfrm>
            <a:off x="4008730" y="1664208"/>
            <a:ext cx="1216152" cy="384048"/>
          </a:xfrm>
          <a:prstGeom prst="roundRect">
            <a:avLst>
              <a:gd name="adj" fmla="val 14286"/>
            </a:avLst>
          </a:prstGeom>
          <a:solidFill>
            <a:srgbClr val="F9F6F5"/>
          </a:solidFill>
          <a:ln w="15875">
            <a:solidFill>
              <a:srgbClr val="B9C2CF"/>
            </a:solidFill>
          </a:ln>
        </p:spPr>
        <p:txBody>
          <a:bodyPr wrap="square" lIns="50800" tIns="50800" rIns="50800" bIns="50800" rtlCol="0" anchor="ctr"/>
          <a:lstStyle/>
          <a:p>
            <a:pPr algn="ctr" indent="0" marL="0">
              <a:buNone/>
            </a:pPr>
            <a:r>
              <a:rPr lang="en-US" sz="1200" b="1" dirty="0">
                <a:solidFill>
                  <a:srgbClr val="14213D"/>
                </a:solidFill>
                <a:latin typeface="Courier New" pitchFamily="34" charset="0"/>
                <a:ea typeface="Courier New" pitchFamily="34" charset="-122"/>
                <a:cs typeface="Courier New" pitchFamily="34" charset="-120"/>
              </a:rPr>
              <a:t>thamel.svg</a:t>
            </a:r>
            <a:endParaRPr lang="en-US" sz="1200" dirty="0"/>
          </a:p>
        </p:txBody>
      </p:sp>
      <p:sp>
        <p:nvSpPr>
          <p:cNvPr id="12" name="Text 8"/>
          <p:cNvSpPr/>
          <p:nvPr/>
        </p:nvSpPr>
        <p:spPr>
          <a:xfrm>
            <a:off x="5362042" y="1664208"/>
            <a:ext cx="1484986" cy="384048"/>
          </a:xfrm>
          <a:prstGeom prst="roundRect">
            <a:avLst>
              <a:gd name="adj" fmla="val 14286"/>
            </a:avLst>
          </a:prstGeom>
          <a:solidFill>
            <a:srgbClr val="F9F6F5"/>
          </a:solidFill>
          <a:ln w="15875">
            <a:solidFill>
              <a:srgbClr val="B9C2CF"/>
            </a:solidFill>
          </a:ln>
        </p:spPr>
        <p:txBody>
          <a:bodyPr wrap="square" lIns="50800" tIns="50800" rIns="50800" bIns="50800" rtlCol="0" anchor="ctr"/>
          <a:lstStyle/>
          <a:p>
            <a:pPr algn="ctr" indent="0" marL="0">
              <a:buNone/>
            </a:pPr>
            <a:r>
              <a:rPr lang="en-US" sz="1200" b="1" dirty="0">
                <a:solidFill>
                  <a:srgbClr val="14213D"/>
                </a:solidFill>
                <a:latin typeface="Courier New" pitchFamily="34" charset="0"/>
                <a:ea typeface="Courier New" pitchFamily="34" charset="-122"/>
                <a:cs typeface="Courier New" pitchFamily="34" charset="-120"/>
              </a:rPr>
              <a:t>swayambhu.svg</a:t>
            </a:r>
            <a:endParaRPr lang="en-US" sz="1200" dirty="0"/>
          </a:p>
        </p:txBody>
      </p:sp>
      <p:sp>
        <p:nvSpPr>
          <p:cNvPr id="13" name="Text 9"/>
          <p:cNvSpPr/>
          <p:nvPr/>
        </p:nvSpPr>
        <p:spPr>
          <a:xfrm>
            <a:off x="548640" y="2130552"/>
            <a:ext cx="8046720" cy="274320"/>
          </a:xfrm>
          <a:prstGeom prst="rect">
            <a:avLst/>
          </a:prstGeom>
          <a:noFill/>
          <a:ln/>
        </p:spPr>
        <p:txBody>
          <a:bodyPr wrap="square" lIns="0" tIns="0" rIns="0" bIns="0" rtlCol="0" anchor="ctr"/>
          <a:lstStyle/>
          <a:p>
            <a:pPr algn="ctr" indent="0" marL="0">
              <a:buNone/>
            </a:pPr>
            <a:r>
              <a:rPr lang="en-US" sz="1250" b="1" dirty="0">
                <a:solidFill>
                  <a:srgbClr val="14213D"/>
                </a:solidFill>
                <a:latin typeface="Calibri" pitchFamily="34" charset="0"/>
                <a:ea typeface="Calibri" pitchFamily="34" charset="-122"/>
                <a:cs typeface="Calibri" pitchFamily="34" charset="-120"/>
              </a:rPr>
              <a:t>1 HTML  +  1 CSS  +  5 SVG  =  7 parcels for ONE page  (you count them in D1-01)</a:t>
            </a:r>
            <a:endParaRPr lang="en-US" sz="1250" dirty="0"/>
          </a:p>
        </p:txBody>
      </p:sp>
      <p:sp>
        <p:nvSpPr>
          <p:cNvPr id="14" name="Shape 10"/>
          <p:cNvSpPr/>
          <p:nvPr/>
        </p:nvSpPr>
        <p:spPr>
          <a:xfrm>
            <a:off x="548640" y="2514600"/>
            <a:ext cx="2560320" cy="1325880"/>
          </a:xfrm>
          <a:prstGeom prst="roundRect">
            <a:avLst>
              <a:gd name="adj" fmla="val 5517"/>
            </a:avLst>
          </a:prstGeom>
          <a:solidFill>
            <a:srgbClr val="F9F6F5"/>
          </a:solidFill>
          <a:ln w="9525">
            <a:solidFill>
              <a:srgbClr val="E8E2E1"/>
            </a:solidFill>
            <a:prstDash val="solid"/>
          </a:ln>
        </p:spPr>
      </p:sp>
      <p:sp>
        <p:nvSpPr>
          <p:cNvPr id="15" name="Text 11"/>
          <p:cNvSpPr/>
          <p:nvPr/>
        </p:nvSpPr>
        <p:spPr>
          <a:xfrm>
            <a:off x="731520" y="2642616"/>
            <a:ext cx="2194560" cy="32004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HTML</a:t>
            </a:r>
            <a:endParaRPr lang="en-US" sz="1600" dirty="0"/>
          </a:p>
        </p:txBody>
      </p:sp>
      <p:sp>
        <p:nvSpPr>
          <p:cNvPr id="16" name="Text 12"/>
          <p:cNvSpPr/>
          <p:nvPr/>
        </p:nvSpPr>
        <p:spPr>
          <a:xfrm>
            <a:off x="731520" y="3017520"/>
            <a:ext cx="2194560" cy="68580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The ingredients and the menu structure. WHAT is on the page.</a:t>
            </a:r>
            <a:endParaRPr lang="en-US" sz="1250" dirty="0"/>
          </a:p>
        </p:txBody>
      </p:sp>
      <p:sp>
        <p:nvSpPr>
          <p:cNvPr id="17" name="Shape 13"/>
          <p:cNvSpPr/>
          <p:nvPr/>
        </p:nvSpPr>
        <p:spPr>
          <a:xfrm>
            <a:off x="3291840" y="2514600"/>
            <a:ext cx="2560320" cy="1325880"/>
          </a:xfrm>
          <a:prstGeom prst="roundRect">
            <a:avLst>
              <a:gd name="adj" fmla="val 5517"/>
            </a:avLst>
          </a:prstGeom>
          <a:solidFill>
            <a:srgbClr val="FFF3F4"/>
          </a:solidFill>
          <a:ln/>
        </p:spPr>
      </p:sp>
      <p:sp>
        <p:nvSpPr>
          <p:cNvPr id="18" name="Text 14"/>
          <p:cNvSpPr/>
          <p:nvPr/>
        </p:nvSpPr>
        <p:spPr>
          <a:xfrm>
            <a:off x="3474720" y="2642616"/>
            <a:ext cx="2194560" cy="320040"/>
          </a:xfrm>
          <a:prstGeom prst="rect">
            <a:avLst/>
          </a:prstGeom>
          <a:noFill/>
          <a:ln/>
        </p:spPr>
        <p:txBody>
          <a:bodyPr wrap="square" lIns="0" tIns="0" rIns="0" bIns="0" rtlCol="0" anchor="ctr"/>
          <a:lstStyle/>
          <a:p>
            <a:pPr indent="0" marL="0">
              <a:buNone/>
            </a:pPr>
            <a:r>
              <a:rPr lang="en-US" sz="1600" b="1" dirty="0">
                <a:solidFill>
                  <a:srgbClr val="990011"/>
                </a:solidFill>
                <a:latin typeface="Cambria" pitchFamily="34" charset="0"/>
                <a:ea typeface="Cambria" pitchFamily="34" charset="-122"/>
                <a:cs typeface="Cambria" pitchFamily="34" charset="-120"/>
              </a:rPr>
              <a:t>CSS</a:t>
            </a:r>
            <a:endParaRPr lang="en-US" sz="1600" dirty="0"/>
          </a:p>
        </p:txBody>
      </p:sp>
      <p:sp>
        <p:nvSpPr>
          <p:cNvPr id="19" name="Text 15"/>
          <p:cNvSpPr/>
          <p:nvPr/>
        </p:nvSpPr>
        <p:spPr>
          <a:xfrm>
            <a:off x="3474720" y="3017520"/>
            <a:ext cx="2194560" cy="68580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The plating and the decor. How it LOOKS. (Day 2)</a:t>
            </a:r>
            <a:endParaRPr lang="en-US" sz="1250" dirty="0"/>
          </a:p>
        </p:txBody>
      </p:sp>
      <p:sp>
        <p:nvSpPr>
          <p:cNvPr id="20" name="Shape 16"/>
          <p:cNvSpPr/>
          <p:nvPr/>
        </p:nvSpPr>
        <p:spPr>
          <a:xfrm>
            <a:off x="6035040" y="2514600"/>
            <a:ext cx="2560320" cy="1325880"/>
          </a:xfrm>
          <a:prstGeom prst="roundRect">
            <a:avLst>
              <a:gd name="adj" fmla="val 5517"/>
            </a:avLst>
          </a:prstGeom>
          <a:solidFill>
            <a:srgbClr val="F9F6F5"/>
          </a:solidFill>
          <a:ln w="9525">
            <a:solidFill>
              <a:srgbClr val="E8E2E1"/>
            </a:solidFill>
            <a:prstDash val="solid"/>
          </a:ln>
        </p:spPr>
      </p:sp>
      <p:sp>
        <p:nvSpPr>
          <p:cNvPr id="21" name="Text 17"/>
          <p:cNvSpPr/>
          <p:nvPr/>
        </p:nvSpPr>
        <p:spPr>
          <a:xfrm>
            <a:off x="6217920" y="2642616"/>
            <a:ext cx="2194560" cy="32004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JavaScript</a:t>
            </a:r>
            <a:endParaRPr lang="en-US" sz="1600" dirty="0"/>
          </a:p>
        </p:txBody>
      </p:sp>
      <p:sp>
        <p:nvSpPr>
          <p:cNvPr id="22" name="Text 18"/>
          <p:cNvSpPr/>
          <p:nvPr/>
        </p:nvSpPr>
        <p:spPr>
          <a:xfrm>
            <a:off x="6217920" y="3017520"/>
            <a:ext cx="2194560" cy="68580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The waiter. What HAPPENS when you click. (Later.)</a:t>
            </a:r>
            <a:endParaRPr lang="en-US" sz="1250" dirty="0"/>
          </a:p>
        </p:txBody>
      </p:sp>
      <p:sp>
        <p:nvSpPr>
          <p:cNvPr id="23" name="Shape 19"/>
          <p:cNvSpPr/>
          <p:nvPr/>
        </p:nvSpPr>
        <p:spPr>
          <a:xfrm>
            <a:off x="548640" y="4023360"/>
            <a:ext cx="8046720" cy="502920"/>
          </a:xfrm>
          <a:prstGeom prst="roundRect">
            <a:avLst>
              <a:gd name="adj" fmla="val 14545"/>
            </a:avLst>
          </a:prstGeom>
          <a:solidFill>
            <a:srgbClr val="F5EBD8"/>
          </a:solidFill>
          <a:ln/>
        </p:spPr>
      </p:sp>
      <p:sp>
        <p:nvSpPr>
          <p:cNvPr id="24" name="Text 20"/>
          <p:cNvSpPr/>
          <p:nvPr/>
        </p:nvSpPr>
        <p:spPr>
          <a:xfrm>
            <a:off x="749808" y="4023360"/>
            <a:ext cx="7644384" cy="502920"/>
          </a:xfrm>
          <a:prstGeom prst="rect">
            <a:avLst/>
          </a:prstGeom>
          <a:noFill/>
          <a:ln/>
        </p:spPr>
        <p:txBody>
          <a:bodyPr wrap="square" lIns="0" tIns="0" rIns="0" bIns="0" rtlCol="0" anchor="ctr"/>
          <a:lstStyle/>
          <a:p>
            <a:pPr indent="0" marL="0">
              <a:buNone/>
            </a:pPr>
            <a:r>
              <a:rPr lang="en-US" sz="1250" b="1" dirty="0">
                <a:solidFill>
                  <a:srgbClr val="9A701F"/>
                </a:solidFill>
                <a:latin typeface="Calibri" pitchFamily="34" charset="0"/>
                <a:ea typeface="Calibri" pitchFamily="34" charset="-122"/>
                <a:cs typeface="Calibri" pitchFamily="34" charset="-120"/>
              </a:rPr>
              <a:t>The restaurant:  </a:t>
            </a:r>
            <a:pPr indent="0" marL="0">
              <a:buNone/>
            </a:pPr>
            <a:r>
              <a:rPr lang="en-US" sz="1250" dirty="0">
                <a:solidFill>
                  <a:srgbClr val="2C3547"/>
                </a:solidFill>
                <a:latin typeface="Calibri" pitchFamily="34" charset="0"/>
                <a:ea typeface="Calibri" pitchFamily="34" charset="-122"/>
                <a:cs typeface="Calibri" pitchFamily="34" charset="-120"/>
              </a:rPr>
              <a:t>HTML = structure, CSS = style, JS = behaviour. Today is all HTML.</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search-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612648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D1-01  ·  See the letters arrive</a:t>
            </a:r>
            <a:endParaRPr lang="en-US" sz="2700" dirty="0"/>
          </a:p>
        </p:txBody>
      </p:sp>
      <p:sp>
        <p:nvSpPr>
          <p:cNvPr id="5" name="Text 2"/>
          <p:cNvSpPr/>
          <p:nvPr/>
        </p:nvSpPr>
        <p:spPr>
          <a:xfrm>
            <a:off x="7315200" y="402336"/>
            <a:ext cx="1417320" cy="310896"/>
          </a:xfrm>
          <a:prstGeom prst="roundRect">
            <a:avLst>
              <a:gd name="adj" fmla="val 50000"/>
            </a:avLst>
          </a:prstGeom>
          <a:solidFill>
            <a:srgbClr val="F5EBD8"/>
          </a:solidFill>
          <a:ln/>
        </p:spPr>
        <p:txBody>
          <a:bodyPr wrap="square" lIns="0" tIns="0" rIns="0" bIns="0" rtlCol="0" anchor="ctr"/>
          <a:lstStyle/>
          <a:p>
            <a:pPr algn="ctr" indent="0" marL="0">
              <a:buNone/>
            </a:pPr>
            <a:r>
              <a:rPr lang="en-US" sz="1100" b="1" spc="200" kern="0" dirty="0">
                <a:solidFill>
                  <a:srgbClr val="9A701F"/>
                </a:solidFill>
                <a:latin typeface="Calibri" pitchFamily="34" charset="0"/>
                <a:ea typeface="Calibri" pitchFamily="34" charset="-122"/>
                <a:cs typeface="Calibri" pitchFamily="34" charset="-120"/>
              </a:rPr>
              <a:t>ACTIVITY</a:t>
            </a:r>
            <a:endParaRPr lang="en-US" sz="1100" dirty="0"/>
          </a:p>
        </p:txBody>
      </p:sp>
      <p:sp>
        <p:nvSpPr>
          <p:cNvPr id="7" name="Text 3"/>
          <p:cNvSpPr/>
          <p:nvPr/>
        </p:nvSpPr>
        <p:spPr>
          <a:xfrm>
            <a:off x="548640" y="1078992"/>
            <a:ext cx="8046720" cy="274320"/>
          </a:xfrm>
          <a:prstGeom prst="rect">
            <a:avLst/>
          </a:prstGeom>
          <a:noFill/>
          <a:ln/>
        </p:spPr>
        <p:txBody>
          <a:bodyPr wrap="square" lIns="0" tIns="0" rIns="0" bIns="0" rtlCol="0" anchor="ctr"/>
          <a:lstStyle/>
          <a:p>
            <a:pPr indent="0" marL="0">
              <a:buNone/>
            </a:pPr>
            <a:r>
              <a:rPr lang="en-US" sz="1300" b="1" dirty="0">
                <a:solidFill>
                  <a:srgbClr val="990011"/>
                </a:solidFill>
                <a:latin typeface="Calibri" pitchFamily="34" charset="0"/>
                <a:ea typeface="Calibri" pitchFamily="34" charset="-122"/>
                <a:cs typeface="Calibri" pitchFamily="34" charset="-120"/>
              </a:rPr>
              <a:t>8 minutes  ·  solo  ·  W2D1/classwork/D1-01-see-the-letters-arrive/</a:t>
            </a:r>
            <a:endParaRPr lang="en-US" sz="1300" dirty="0"/>
          </a:p>
        </p:txBody>
      </p:sp>
      <p:sp>
        <p:nvSpPr>
          <p:cNvPr id="8" name="Text 4"/>
          <p:cNvSpPr/>
          <p:nvPr/>
        </p:nvSpPr>
        <p:spPr>
          <a:xfrm>
            <a:off x="566928" y="15544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5"/>
          <p:cNvSpPr/>
          <p:nvPr/>
        </p:nvSpPr>
        <p:spPr>
          <a:xfrm>
            <a:off x="1005840" y="15270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Terminal: ping localhost (Wi-Fi: ping google.com)</a:t>
            </a:r>
            <a:endParaRPr lang="en-US" sz="1350" dirty="0"/>
          </a:p>
        </p:txBody>
      </p:sp>
      <p:sp>
        <p:nvSpPr>
          <p:cNvPr id="10" name="Text 6"/>
          <p:cNvSpPr/>
          <p:nvPr/>
        </p:nvSpPr>
        <p:spPr>
          <a:xfrm>
            <a:off x="566928" y="20116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7"/>
          <p:cNvSpPr/>
          <p:nvPr/>
        </p:nvSpPr>
        <p:spPr>
          <a:xfrm>
            <a:off x="1005840" y="19842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Open index.html with Live Server</a:t>
            </a:r>
            <a:endParaRPr lang="en-US" sz="1350" dirty="0"/>
          </a:p>
        </p:txBody>
      </p:sp>
      <p:sp>
        <p:nvSpPr>
          <p:cNvPr id="12" name="Text 8"/>
          <p:cNvSpPr/>
          <p:nvPr/>
        </p:nvSpPr>
        <p:spPr>
          <a:xfrm>
            <a:off x="566928" y="24688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9"/>
          <p:cNvSpPr/>
          <p:nvPr/>
        </p:nvSpPr>
        <p:spPr>
          <a:xfrm>
            <a:off x="1005840" y="24414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F12 → Network tab → press F5</a:t>
            </a:r>
            <a:endParaRPr lang="en-US" sz="1350" dirty="0"/>
          </a:p>
        </p:txBody>
      </p:sp>
      <p:sp>
        <p:nvSpPr>
          <p:cNvPr id="14" name="Text 10"/>
          <p:cNvSpPr/>
          <p:nvPr/>
        </p:nvSpPr>
        <p:spPr>
          <a:xfrm>
            <a:off x="566928" y="29260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1"/>
          <p:cNvSpPr/>
          <p:nvPr/>
        </p:nvSpPr>
        <p:spPr>
          <a:xfrm>
            <a:off x="1005840" y="28986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Count the parcels. Write it in my-findings.md</a:t>
            </a:r>
            <a:endParaRPr lang="en-US" sz="1350" dirty="0"/>
          </a:p>
        </p:txBody>
      </p:sp>
      <p:sp>
        <p:nvSpPr>
          <p:cNvPr id="16" name="Text 12"/>
          <p:cNvSpPr/>
          <p:nvPr/>
        </p:nvSpPr>
        <p:spPr>
          <a:xfrm>
            <a:off x="566928" y="33832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7" name="Text 13"/>
          <p:cNvSpPr/>
          <p:nvPr/>
        </p:nvSpPr>
        <p:spPr>
          <a:xfrm>
            <a:off x="1005840" y="33558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Right-click → View Page Source → find the &lt;h1&gt;</a:t>
            </a:r>
            <a:endParaRPr lang="en-US" sz="1350" dirty="0"/>
          </a:p>
        </p:txBody>
      </p:sp>
      <p:sp>
        <p:nvSpPr>
          <p:cNvPr id="18" name="Shape 14"/>
          <p:cNvSpPr/>
          <p:nvPr/>
        </p:nvSpPr>
        <p:spPr>
          <a:xfrm>
            <a:off x="5760720" y="1554480"/>
            <a:ext cx="2834640" cy="2331720"/>
          </a:xfrm>
          <a:prstGeom prst="roundRect">
            <a:avLst>
              <a:gd name="adj" fmla="val 3137"/>
            </a:avLst>
          </a:prstGeom>
          <a:solidFill>
            <a:srgbClr val="FFF3F4"/>
          </a:solidFill>
          <a:ln/>
        </p:spPr>
      </p:sp>
      <p:sp>
        <p:nvSpPr>
          <p:cNvPr id="19" name="Text 15"/>
          <p:cNvSpPr/>
          <p:nvPr/>
        </p:nvSpPr>
        <p:spPr>
          <a:xfrm>
            <a:off x="5943600" y="1682496"/>
            <a:ext cx="2468880" cy="320040"/>
          </a:xfrm>
          <a:prstGeom prst="rect">
            <a:avLst/>
          </a:prstGeom>
          <a:noFill/>
          <a:ln/>
        </p:spPr>
        <p:txBody>
          <a:bodyPr wrap="square" lIns="0" tIns="0" rIns="0" bIns="0" rtlCol="0" anchor="ctr"/>
          <a:lstStyle/>
          <a:p>
            <a:pPr indent="0" marL="0">
              <a:buNone/>
            </a:pPr>
            <a:r>
              <a:rPr lang="en-US" sz="1600" b="1" dirty="0">
                <a:solidFill>
                  <a:srgbClr val="990011"/>
                </a:solidFill>
                <a:latin typeface="Cambria" pitchFamily="34" charset="0"/>
                <a:ea typeface="Cambria" pitchFamily="34" charset="-122"/>
                <a:cs typeface="Cambria" pitchFamily="34" charset="-120"/>
              </a:rPr>
              <a:t>DONE looks like</a:t>
            </a:r>
            <a:endParaRPr lang="en-US" sz="1600" dirty="0"/>
          </a:p>
        </p:txBody>
      </p:sp>
      <p:sp>
        <p:nvSpPr>
          <p:cNvPr id="20" name="Text 16"/>
          <p:cNvSpPr/>
          <p:nvPr/>
        </p:nvSpPr>
        <p:spPr>
          <a:xfrm>
            <a:off x="5943600" y="2057400"/>
            <a:ext cx="2468880" cy="169164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my-findings.md has:</a:t>
            </a: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 your ping time</a:t>
            </a: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 the parcel count (it should be 7)</a:t>
            </a: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 the &lt;h1&gt; text and its line number in View Source</a:t>
            </a:r>
            <a:endParaRPr lang="en-US" sz="1250" dirty="0"/>
          </a:p>
        </p:txBody>
      </p:sp>
      <p:sp>
        <p:nvSpPr>
          <p:cNvPr id="21" name="Shape 17"/>
          <p:cNvSpPr/>
          <p:nvPr/>
        </p:nvSpPr>
        <p:spPr>
          <a:xfrm>
            <a:off x="548640" y="4206240"/>
            <a:ext cx="8046720" cy="502920"/>
          </a:xfrm>
          <a:prstGeom prst="roundRect">
            <a:avLst>
              <a:gd name="adj" fmla="val 14545"/>
            </a:avLst>
          </a:prstGeom>
          <a:solidFill>
            <a:srgbClr val="F5EBD8"/>
          </a:solidFill>
          <a:ln/>
        </p:spPr>
      </p:sp>
      <p:sp>
        <p:nvSpPr>
          <p:cNvPr id="22" name="Text 18"/>
          <p:cNvSpPr/>
          <p:nvPr/>
        </p:nvSpPr>
        <p:spPr>
          <a:xfrm>
            <a:off x="749808" y="4206240"/>
            <a:ext cx="7644384" cy="502920"/>
          </a:xfrm>
          <a:prstGeom prst="rect">
            <a:avLst/>
          </a:prstGeom>
          <a:noFill/>
          <a:ln/>
        </p:spPr>
        <p:txBody>
          <a:bodyPr wrap="square" lIns="0" tIns="0" rIns="0" bIns="0" rtlCol="0" anchor="ctr"/>
          <a:lstStyle/>
          <a:p>
            <a:pPr indent="0" marL="0">
              <a:buNone/>
            </a:pPr>
            <a:r>
              <a:rPr lang="en-US" sz="1250" b="1" dirty="0">
                <a:solidFill>
                  <a:srgbClr val="9A701F"/>
                </a:solidFill>
                <a:latin typeface="Calibri" pitchFamily="34" charset="0"/>
                <a:ea typeface="Calibri" pitchFamily="34" charset="-122"/>
                <a:cs typeface="Calibri" pitchFamily="34" charset="-120"/>
              </a:rPr>
              <a:t>No Wi-Fi?  </a:t>
            </a:r>
            <a:pPr indent="0" marL="0">
              <a:buNone/>
            </a:pPr>
            <a:r>
              <a:rPr lang="en-US" sz="1250" dirty="0">
                <a:solidFill>
                  <a:srgbClr val="2C3547"/>
                </a:solidFill>
                <a:latin typeface="Calibri" pitchFamily="34" charset="0"/>
                <a:ea typeface="Calibri" pitchFamily="34" charset="-122"/>
                <a:cs typeface="Calibri" pitchFamily="34" charset="-120"/>
              </a:rPr>
              <a:t>ping localhost works offline. Wi-Fi bonus: open the Network tab on any real site.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monitor-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758952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Your kitchen: a VS Code tour</a:t>
            </a:r>
            <a:endParaRPr lang="en-US" sz="2700" dirty="0"/>
          </a:p>
        </p:txBody>
      </p:sp>
      <p:sp>
        <p:nvSpPr>
          <p:cNvPr id="6" name="Shape 2"/>
          <p:cNvSpPr/>
          <p:nvPr/>
        </p:nvSpPr>
        <p:spPr>
          <a:xfrm>
            <a:off x="548640" y="1188720"/>
            <a:ext cx="5120640" cy="2880360"/>
          </a:xfrm>
          <a:prstGeom prst="roundRect">
            <a:avLst>
              <a:gd name="adj" fmla="val 1905"/>
            </a:avLst>
          </a:prstGeom>
          <a:solidFill>
            <a:srgbClr val="F9F6F5"/>
          </a:solidFill>
          <a:ln w="19050">
            <a:solidFill>
              <a:srgbClr val="9FB3D1"/>
            </a:solidFill>
            <a:prstDash val="dash"/>
          </a:ln>
        </p:spPr>
      </p:sp>
      <p:sp>
        <p:nvSpPr>
          <p:cNvPr id="7" name="Text 3"/>
          <p:cNvSpPr/>
          <p:nvPr/>
        </p:nvSpPr>
        <p:spPr>
          <a:xfrm>
            <a:off x="658368" y="1298448"/>
            <a:ext cx="1325880" cy="256032"/>
          </a:xfrm>
          <a:prstGeom prst="roundRect">
            <a:avLst>
              <a:gd name="adj" fmla="val 46429"/>
            </a:avLst>
          </a:prstGeom>
          <a:solidFill>
            <a:srgbClr val="14213D"/>
          </a:solid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LIVE DEMO</a:t>
            </a:r>
            <a:endParaRPr lang="en-US" sz="1100" dirty="0"/>
          </a:p>
        </p:txBody>
      </p:sp>
      <p:sp>
        <p:nvSpPr>
          <p:cNvPr id="8" name="Text 4"/>
          <p:cNvSpPr/>
          <p:nvPr/>
        </p:nvSpPr>
        <p:spPr>
          <a:xfrm>
            <a:off x="777240" y="1600200"/>
            <a:ext cx="4663440" cy="2331720"/>
          </a:xfrm>
          <a:prstGeom prst="rect">
            <a:avLst/>
          </a:prstGeom>
          <a:noFill/>
          <a:ln/>
        </p:spPr>
        <p:txBody>
          <a:bodyPr wrap="square" lIns="0" tIns="0" rIns="0" bIns="0" rtlCol="0" anchor="ctr">
            <a:normAutofit/>
          </a:bodyPr>
          <a:lstStyle/>
          <a:p>
            <a:pPr algn="ctr" indent="0" marL="0">
              <a:buNone/>
            </a:pPr>
            <a:r>
              <a:rPr lang="en-US" sz="1250" i="1" dirty="0">
                <a:solidFill>
                  <a:srgbClr val="2C3547"/>
                </a:solidFill>
                <a:latin typeface="Calibri" pitchFamily="34" charset="0"/>
                <a:ea typeface="Calibri" pitchFamily="34" charset="-122"/>
                <a:cs typeface="Calibri" pitchFamily="34" charset="-120"/>
              </a:rPr>
              <a:t>LIVE: open VS Code → Explorer, editor, Problems panel (Ctrl+Shift+M), terminal, Go Live</a:t>
            </a:r>
            <a:endParaRPr lang="en-US" sz="1250" dirty="0"/>
          </a:p>
        </p:txBody>
      </p:sp>
      <p:sp>
        <p:nvSpPr>
          <p:cNvPr id="9" name="Shape 5"/>
          <p:cNvSpPr/>
          <p:nvPr/>
        </p:nvSpPr>
        <p:spPr>
          <a:xfrm>
            <a:off x="5852160" y="1188720"/>
            <a:ext cx="2743200" cy="2880360"/>
          </a:xfrm>
          <a:prstGeom prst="roundRect">
            <a:avLst>
              <a:gd name="adj" fmla="val 2667"/>
            </a:avLst>
          </a:prstGeom>
          <a:solidFill>
            <a:srgbClr val="FFF3F4"/>
          </a:solidFill>
          <a:ln/>
        </p:spPr>
      </p:sp>
      <p:sp>
        <p:nvSpPr>
          <p:cNvPr id="10" name="Text 6"/>
          <p:cNvSpPr/>
          <p:nvPr/>
        </p:nvSpPr>
        <p:spPr>
          <a:xfrm>
            <a:off x="6035040" y="1316736"/>
            <a:ext cx="2377440" cy="320040"/>
          </a:xfrm>
          <a:prstGeom prst="rect">
            <a:avLst/>
          </a:prstGeom>
          <a:noFill/>
          <a:ln/>
        </p:spPr>
        <p:txBody>
          <a:bodyPr wrap="square" lIns="0" tIns="0" rIns="0" bIns="0" rtlCol="0" anchor="ctr"/>
          <a:lstStyle/>
          <a:p>
            <a:pPr indent="0" marL="0">
              <a:buNone/>
            </a:pPr>
            <a:r>
              <a:rPr lang="en-US" sz="1600" b="1" dirty="0">
                <a:solidFill>
                  <a:srgbClr val="990011"/>
                </a:solidFill>
                <a:latin typeface="Cambria" pitchFamily="34" charset="0"/>
                <a:ea typeface="Cambria" pitchFamily="34" charset="-122"/>
                <a:cs typeface="Cambria" pitchFamily="34" charset="-120"/>
              </a:rPr>
              <a:t>The kitchen</a:t>
            </a:r>
            <a:endParaRPr lang="en-US" sz="1600" dirty="0"/>
          </a:p>
        </p:txBody>
      </p:sp>
      <p:sp>
        <p:nvSpPr>
          <p:cNvPr id="11" name="Text 7"/>
          <p:cNvSpPr/>
          <p:nvPr/>
        </p:nvSpPr>
        <p:spPr>
          <a:xfrm>
            <a:off x="6035040" y="1691640"/>
            <a:ext cx="2377440" cy="224028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Explorer = the shelves</a:t>
            </a: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Editor = the chopping board</a:t>
            </a: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Terminal = the back door</a:t>
            </a: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Go Live = taste as you cook</a:t>
            </a:r>
            <a:endParaRPr lang="en-US" sz="1250" dirty="0"/>
          </a:p>
          <a:p>
            <a:pPr indent="0" marL="0">
              <a:buNone/>
            </a:pP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Every tool within reach.</a:t>
            </a:r>
            <a:endParaRPr lang="en-US" sz="1250" dirty="0"/>
          </a:p>
        </p:txBody>
      </p:sp>
      <p:sp>
        <p:nvSpPr>
          <p:cNvPr id="12" name="Shape 8"/>
          <p:cNvSpPr/>
          <p:nvPr/>
        </p:nvSpPr>
        <p:spPr>
          <a:xfrm>
            <a:off x="548640" y="4251960"/>
            <a:ext cx="8046720" cy="502920"/>
          </a:xfrm>
          <a:prstGeom prst="roundRect">
            <a:avLst>
              <a:gd name="adj" fmla="val 14545"/>
            </a:avLst>
          </a:prstGeom>
          <a:solidFill>
            <a:srgbClr val="F5EBD8"/>
          </a:solidFill>
          <a:ln/>
        </p:spPr>
      </p:sp>
      <p:sp>
        <p:nvSpPr>
          <p:cNvPr id="13" name="Text 9"/>
          <p:cNvSpPr/>
          <p:nvPr/>
        </p:nvSpPr>
        <p:spPr>
          <a:xfrm>
            <a:off x="749808" y="4251960"/>
            <a:ext cx="7644384" cy="502920"/>
          </a:xfrm>
          <a:prstGeom prst="rect">
            <a:avLst/>
          </a:prstGeom>
          <a:noFill/>
          <a:ln/>
        </p:spPr>
        <p:txBody>
          <a:bodyPr wrap="square" lIns="0" tIns="0" rIns="0" bIns="0" rtlCol="0" anchor="ctr"/>
          <a:lstStyle/>
          <a:p>
            <a:pPr indent="0" marL="0">
              <a:buNone/>
            </a:pPr>
            <a:r>
              <a:rPr lang="en-US" sz="1250" b="1" dirty="0">
                <a:solidFill>
                  <a:srgbClr val="9A701F"/>
                </a:solidFill>
                <a:latin typeface="Calibri" pitchFamily="34" charset="0"/>
                <a:ea typeface="Calibri" pitchFamily="34" charset="-122"/>
                <a:cs typeface="Calibri" pitchFamily="34" charset="-120"/>
              </a:rPr>
              <a:t>White dot on a tab = not saved.  </a:t>
            </a:r>
            <a:pPr indent="0" marL="0">
              <a:buNone/>
            </a:pPr>
            <a:r>
              <a:rPr lang="en-US" sz="1250" dirty="0">
                <a:solidFill>
                  <a:srgbClr val="2C3547"/>
                </a:solidFill>
                <a:latin typeface="Calibri" pitchFamily="34" charset="0"/>
                <a:ea typeface="Calibri" pitchFamily="34" charset="-122"/>
                <a:cs typeface="Calibri" pitchFamily="34" charset="-120"/>
              </a:rPr>
              <a:t>Ctrl+S, every time. Most "it does not work" moments are a missing save.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code-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758952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Emmet = speed-dial for tags</a:t>
            </a:r>
            <a:endParaRPr lang="en-US" sz="27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8138160" cy="914400"/>
        </p:xfrm>
        <a:graphic>
          <a:graphicData uri="http://schemas.openxmlformats.org/drawingml/2006/table">
            <a:tbl>
              <a:tblPr/>
              <a:tblGrid>
                <a:gridCol w="2194560"/>
                <a:gridCol w="2194560"/>
                <a:gridCol w="374904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Abbreviation + Tab</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Emmet means</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You get</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14213D"/>
                    </a:solidFill>
                  </a:tcPr>
                </a:tc>
              </a:tr>
              <a:tr h="438912">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the whole skeleton</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&lt;!DOCTYPE html&gt; … &lt;body&gt;&lt;/body&gt;</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r>
              <a:tr h="438912">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ul&gt;li*5</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&gt;  inside   ·   *  repeat</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a &lt;ul&gt; with 5 &lt;li&gt; inside</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438912">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h1+p</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  next to</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&lt;h1&gt;&lt;/h1&gt; then &lt;p&gt;&lt;/p&gt;</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r>
              <a:tr h="438912">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.card&gt;h2+p</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  class</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&lt;div class="card"&gt; with h2 + p</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438912">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ul&gt;li.item$*3</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  number</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class="item1", "item2", "item3"</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r>
              <a:tr h="438912">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lorem20</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dummy text</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20 words of practice text</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wrench-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758952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6 shortcuts that save hours</a:t>
            </a:r>
            <a:endParaRPr lang="en-US" sz="27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8138160" cy="914400"/>
        </p:xfrm>
        <a:graphic>
          <a:graphicData uri="http://schemas.openxmlformats.org/drawingml/2006/table">
            <a:tbl>
              <a:tblPr/>
              <a:tblGrid>
                <a:gridCol w="2103120"/>
                <a:gridCol w="3017520"/>
                <a:gridCol w="301752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Shortcut</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does</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Use it for</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14213D"/>
                    </a:solidFill>
                  </a:tcPr>
                </a:tc>
              </a:tr>
              <a:tr h="438912">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Alt + Shift + ↓</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copy this line down</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5 list items in 2 seconds</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r>
              <a:tr h="438912">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Ctrl + /</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comment / uncomment</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hide a line while testing</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438912">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Shift + Alt + F</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format the whole file</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messy indents → clean</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r>
              <a:tr h="438912">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Ctrl + D</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select the next same word</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rename 3 things at once</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438912">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Linked editing</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rename both tags at once</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&lt;div&gt; → &lt;section&gt; safely</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r>
              <a:tr h="438912">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Ctrl + S</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save</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every single time</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rocket-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612648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D1-02  ·  Emmet speed drill</a:t>
            </a:r>
            <a:endParaRPr lang="en-US" sz="2700" dirty="0"/>
          </a:p>
        </p:txBody>
      </p:sp>
      <p:sp>
        <p:nvSpPr>
          <p:cNvPr id="5" name="Text 2"/>
          <p:cNvSpPr/>
          <p:nvPr/>
        </p:nvSpPr>
        <p:spPr>
          <a:xfrm>
            <a:off x="7315200" y="402336"/>
            <a:ext cx="1417320" cy="310896"/>
          </a:xfrm>
          <a:prstGeom prst="roundRect">
            <a:avLst>
              <a:gd name="adj" fmla="val 50000"/>
            </a:avLst>
          </a:prstGeom>
          <a:solidFill>
            <a:srgbClr val="F5EBD8"/>
          </a:solidFill>
          <a:ln/>
        </p:spPr>
        <p:txBody>
          <a:bodyPr wrap="square" lIns="0" tIns="0" rIns="0" bIns="0" rtlCol="0" anchor="ctr"/>
          <a:lstStyle/>
          <a:p>
            <a:pPr algn="ctr" indent="0" marL="0">
              <a:buNone/>
            </a:pPr>
            <a:r>
              <a:rPr lang="en-US" sz="1100" b="1" spc="200" kern="0" dirty="0">
                <a:solidFill>
                  <a:srgbClr val="9A701F"/>
                </a:solidFill>
                <a:latin typeface="Calibri" pitchFamily="34" charset="0"/>
                <a:ea typeface="Calibri" pitchFamily="34" charset="-122"/>
                <a:cs typeface="Calibri" pitchFamily="34" charset="-120"/>
              </a:rPr>
              <a:t>ACTIVITY</a:t>
            </a:r>
            <a:endParaRPr lang="en-US" sz="1100" dirty="0"/>
          </a:p>
        </p:txBody>
      </p:sp>
      <p:sp>
        <p:nvSpPr>
          <p:cNvPr id="7" name="Text 3"/>
          <p:cNvSpPr/>
          <p:nvPr/>
        </p:nvSpPr>
        <p:spPr>
          <a:xfrm>
            <a:off x="548640" y="1078992"/>
            <a:ext cx="8046720" cy="274320"/>
          </a:xfrm>
          <a:prstGeom prst="rect">
            <a:avLst/>
          </a:prstGeom>
          <a:noFill/>
          <a:ln/>
        </p:spPr>
        <p:txBody>
          <a:bodyPr wrap="square" lIns="0" tIns="0" rIns="0" bIns="0" rtlCol="0" anchor="ctr"/>
          <a:lstStyle/>
          <a:p>
            <a:pPr indent="0" marL="0">
              <a:buNone/>
            </a:pPr>
            <a:r>
              <a:rPr lang="en-US" sz="1300" b="1" dirty="0">
                <a:solidFill>
                  <a:srgbClr val="990011"/>
                </a:solidFill>
                <a:latin typeface="Calibri" pitchFamily="34" charset="0"/>
                <a:ea typeface="Calibri" pitchFamily="34" charset="-122"/>
                <a:cs typeface="Calibri" pitchFamily="34" charset="-120"/>
              </a:rPr>
              <a:t>7 minutes  ·  solo  ·  W2D1/classwork/D1-02-emmet-speed-drill/</a:t>
            </a:r>
            <a:endParaRPr lang="en-US" sz="1300" dirty="0"/>
          </a:p>
        </p:txBody>
      </p:sp>
      <p:sp>
        <p:nvSpPr>
          <p:cNvPr id="8" name="Text 4"/>
          <p:cNvSpPr/>
          <p:nvPr/>
        </p:nvSpPr>
        <p:spPr>
          <a:xfrm>
            <a:off x="566928" y="15544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5"/>
          <p:cNvSpPr/>
          <p:nvPr/>
        </p:nvSpPr>
        <p:spPr>
          <a:xfrm>
            <a:off x="1005840" y="15270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Open index.html and target.html side by side</a:t>
            </a:r>
            <a:endParaRPr lang="en-US" sz="1350" dirty="0"/>
          </a:p>
        </p:txBody>
      </p:sp>
      <p:sp>
        <p:nvSpPr>
          <p:cNvPr id="10" name="Text 6"/>
          <p:cNvSpPr/>
          <p:nvPr/>
        </p:nvSpPr>
        <p:spPr>
          <a:xfrm>
            <a:off x="566928" y="20116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7"/>
          <p:cNvSpPr/>
          <p:nvPr/>
        </p:nvSpPr>
        <p:spPr>
          <a:xfrm>
            <a:off x="1005840" y="19842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Type the 6 abbreviations: ! · h1+p · ul&gt;li*5</a:t>
            </a:r>
            <a:endParaRPr lang="en-US" sz="1350" dirty="0"/>
          </a:p>
        </p:txBody>
      </p:sp>
      <p:sp>
        <p:nvSpPr>
          <p:cNvPr id="12" name="Text 8"/>
          <p:cNvSpPr/>
          <p:nvPr/>
        </p:nvSpPr>
        <p:spPr>
          <a:xfrm>
            <a:off x="566928" y="24688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9"/>
          <p:cNvSpPr/>
          <p:nvPr/>
        </p:nvSpPr>
        <p:spPr>
          <a:xfrm>
            <a:off x="1005840" y="24414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nav&gt;a*3 · table&gt;tr*3&gt;td*2 · .card&gt;h2+p</a:t>
            </a:r>
            <a:endParaRPr lang="en-US" sz="1350" dirty="0"/>
          </a:p>
        </p:txBody>
      </p:sp>
      <p:sp>
        <p:nvSpPr>
          <p:cNvPr id="14" name="Text 10"/>
          <p:cNvSpPr/>
          <p:nvPr/>
        </p:nvSpPr>
        <p:spPr>
          <a:xfrm>
            <a:off x="566928" y="29260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1"/>
          <p:cNvSpPr/>
          <p:nvPr/>
        </p:nvSpPr>
        <p:spPr>
          <a:xfrm>
            <a:off x="1005840" y="28986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Bonus: ul&gt;li.item$*3 · lorem20</a:t>
            </a:r>
            <a:endParaRPr lang="en-US" sz="1350" dirty="0"/>
          </a:p>
        </p:txBody>
      </p:sp>
      <p:sp>
        <p:nvSpPr>
          <p:cNvPr id="16" name="Text 12"/>
          <p:cNvSpPr/>
          <p:nvPr/>
        </p:nvSpPr>
        <p:spPr>
          <a:xfrm>
            <a:off x="566928" y="33832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7" name="Text 13"/>
          <p:cNvSpPr/>
          <p:nvPr/>
        </p:nvSpPr>
        <p:spPr>
          <a:xfrm>
            <a:off x="1005840" y="33558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Shift+Alt+F to format. Compare with target.html</a:t>
            </a:r>
            <a:endParaRPr lang="en-US" sz="1350" dirty="0"/>
          </a:p>
        </p:txBody>
      </p:sp>
      <p:sp>
        <p:nvSpPr>
          <p:cNvPr id="18" name="Shape 14"/>
          <p:cNvSpPr/>
          <p:nvPr/>
        </p:nvSpPr>
        <p:spPr>
          <a:xfrm>
            <a:off x="5760720" y="1554480"/>
            <a:ext cx="2834640" cy="2331720"/>
          </a:xfrm>
          <a:prstGeom prst="roundRect">
            <a:avLst>
              <a:gd name="adj" fmla="val 3137"/>
            </a:avLst>
          </a:prstGeom>
          <a:solidFill>
            <a:srgbClr val="FFF3F4"/>
          </a:solidFill>
          <a:ln/>
        </p:spPr>
      </p:sp>
      <p:sp>
        <p:nvSpPr>
          <p:cNvPr id="19" name="Text 15"/>
          <p:cNvSpPr/>
          <p:nvPr/>
        </p:nvSpPr>
        <p:spPr>
          <a:xfrm>
            <a:off x="5943600" y="1682496"/>
            <a:ext cx="2468880" cy="320040"/>
          </a:xfrm>
          <a:prstGeom prst="rect">
            <a:avLst/>
          </a:prstGeom>
          <a:noFill/>
          <a:ln/>
        </p:spPr>
        <p:txBody>
          <a:bodyPr wrap="square" lIns="0" tIns="0" rIns="0" bIns="0" rtlCol="0" anchor="ctr"/>
          <a:lstStyle/>
          <a:p>
            <a:pPr indent="0" marL="0">
              <a:buNone/>
            </a:pPr>
            <a:r>
              <a:rPr lang="en-US" sz="1600" b="1" dirty="0">
                <a:solidFill>
                  <a:srgbClr val="990011"/>
                </a:solidFill>
                <a:latin typeface="Cambria" pitchFamily="34" charset="0"/>
                <a:ea typeface="Cambria" pitchFamily="34" charset="-122"/>
                <a:cs typeface="Cambria" pitchFamily="34" charset="-120"/>
              </a:rPr>
              <a:t>DONE looks like</a:t>
            </a:r>
            <a:endParaRPr lang="en-US" sz="1600" dirty="0"/>
          </a:p>
        </p:txBody>
      </p:sp>
      <p:sp>
        <p:nvSpPr>
          <p:cNvPr id="20" name="Text 16"/>
          <p:cNvSpPr/>
          <p:nvPr/>
        </p:nvSpPr>
        <p:spPr>
          <a:xfrm>
            <a:off x="5943600" y="2057400"/>
            <a:ext cx="2468880" cy="169164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index.html matches target.html.</a:t>
            </a:r>
            <a:endParaRPr lang="en-US" sz="1250" dirty="0"/>
          </a:p>
          <a:p>
            <a:pPr indent="0" marL="0">
              <a:buNone/>
            </a:pP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You used Tab, not typing every tag by hand.</a:t>
            </a:r>
            <a:endParaRPr lang="en-US" sz="1250" dirty="0"/>
          </a:p>
          <a:p>
            <a:pPr indent="0" marL="0">
              <a:buNone/>
            </a:pP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Bonus done? Rename a &lt;div&gt; with linked editing.</a:t>
            </a:r>
            <a:endParaRPr lang="en-US" sz="1250" dirty="0"/>
          </a:p>
        </p:txBody>
      </p:sp>
      <p:sp>
        <p:nvSpPr>
          <p:cNvPr id="21" name="Shape 17"/>
          <p:cNvSpPr/>
          <p:nvPr/>
        </p:nvSpPr>
        <p:spPr>
          <a:xfrm>
            <a:off x="548640" y="4206240"/>
            <a:ext cx="8046720" cy="502920"/>
          </a:xfrm>
          <a:prstGeom prst="roundRect">
            <a:avLst>
              <a:gd name="adj" fmla="val 14545"/>
            </a:avLst>
          </a:prstGeom>
          <a:solidFill>
            <a:srgbClr val="F5EBD8"/>
          </a:solidFill>
          <a:ln/>
        </p:spPr>
      </p:sp>
      <p:sp>
        <p:nvSpPr>
          <p:cNvPr id="22" name="Text 18"/>
          <p:cNvSpPr/>
          <p:nvPr/>
        </p:nvSpPr>
        <p:spPr>
          <a:xfrm>
            <a:off x="749808" y="4206240"/>
            <a:ext cx="7644384" cy="502920"/>
          </a:xfrm>
          <a:prstGeom prst="rect">
            <a:avLst/>
          </a:prstGeom>
          <a:noFill/>
          <a:ln/>
        </p:spPr>
        <p:txBody>
          <a:bodyPr wrap="square" lIns="0" tIns="0" rIns="0" bIns="0" rtlCol="0" anchor="ctr"/>
          <a:lstStyle/>
          <a:p>
            <a:pPr indent="0" marL="0">
              <a:buNone/>
            </a:pPr>
            <a:r>
              <a:rPr lang="en-US" sz="1250" b="1" dirty="0">
                <a:solidFill>
                  <a:srgbClr val="9A701F"/>
                </a:solidFill>
                <a:latin typeface="Calibri" pitchFamily="34" charset="0"/>
                <a:ea typeface="Calibri" pitchFamily="34" charset="-122"/>
                <a:cs typeface="Calibri" pitchFamily="34" charset="-120"/>
              </a:rPr>
              <a:t>Tab does nothing?  </a:t>
            </a:r>
            <a:pPr indent="0" marL="0">
              <a:buNone/>
            </a:pPr>
            <a:r>
              <a:rPr lang="en-US" sz="1250" dirty="0">
                <a:solidFill>
                  <a:srgbClr val="2C3547"/>
                </a:solidFill>
                <a:latin typeface="Calibri" pitchFamily="34" charset="0"/>
                <a:ea typeface="Calibri" pitchFamily="34" charset="-122"/>
                <a:cs typeface="Calibri" pitchFamily="34" charset="-120"/>
              </a:rPr>
              <a:t>Save the file as .html first. Emmet only works in HTML files.</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7498080" y="-1463040"/>
            <a:ext cx="3291840" cy="3291840"/>
          </a:xfrm>
          <a:prstGeom prst="ellipse">
            <a:avLst/>
          </a:prstGeom>
          <a:solidFill>
            <a:srgbClr val="2A3F63">
              <a:alpha val="60000"/>
            </a:srgbClr>
          </a:solidFill>
          <a:ln/>
        </p:spPr>
      </p:sp>
      <p:sp>
        <p:nvSpPr>
          <p:cNvPr id="3" name="Shape 1"/>
          <p:cNvSpPr/>
          <p:nvPr/>
        </p:nvSpPr>
        <p:spPr>
          <a:xfrm>
            <a:off x="-1097280" y="3657600"/>
            <a:ext cx="2743200" cy="2743200"/>
          </a:xfrm>
          <a:prstGeom prst="ellipse">
            <a:avLst/>
          </a:prstGeom>
          <a:solidFill>
            <a:srgbClr val="2A3F63">
              <a:alpha val="45000"/>
            </a:srgbClr>
          </a:solidFill>
          <a:ln/>
        </p:spPr>
      </p:sp>
      <p:sp>
        <p:nvSpPr>
          <p:cNvPr id="4" name="Text 2"/>
          <p:cNvSpPr/>
          <p:nvPr/>
        </p:nvSpPr>
        <p:spPr>
          <a:xfrm>
            <a:off x="640080" y="1051560"/>
            <a:ext cx="7863840" cy="365760"/>
          </a:xfrm>
          <a:prstGeom prst="rect">
            <a:avLst/>
          </a:prstGeom>
          <a:noFill/>
          <a:ln/>
        </p:spPr>
        <p:txBody>
          <a:bodyPr wrap="square" lIns="0" tIns="0" rIns="0" bIns="0" rtlCol="0" anchor="ctr"/>
          <a:lstStyle/>
          <a:p>
            <a:pPr indent="0" marL="0">
              <a:buNone/>
            </a:pPr>
            <a:r>
              <a:rPr lang="en-US" sz="1500" b="1" spc="200" kern="0" dirty="0">
                <a:solidFill>
                  <a:srgbClr val="9FB3D1"/>
                </a:solidFill>
                <a:latin typeface="Calibri" pitchFamily="34" charset="0"/>
                <a:ea typeface="Calibri" pitchFamily="34" charset="-122"/>
                <a:cs typeface="Calibri" pitchFamily="34" charset="-120"/>
              </a:rPr>
              <a:t>BLOCK 3  ·  30 MIN</a:t>
            </a:r>
            <a:endParaRPr lang="en-US" sz="1500" dirty="0"/>
          </a:p>
        </p:txBody>
      </p:sp>
      <p:sp>
        <p:nvSpPr>
          <p:cNvPr id="5" name="Text 3"/>
          <p:cNvSpPr/>
          <p:nvPr/>
        </p:nvSpPr>
        <p:spPr>
          <a:xfrm>
            <a:off x="640080" y="1463040"/>
            <a:ext cx="7863840" cy="155448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HTML is the Skeleton</a:t>
            </a:r>
            <a:endParaRPr lang="en-US" sz="4000" dirty="0"/>
          </a:p>
        </p:txBody>
      </p:sp>
      <p:sp>
        <p:nvSpPr>
          <p:cNvPr id="6" name="Text 4"/>
          <p:cNvSpPr/>
          <p:nvPr/>
        </p:nvSpPr>
        <p:spPr>
          <a:xfrm>
            <a:off x="640080" y="3063240"/>
            <a:ext cx="7680960" cy="685800"/>
          </a:xfrm>
          <a:prstGeom prst="rect">
            <a:avLst/>
          </a:prstGeom>
          <a:noFill/>
          <a:ln/>
        </p:spPr>
        <p:txBody>
          <a:bodyPr wrap="square" lIns="0" tIns="0" rIns="0" bIns="0" rtlCol="0" anchor="t"/>
          <a:lstStyle/>
          <a:p>
            <a:pPr indent="0" marL="0">
              <a:buNone/>
            </a:pPr>
            <a:r>
              <a:rPr lang="en-US" sz="1700" dirty="0">
                <a:solidFill>
                  <a:srgbClr val="CADCFC"/>
                </a:solidFill>
                <a:latin typeface="Calibri" pitchFamily="34" charset="0"/>
                <a:ea typeface="Calibri" pitchFamily="34" charset="-122"/>
                <a:cs typeface="Calibri" pitchFamily="34" charset="-120"/>
              </a:rPr>
              <a:t>Nothing stands without it. Labelled boxes inside boxes: open the box, put things in, close the box.</a:t>
            </a:r>
            <a:endParaRPr lang="en-US" sz="1700" dirty="0"/>
          </a:p>
        </p:txBody>
      </p:sp>
      <p:sp>
        <p:nvSpPr>
          <p:cNvPr id="7" name="Text 5"/>
          <p:cNvSpPr/>
          <p:nvPr/>
        </p:nvSpPr>
        <p:spPr>
          <a:xfrm>
            <a:off x="640080" y="4526280"/>
            <a:ext cx="7863840" cy="320040"/>
          </a:xfrm>
          <a:prstGeom prst="rect">
            <a:avLst/>
          </a:prstGeom>
          <a:noFill/>
          <a:ln/>
        </p:spPr>
        <p:txBody>
          <a:bodyPr wrap="square" lIns="0" tIns="0" rIns="0" bIns="0" rtlCol="0" anchor="ctr"/>
          <a:lstStyle/>
          <a:p>
            <a:pPr indent="0" marL="0">
              <a:buNone/>
            </a:pPr>
            <a:r>
              <a:rPr lang="en-US" sz="1200" dirty="0">
                <a:solidFill>
                  <a:srgbClr val="B9C2CF"/>
                </a:solidFill>
                <a:latin typeface="Calibri" pitchFamily="34" charset="0"/>
                <a:ea typeface="Calibri" pitchFamily="34" charset="-122"/>
                <a:cs typeface="Calibri" pitchFamily="34" charset="-120"/>
              </a:rPr>
              <a:t>AI-Powered Full Stack Developer  ·  Tech Skills Institute Nepal</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layout-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758952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Anatomy: element, tag, attribute</a:t>
            </a:r>
            <a:endParaRPr lang="en-US" sz="2700" dirty="0"/>
          </a:p>
        </p:txBody>
      </p:sp>
      <p:sp>
        <p:nvSpPr>
          <p:cNvPr id="6" name="Text 2"/>
          <p:cNvSpPr/>
          <p:nvPr/>
        </p:nvSpPr>
        <p:spPr>
          <a:xfrm>
            <a:off x="731520" y="1600200"/>
            <a:ext cx="731520" cy="685800"/>
          </a:xfrm>
          <a:prstGeom prst="roundRect">
            <a:avLst>
              <a:gd name="adj" fmla="val 8000"/>
            </a:avLst>
          </a:prstGeom>
          <a:solidFill>
            <a:srgbClr val="14213D"/>
          </a:solidFill>
          <a:ln/>
        </p:spPr>
        <p:txBody>
          <a:bodyPr wrap="square" lIns="50800" tIns="50800" rIns="50800" bIns="50800"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&lt;a</a:t>
            </a:r>
            <a:endParaRPr lang="en-US" sz="1800" dirty="0"/>
          </a:p>
        </p:txBody>
      </p:sp>
      <p:sp>
        <p:nvSpPr>
          <p:cNvPr id="7" name="Text 3"/>
          <p:cNvSpPr/>
          <p:nvPr/>
        </p:nvSpPr>
        <p:spPr>
          <a:xfrm>
            <a:off x="1508760" y="1600200"/>
            <a:ext cx="3154680" cy="685800"/>
          </a:xfrm>
          <a:prstGeom prst="roundRect">
            <a:avLst>
              <a:gd name="adj" fmla="val 8000"/>
            </a:avLst>
          </a:prstGeom>
          <a:solidFill>
            <a:srgbClr val="FFF3F4"/>
          </a:solidFill>
          <a:ln/>
        </p:spPr>
        <p:txBody>
          <a:bodyPr wrap="square" lIns="50800" tIns="50800" rIns="50800" bIns="50800" rtlCol="0" anchor="ctr"/>
          <a:lstStyle/>
          <a:p>
            <a:pPr algn="ctr" indent="0" marL="0">
              <a:buNone/>
            </a:pPr>
            <a:r>
              <a:rPr lang="en-US" sz="1800" b="1" dirty="0">
                <a:solidFill>
                  <a:srgbClr val="990011"/>
                </a:solidFill>
                <a:latin typeface="Courier New" pitchFamily="34" charset="0"/>
                <a:ea typeface="Courier New" pitchFamily="34" charset="-122"/>
                <a:cs typeface="Courier New" pitchFamily="34" charset="-120"/>
              </a:rPr>
              <a:t>href="menu.html"&gt;</a:t>
            </a:r>
            <a:endParaRPr lang="en-US" sz="1800" dirty="0"/>
          </a:p>
        </p:txBody>
      </p:sp>
      <p:sp>
        <p:nvSpPr>
          <p:cNvPr id="8" name="Text 4"/>
          <p:cNvSpPr/>
          <p:nvPr/>
        </p:nvSpPr>
        <p:spPr>
          <a:xfrm>
            <a:off x="4709160" y="1600200"/>
            <a:ext cx="1783080" cy="685800"/>
          </a:xfrm>
          <a:prstGeom prst="roundRect">
            <a:avLst>
              <a:gd name="adj" fmla="val 8000"/>
            </a:avLst>
          </a:prstGeom>
          <a:solidFill>
            <a:srgbClr val="F9F6F5"/>
          </a:solidFill>
          <a:ln w="15875">
            <a:solidFill>
              <a:srgbClr val="B9C2CF"/>
            </a:solidFill>
          </a:ln>
        </p:spPr>
        <p:txBody>
          <a:bodyPr wrap="square" lIns="50800" tIns="50800" rIns="50800" bIns="50800" rtlCol="0" anchor="ctr"/>
          <a:lstStyle/>
          <a:p>
            <a:pPr algn="ctr" indent="0" marL="0">
              <a:buNone/>
            </a:pPr>
            <a:r>
              <a:rPr lang="en-US" sz="1800" b="1" dirty="0">
                <a:solidFill>
                  <a:srgbClr val="14213D"/>
                </a:solidFill>
                <a:latin typeface="Courier New" pitchFamily="34" charset="0"/>
                <a:ea typeface="Courier New" pitchFamily="34" charset="-122"/>
                <a:cs typeface="Courier New" pitchFamily="34" charset="-120"/>
              </a:rPr>
              <a:t>Our menu</a:t>
            </a:r>
            <a:endParaRPr lang="en-US" sz="1800" dirty="0"/>
          </a:p>
        </p:txBody>
      </p:sp>
      <p:sp>
        <p:nvSpPr>
          <p:cNvPr id="9" name="Text 5"/>
          <p:cNvSpPr/>
          <p:nvPr/>
        </p:nvSpPr>
        <p:spPr>
          <a:xfrm>
            <a:off x="6537960" y="1600200"/>
            <a:ext cx="1051560" cy="685800"/>
          </a:xfrm>
          <a:prstGeom prst="roundRect">
            <a:avLst>
              <a:gd name="adj" fmla="val 8000"/>
            </a:avLst>
          </a:prstGeom>
          <a:solidFill>
            <a:srgbClr val="14213D"/>
          </a:solidFill>
          <a:ln/>
        </p:spPr>
        <p:txBody>
          <a:bodyPr wrap="square" lIns="50800" tIns="50800" rIns="50800" bIns="50800"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&lt;/a&gt;</a:t>
            </a:r>
            <a:endParaRPr lang="en-US" sz="1800" dirty="0"/>
          </a:p>
        </p:txBody>
      </p:sp>
      <p:sp>
        <p:nvSpPr>
          <p:cNvPr id="10" name="Text 6"/>
          <p:cNvSpPr/>
          <p:nvPr/>
        </p:nvSpPr>
        <p:spPr>
          <a:xfrm>
            <a:off x="548640" y="1216152"/>
            <a:ext cx="1097280" cy="274320"/>
          </a:xfrm>
          <a:prstGeom prst="rect">
            <a:avLst/>
          </a:prstGeom>
          <a:noFill/>
          <a:ln/>
        </p:spPr>
        <p:txBody>
          <a:bodyPr wrap="square" lIns="0" tIns="0" rIns="0" bIns="0" rtlCol="0" anchor="ctr"/>
          <a:lstStyle/>
          <a:p>
            <a:pPr algn="ctr" indent="0" marL="0">
              <a:buNone/>
            </a:pPr>
            <a:r>
              <a:rPr lang="en-US" sz="1250" b="1" dirty="0">
                <a:solidFill>
                  <a:srgbClr val="14213D"/>
                </a:solidFill>
                <a:latin typeface="Calibri" pitchFamily="34" charset="0"/>
                <a:ea typeface="Calibri" pitchFamily="34" charset="-122"/>
                <a:cs typeface="Calibri" pitchFamily="34" charset="-120"/>
              </a:rPr>
              <a:t>opening tag</a:t>
            </a:r>
            <a:endParaRPr lang="en-US" sz="1250" dirty="0"/>
          </a:p>
        </p:txBody>
      </p:sp>
      <p:sp>
        <p:nvSpPr>
          <p:cNvPr id="11" name="Text 7"/>
          <p:cNvSpPr/>
          <p:nvPr/>
        </p:nvSpPr>
        <p:spPr>
          <a:xfrm>
            <a:off x="1508760" y="1216152"/>
            <a:ext cx="3154680" cy="274320"/>
          </a:xfrm>
          <a:prstGeom prst="rect">
            <a:avLst/>
          </a:prstGeom>
          <a:noFill/>
          <a:ln/>
        </p:spPr>
        <p:txBody>
          <a:bodyPr wrap="square" lIns="0" tIns="0" rIns="0" bIns="0" rtlCol="0" anchor="ctr"/>
          <a:lstStyle/>
          <a:p>
            <a:pPr algn="ctr" indent="0" marL="0">
              <a:buNone/>
            </a:pPr>
            <a:r>
              <a:rPr lang="en-US" sz="1250" b="1" dirty="0">
                <a:solidFill>
                  <a:srgbClr val="990011"/>
                </a:solidFill>
                <a:latin typeface="Calibri" pitchFamily="34" charset="0"/>
                <a:ea typeface="Calibri" pitchFamily="34" charset="-122"/>
                <a:cs typeface="Calibri" pitchFamily="34" charset="-120"/>
              </a:rPr>
              <a:t>attribute = name="value"</a:t>
            </a:r>
            <a:endParaRPr lang="en-US" sz="1250" dirty="0"/>
          </a:p>
        </p:txBody>
      </p:sp>
      <p:sp>
        <p:nvSpPr>
          <p:cNvPr id="12" name="Text 8"/>
          <p:cNvSpPr/>
          <p:nvPr/>
        </p:nvSpPr>
        <p:spPr>
          <a:xfrm>
            <a:off x="4709160" y="1216152"/>
            <a:ext cx="1783080" cy="274320"/>
          </a:xfrm>
          <a:prstGeom prst="rect">
            <a:avLst/>
          </a:prstGeom>
          <a:noFill/>
          <a:ln/>
        </p:spPr>
        <p:txBody>
          <a:bodyPr wrap="square" lIns="0" tIns="0" rIns="0" bIns="0" rtlCol="0" anchor="ctr"/>
          <a:lstStyle/>
          <a:p>
            <a:pPr algn="ctr" indent="0" marL="0">
              <a:buNone/>
            </a:pPr>
            <a:r>
              <a:rPr lang="en-US" sz="1250" b="1" dirty="0">
                <a:solidFill>
                  <a:srgbClr val="14213D"/>
                </a:solidFill>
                <a:latin typeface="Calibri" pitchFamily="34" charset="0"/>
                <a:ea typeface="Calibri" pitchFamily="34" charset="-122"/>
                <a:cs typeface="Calibri" pitchFamily="34" charset="-120"/>
              </a:rPr>
              <a:t>content</a:t>
            </a:r>
            <a:endParaRPr lang="en-US" sz="1250" dirty="0"/>
          </a:p>
        </p:txBody>
      </p:sp>
      <p:sp>
        <p:nvSpPr>
          <p:cNvPr id="13" name="Text 9"/>
          <p:cNvSpPr/>
          <p:nvPr/>
        </p:nvSpPr>
        <p:spPr>
          <a:xfrm>
            <a:off x="6537960" y="1216152"/>
            <a:ext cx="1051560" cy="274320"/>
          </a:xfrm>
          <a:prstGeom prst="rect">
            <a:avLst/>
          </a:prstGeom>
          <a:noFill/>
          <a:ln/>
        </p:spPr>
        <p:txBody>
          <a:bodyPr wrap="square" lIns="0" tIns="0" rIns="0" bIns="0" rtlCol="0" anchor="ctr"/>
          <a:lstStyle/>
          <a:p>
            <a:pPr algn="ctr" indent="0" marL="0">
              <a:buNone/>
            </a:pPr>
            <a:r>
              <a:rPr lang="en-US" sz="1250" b="1" dirty="0">
                <a:solidFill>
                  <a:srgbClr val="14213D"/>
                </a:solidFill>
                <a:latin typeface="Calibri" pitchFamily="34" charset="0"/>
                <a:ea typeface="Calibri" pitchFamily="34" charset="-122"/>
                <a:cs typeface="Calibri" pitchFamily="34" charset="-120"/>
              </a:rPr>
              <a:t>closing tag</a:t>
            </a:r>
            <a:endParaRPr lang="en-US" sz="1250" dirty="0"/>
          </a:p>
        </p:txBody>
      </p:sp>
      <p:sp>
        <p:nvSpPr>
          <p:cNvPr id="14" name="Shape 10"/>
          <p:cNvSpPr/>
          <p:nvPr/>
        </p:nvSpPr>
        <p:spPr>
          <a:xfrm>
            <a:off x="731520" y="2468880"/>
            <a:ext cx="6858000" cy="0"/>
          </a:xfrm>
          <a:prstGeom prst="line">
            <a:avLst/>
          </a:prstGeom>
          <a:noFill/>
          <a:ln w="25400">
            <a:solidFill>
              <a:srgbClr val="990011"/>
            </a:solidFill>
            <a:prstDash val="solid"/>
          </a:ln>
        </p:spPr>
      </p:sp>
      <p:sp>
        <p:nvSpPr>
          <p:cNvPr id="15" name="Text 11"/>
          <p:cNvSpPr/>
          <p:nvPr/>
        </p:nvSpPr>
        <p:spPr>
          <a:xfrm>
            <a:off x="731520" y="2514600"/>
            <a:ext cx="6858000" cy="274320"/>
          </a:xfrm>
          <a:prstGeom prst="rect">
            <a:avLst/>
          </a:prstGeom>
          <a:noFill/>
          <a:ln/>
        </p:spPr>
        <p:txBody>
          <a:bodyPr wrap="square" lIns="0" tIns="0" rIns="0" bIns="0" rtlCol="0" anchor="ctr"/>
          <a:lstStyle/>
          <a:p>
            <a:pPr algn="ctr" indent="0" marL="0">
              <a:buNone/>
            </a:pPr>
            <a:r>
              <a:rPr lang="en-US" sz="1350" b="1" dirty="0">
                <a:solidFill>
                  <a:srgbClr val="990011"/>
                </a:solidFill>
                <a:latin typeface="Calibri" pitchFamily="34" charset="0"/>
                <a:ea typeface="Calibri" pitchFamily="34" charset="-122"/>
                <a:cs typeface="Calibri" pitchFamily="34" charset="-120"/>
              </a:rPr>
              <a:t>element = opening tag + content + closing tag</a:t>
            </a:r>
            <a:endParaRPr lang="en-US" sz="1350" dirty="0"/>
          </a:p>
        </p:txBody>
      </p:sp>
      <p:sp>
        <p:nvSpPr>
          <p:cNvPr id="16" name="Shape 12"/>
          <p:cNvSpPr/>
          <p:nvPr/>
        </p:nvSpPr>
        <p:spPr>
          <a:xfrm>
            <a:off x="548640" y="3017520"/>
            <a:ext cx="3931920" cy="1051560"/>
          </a:xfrm>
          <a:prstGeom prst="roundRect">
            <a:avLst>
              <a:gd name="adj" fmla="val 6957"/>
            </a:avLst>
          </a:prstGeom>
          <a:solidFill>
            <a:srgbClr val="F9F6F5"/>
          </a:solidFill>
          <a:ln w="9525">
            <a:solidFill>
              <a:srgbClr val="E8E2E1"/>
            </a:solidFill>
            <a:prstDash val="solid"/>
          </a:ln>
        </p:spPr>
      </p:sp>
      <p:sp>
        <p:nvSpPr>
          <p:cNvPr id="17" name="Text 13"/>
          <p:cNvSpPr/>
          <p:nvPr/>
        </p:nvSpPr>
        <p:spPr>
          <a:xfrm>
            <a:off x="731520" y="3145536"/>
            <a:ext cx="3566160" cy="32004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A box with a label</a:t>
            </a:r>
            <a:endParaRPr lang="en-US" sz="1600" dirty="0"/>
          </a:p>
        </p:txBody>
      </p:sp>
      <p:sp>
        <p:nvSpPr>
          <p:cNvPr id="18" name="Text 14"/>
          <p:cNvSpPr/>
          <p:nvPr/>
        </p:nvSpPr>
        <p:spPr>
          <a:xfrm>
            <a:off x="731520" y="3520440"/>
            <a:ext cx="3566160" cy="41148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Most tags open, hold content, and close: &lt;p&gt; … &lt;/p&gt;</a:t>
            </a:r>
            <a:endParaRPr lang="en-US" sz="1250" dirty="0"/>
          </a:p>
        </p:txBody>
      </p:sp>
      <p:sp>
        <p:nvSpPr>
          <p:cNvPr id="19" name="Shape 15"/>
          <p:cNvSpPr/>
          <p:nvPr/>
        </p:nvSpPr>
        <p:spPr>
          <a:xfrm>
            <a:off x="4663440" y="3017520"/>
            <a:ext cx="3931920" cy="1051560"/>
          </a:xfrm>
          <a:prstGeom prst="roundRect">
            <a:avLst>
              <a:gd name="adj" fmla="val 6957"/>
            </a:avLst>
          </a:prstGeom>
          <a:solidFill>
            <a:srgbClr val="FFF3F4"/>
          </a:solidFill>
          <a:ln/>
        </p:spPr>
      </p:sp>
      <p:sp>
        <p:nvSpPr>
          <p:cNvPr id="20" name="Text 16"/>
          <p:cNvSpPr/>
          <p:nvPr/>
        </p:nvSpPr>
        <p:spPr>
          <a:xfrm>
            <a:off x="4846320" y="3145536"/>
            <a:ext cx="3566160" cy="320040"/>
          </a:xfrm>
          <a:prstGeom prst="rect">
            <a:avLst/>
          </a:prstGeom>
          <a:noFill/>
          <a:ln/>
        </p:spPr>
        <p:txBody>
          <a:bodyPr wrap="square" lIns="0" tIns="0" rIns="0" bIns="0" rtlCol="0" anchor="ctr"/>
          <a:lstStyle/>
          <a:p>
            <a:pPr indent="0" marL="0">
              <a:buNone/>
            </a:pPr>
            <a:r>
              <a:rPr lang="en-US" sz="1600" b="1" dirty="0">
                <a:solidFill>
                  <a:srgbClr val="990011"/>
                </a:solidFill>
                <a:latin typeface="Cambria" pitchFamily="34" charset="0"/>
                <a:ea typeface="Cambria" pitchFamily="34" charset="-122"/>
                <a:cs typeface="Cambria" pitchFamily="34" charset="-120"/>
              </a:rPr>
              <a:t>A sticker (void)</a:t>
            </a:r>
            <a:endParaRPr lang="en-US" sz="1600" dirty="0"/>
          </a:p>
        </p:txBody>
      </p:sp>
      <p:sp>
        <p:nvSpPr>
          <p:cNvPr id="21" name="Text 17"/>
          <p:cNvSpPr/>
          <p:nvPr/>
        </p:nvSpPr>
        <p:spPr>
          <a:xfrm>
            <a:off x="4846320" y="3520440"/>
            <a:ext cx="3566160" cy="41148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No content, no closing tag: &lt;img&gt;, &lt;br&gt;, &lt;hr&gt;, &lt;meta&gt;, &lt;input&gt;</a:t>
            </a:r>
            <a:endParaRPr lang="en-US" sz="1250" dirty="0"/>
          </a:p>
        </p:txBody>
      </p:sp>
      <p:sp>
        <p:nvSpPr>
          <p:cNvPr id="22" name="Shape 18"/>
          <p:cNvSpPr/>
          <p:nvPr/>
        </p:nvSpPr>
        <p:spPr>
          <a:xfrm>
            <a:off x="548640" y="4251960"/>
            <a:ext cx="8046720" cy="457200"/>
          </a:xfrm>
          <a:prstGeom prst="roundRect">
            <a:avLst>
              <a:gd name="adj" fmla="val 16000"/>
            </a:avLst>
          </a:prstGeom>
          <a:solidFill>
            <a:srgbClr val="F5EBD8"/>
          </a:solidFill>
          <a:ln/>
        </p:spPr>
      </p:sp>
      <p:sp>
        <p:nvSpPr>
          <p:cNvPr id="23" name="Text 19"/>
          <p:cNvSpPr/>
          <p:nvPr/>
        </p:nvSpPr>
        <p:spPr>
          <a:xfrm>
            <a:off x="749808" y="4251960"/>
            <a:ext cx="7644384" cy="457200"/>
          </a:xfrm>
          <a:prstGeom prst="rect">
            <a:avLst/>
          </a:prstGeom>
          <a:noFill/>
          <a:ln/>
        </p:spPr>
        <p:txBody>
          <a:bodyPr wrap="square" lIns="0" tIns="0" rIns="0" bIns="0" rtlCol="0" anchor="ctr"/>
          <a:lstStyle/>
          <a:p>
            <a:pPr indent="0" marL="0">
              <a:buNone/>
            </a:pPr>
            <a:r>
              <a:rPr lang="en-US" sz="1250" b="1" dirty="0">
                <a:solidFill>
                  <a:srgbClr val="9A701F"/>
                </a:solidFill>
                <a:latin typeface="Calibri" pitchFamily="34" charset="0"/>
                <a:ea typeface="Calibri" pitchFamily="34" charset="-122"/>
                <a:cs typeface="Calibri" pitchFamily="34" charset="-120"/>
              </a:rPr>
              <a:t>Lowercase tags, double quotes:  </a:t>
            </a:r>
            <a:pPr indent="0" marL="0">
              <a:buNone/>
            </a:pPr>
            <a:r>
              <a:rPr lang="en-US" sz="1250" dirty="0">
                <a:solidFill>
                  <a:srgbClr val="2C3547"/>
                </a:solidFill>
                <a:latin typeface="Calibri" pitchFamily="34" charset="0"/>
                <a:ea typeface="Calibri" pitchFamily="34" charset="-122"/>
                <a:cs typeface="Calibri" pitchFamily="34" charset="-120"/>
              </a:rPr>
              <a:t>href="menu.html", never HREF=menu.html.</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code-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612648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Every page starts the same way</a:t>
            </a:r>
            <a:endParaRPr lang="en-US" sz="2700" dirty="0"/>
          </a:p>
        </p:txBody>
      </p:sp>
      <p:sp>
        <p:nvSpPr>
          <p:cNvPr id="5" name="Text 2"/>
          <p:cNvSpPr/>
          <p:nvPr/>
        </p:nvSpPr>
        <p:spPr>
          <a:xfrm>
            <a:off x="7315200" y="402336"/>
            <a:ext cx="1417320" cy="310896"/>
          </a:xfrm>
          <a:prstGeom prst="roundRect">
            <a:avLst>
              <a:gd name="adj" fmla="val 50000"/>
            </a:avLst>
          </a:prstGeom>
          <a:solidFill>
            <a:srgbClr val="F5EBD8"/>
          </a:solidFill>
          <a:ln/>
        </p:spPr>
        <p:txBody>
          <a:bodyPr wrap="square" lIns="0" tIns="0" rIns="0" bIns="0" rtlCol="0" anchor="ctr"/>
          <a:lstStyle/>
          <a:p>
            <a:pPr algn="ctr" indent="0" marL="0">
              <a:buNone/>
            </a:pPr>
            <a:r>
              <a:rPr lang="en-US" sz="1100" b="1" spc="200" kern="0" dirty="0">
                <a:solidFill>
                  <a:srgbClr val="9A701F"/>
                </a:solidFill>
                <a:latin typeface="Calibri" pitchFamily="34" charset="0"/>
                <a:ea typeface="Calibri" pitchFamily="34" charset="-122"/>
                <a:cs typeface="Calibri" pitchFamily="34" charset="-120"/>
              </a:rPr>
              <a:t>ACTIVITY</a:t>
            </a:r>
            <a:endParaRPr lang="en-US" sz="1100" dirty="0"/>
          </a:p>
        </p:txBody>
      </p:sp>
      <p:sp>
        <p:nvSpPr>
          <p:cNvPr id="7" name="Text 3"/>
          <p:cNvSpPr/>
          <p:nvPr/>
        </p:nvSpPr>
        <p:spPr>
          <a:xfrm>
            <a:off x="548640" y="1078992"/>
            <a:ext cx="8046720" cy="274320"/>
          </a:xfrm>
          <a:prstGeom prst="rect">
            <a:avLst/>
          </a:prstGeom>
          <a:noFill/>
          <a:ln/>
        </p:spPr>
        <p:txBody>
          <a:bodyPr wrap="square" lIns="0" tIns="0" rIns="0" bIns="0" rtlCol="0" anchor="ctr"/>
          <a:lstStyle/>
          <a:p>
            <a:pPr indent="0" marL="0">
              <a:buNone/>
            </a:pPr>
            <a:r>
              <a:rPr lang="en-US" sz="1300" b="1" dirty="0">
                <a:solidFill>
                  <a:srgbClr val="990011"/>
                </a:solidFill>
                <a:latin typeface="Calibri" pitchFamily="34" charset="0"/>
                <a:ea typeface="Calibri" pitchFamily="34" charset="-122"/>
                <a:cs typeface="Calibri" pitchFamily="34" charset="-120"/>
              </a:rPr>
              <a:t>Code-along  ·  3 min  ·  type with me  ·  W2D1/instructor-demos/B3-skeleton/  (steps 01–03)</a:t>
            </a:r>
            <a:endParaRPr lang="en-US" sz="1300" dirty="0"/>
          </a:p>
        </p:txBody>
      </p:sp>
      <p:sp>
        <p:nvSpPr>
          <p:cNvPr id="8" name="Shape 4"/>
          <p:cNvSpPr/>
          <p:nvPr/>
        </p:nvSpPr>
        <p:spPr>
          <a:xfrm>
            <a:off x="548640" y="1463040"/>
            <a:ext cx="8046720" cy="2697480"/>
          </a:xfrm>
          <a:prstGeom prst="roundRect">
            <a:avLst>
              <a:gd name="adj" fmla="val 2712"/>
            </a:avLst>
          </a:prstGeom>
          <a:solidFill>
            <a:srgbClr val="16274A"/>
          </a:solidFill>
          <a:ln/>
        </p:spPr>
      </p:sp>
      <p:sp>
        <p:nvSpPr>
          <p:cNvPr id="9" name="Shape 5"/>
          <p:cNvSpPr/>
          <p:nvPr/>
        </p:nvSpPr>
        <p:spPr>
          <a:xfrm>
            <a:off x="694944" y="1581912"/>
            <a:ext cx="82296" cy="82296"/>
          </a:xfrm>
          <a:prstGeom prst="ellipse">
            <a:avLst/>
          </a:prstGeom>
          <a:solidFill>
            <a:srgbClr val="FF5F56"/>
          </a:solidFill>
          <a:ln/>
        </p:spPr>
      </p:sp>
      <p:sp>
        <p:nvSpPr>
          <p:cNvPr id="10" name="Shape 6"/>
          <p:cNvSpPr/>
          <p:nvPr/>
        </p:nvSpPr>
        <p:spPr>
          <a:xfrm>
            <a:off x="841248" y="1581912"/>
            <a:ext cx="82296" cy="82296"/>
          </a:xfrm>
          <a:prstGeom prst="ellipse">
            <a:avLst/>
          </a:prstGeom>
          <a:solidFill>
            <a:srgbClr val="FFBD2E"/>
          </a:solidFill>
          <a:ln/>
        </p:spPr>
      </p:sp>
      <p:sp>
        <p:nvSpPr>
          <p:cNvPr id="11" name="Shape 7"/>
          <p:cNvSpPr/>
          <p:nvPr/>
        </p:nvSpPr>
        <p:spPr>
          <a:xfrm>
            <a:off x="987552" y="1581912"/>
            <a:ext cx="82296" cy="82296"/>
          </a:xfrm>
          <a:prstGeom prst="ellipse">
            <a:avLst/>
          </a:prstGeom>
          <a:solidFill>
            <a:srgbClr val="27C93F"/>
          </a:solidFill>
          <a:ln/>
        </p:spPr>
      </p:sp>
      <p:sp>
        <p:nvSpPr>
          <p:cNvPr id="12" name="Text 8"/>
          <p:cNvSpPr/>
          <p:nvPr/>
        </p:nvSpPr>
        <p:spPr>
          <a:xfrm>
            <a:off x="1188720" y="1517904"/>
            <a:ext cx="7223760" cy="219456"/>
          </a:xfrm>
          <a:prstGeom prst="rect">
            <a:avLst/>
          </a:prstGeom>
          <a:noFill/>
          <a:ln/>
        </p:spPr>
        <p:txBody>
          <a:bodyPr wrap="square" lIns="0" tIns="0" rIns="0" bIns="0" rtlCol="0" anchor="ctr"/>
          <a:lstStyle/>
          <a:p>
            <a:pPr indent="0" marL="0">
              <a:buNone/>
            </a:pPr>
            <a:r>
              <a:rPr lang="en-US" sz="1000" dirty="0">
                <a:solidFill>
                  <a:srgbClr val="9AA8BF"/>
                </a:solidFill>
                <a:latin typeface="Courier New" pitchFamily="34" charset="0"/>
                <a:ea typeface="Courier New" pitchFamily="34" charset="-122"/>
                <a:cs typeface="Courier New" pitchFamily="34" charset="-120"/>
              </a:rPr>
              <a:t>index.html</a:t>
            </a:r>
            <a:endParaRPr lang="en-US" sz="1000" dirty="0"/>
          </a:p>
        </p:txBody>
      </p:sp>
      <p:sp>
        <p:nvSpPr>
          <p:cNvPr id="13" name="Text 9"/>
          <p:cNvSpPr/>
          <p:nvPr/>
        </p:nvSpPr>
        <p:spPr>
          <a:xfrm>
            <a:off x="749808" y="1810512"/>
            <a:ext cx="7680960" cy="2240280"/>
          </a:xfrm>
          <a:prstGeom prst="rect">
            <a:avLst/>
          </a:prstGeom>
          <a:noFill/>
          <a:ln/>
        </p:spPr>
        <p:txBody>
          <a:bodyPr wrap="square" lIns="0" tIns="0" rIns="0" bIns="0" rtlCol="0" anchor="t"/>
          <a:lstStyle/>
          <a:p>
            <a:pPr indent="0" marL="0">
              <a:lnSpc>
                <a:spcPts val="1536"/>
              </a:lnSpc>
              <a:buNone/>
            </a:pPr>
            <a:r>
              <a:rPr lang="en-US" sz="1200" dirty="0">
                <a:solidFill>
                  <a:srgbClr val="E8EDF5"/>
                </a:solidFill>
                <a:latin typeface="Courier New" pitchFamily="34" charset="0"/>
                <a:ea typeface="Courier New" pitchFamily="34" charset="-122"/>
                <a:cs typeface="Courier New" pitchFamily="34" charset="-120"/>
              </a:rPr>
              <a:t>&lt;!DOCTYPE html&gt;</a:t>
            </a:r>
            <a:endParaRPr lang="en-US" sz="1200" dirty="0"/>
          </a:p>
          <a:p>
            <a:pPr indent="0" marL="0">
              <a:lnSpc>
                <a:spcPts val="1536"/>
              </a:lnSpc>
              <a:buNone/>
            </a:pPr>
            <a:r>
              <a:rPr lang="en-US" sz="1200" dirty="0">
                <a:solidFill>
                  <a:srgbClr val="E8EDF5"/>
                </a:solidFill>
                <a:latin typeface="Courier New" pitchFamily="34" charset="0"/>
                <a:ea typeface="Courier New" pitchFamily="34" charset="-122"/>
                <a:cs typeface="Courier New" pitchFamily="34" charset="-120"/>
              </a:rPr>
              <a:t>&lt;html lang="en"&gt;</a:t>
            </a:r>
            <a:endParaRPr lang="en-US" sz="1200" dirty="0"/>
          </a:p>
          <a:p>
            <a:pPr indent="0" marL="0">
              <a:lnSpc>
                <a:spcPts val="1536"/>
              </a:lnSpc>
              <a:buNone/>
            </a:pPr>
            <a:r>
              <a:rPr lang="en-US" sz="1200" dirty="0">
                <a:solidFill>
                  <a:srgbClr val="E8EDF5"/>
                </a:solidFill>
                <a:latin typeface="Courier New" pitchFamily="34" charset="0"/>
                <a:ea typeface="Courier New" pitchFamily="34" charset="-122"/>
                <a:cs typeface="Courier New" pitchFamily="34" charset="-120"/>
              </a:rPr>
              <a:t>  &lt;head&gt;</a:t>
            </a:r>
            <a:endParaRPr lang="en-US" sz="1200" dirty="0"/>
          </a:p>
          <a:p>
            <a:pPr indent="0" marL="0">
              <a:lnSpc>
                <a:spcPts val="1536"/>
              </a:lnSpc>
              <a:buNone/>
            </a:pPr>
            <a:r>
              <a:rPr lang="en-US" sz="1200" dirty="0">
                <a:solidFill>
                  <a:srgbClr val="E8EDF5"/>
                </a:solidFill>
                <a:latin typeface="Courier New" pitchFamily="34" charset="0"/>
                <a:ea typeface="Courier New" pitchFamily="34" charset="-122"/>
                <a:cs typeface="Courier New" pitchFamily="34" charset="-120"/>
              </a:rPr>
              <a:t>    &lt;meta charset="UTF-8"&gt;</a:t>
            </a:r>
            <a:endParaRPr lang="en-US" sz="1200" dirty="0"/>
          </a:p>
          <a:p>
            <a:pPr indent="0" marL="0">
              <a:lnSpc>
                <a:spcPts val="1536"/>
              </a:lnSpc>
              <a:buNone/>
            </a:pPr>
            <a:r>
              <a:rPr lang="en-US" sz="1200" dirty="0">
                <a:solidFill>
                  <a:srgbClr val="E8EDF5"/>
                </a:solidFill>
                <a:latin typeface="Courier New" pitchFamily="34" charset="0"/>
                <a:ea typeface="Courier New" pitchFamily="34" charset="-122"/>
                <a:cs typeface="Courier New" pitchFamily="34" charset="-120"/>
              </a:rPr>
              <a:t>    &lt;meta name="viewport" content="width=device-width, initial-scale=1.0"&gt;</a:t>
            </a:r>
            <a:endParaRPr lang="en-US" sz="1200" dirty="0"/>
          </a:p>
          <a:p>
            <a:pPr indent="0" marL="0">
              <a:lnSpc>
                <a:spcPts val="1536"/>
              </a:lnSpc>
              <a:buNone/>
            </a:pPr>
            <a:r>
              <a:rPr lang="en-US" sz="1200" dirty="0">
                <a:solidFill>
                  <a:srgbClr val="E8EDF5"/>
                </a:solidFill>
                <a:latin typeface="Courier New" pitchFamily="34" charset="0"/>
                <a:ea typeface="Courier New" pitchFamily="34" charset="-122"/>
                <a:cs typeface="Courier New" pitchFamily="34" charset="-120"/>
              </a:rPr>
              <a:t>    &lt;title&gt;Sunita's Page&lt;/title&gt;</a:t>
            </a:r>
            <a:endParaRPr lang="en-US" sz="1200" dirty="0"/>
          </a:p>
          <a:p>
            <a:pPr indent="0" marL="0">
              <a:lnSpc>
                <a:spcPts val="1536"/>
              </a:lnSpc>
              <a:buNone/>
            </a:pPr>
            <a:r>
              <a:rPr lang="en-US" sz="1200" dirty="0">
                <a:solidFill>
                  <a:srgbClr val="E8EDF5"/>
                </a:solidFill>
                <a:latin typeface="Courier New" pitchFamily="34" charset="0"/>
                <a:ea typeface="Courier New" pitchFamily="34" charset="-122"/>
                <a:cs typeface="Courier New" pitchFamily="34" charset="-120"/>
              </a:rPr>
              <a:t>  &lt;/head&gt;</a:t>
            </a:r>
            <a:endParaRPr lang="en-US" sz="1200" dirty="0"/>
          </a:p>
          <a:p>
            <a:pPr indent="0" marL="0">
              <a:lnSpc>
                <a:spcPts val="1536"/>
              </a:lnSpc>
              <a:buNone/>
            </a:pPr>
            <a:r>
              <a:rPr lang="en-US" sz="1200" dirty="0">
                <a:solidFill>
                  <a:srgbClr val="E8EDF5"/>
                </a:solidFill>
                <a:latin typeface="Courier New" pitchFamily="34" charset="0"/>
                <a:ea typeface="Courier New" pitchFamily="34" charset="-122"/>
                <a:cs typeface="Courier New" pitchFamily="34" charset="-120"/>
              </a:rPr>
              <a:t>  &lt;body&gt;</a:t>
            </a:r>
            <a:endParaRPr lang="en-US" sz="1200" dirty="0"/>
          </a:p>
          <a:p>
            <a:pPr indent="0" marL="0">
              <a:lnSpc>
                <a:spcPts val="1536"/>
              </a:lnSpc>
              <a:buNone/>
            </a:pPr>
            <a:r>
              <a:rPr lang="en-US" sz="1200" dirty="0">
                <a:solidFill>
                  <a:srgbClr val="E8EDF5"/>
                </a:solidFill>
                <a:latin typeface="Courier New" pitchFamily="34" charset="0"/>
                <a:ea typeface="Courier New" pitchFamily="34" charset="-122"/>
                <a:cs typeface="Courier New" pitchFamily="34" charset="-120"/>
              </a:rPr>
              <a:t>    &lt;h1&gt;Hello, I am Sunita&lt;/h1&gt;</a:t>
            </a:r>
            <a:endParaRPr lang="en-US" sz="1200" dirty="0"/>
          </a:p>
          <a:p>
            <a:pPr indent="0" marL="0">
              <a:lnSpc>
                <a:spcPts val="1536"/>
              </a:lnSpc>
              <a:buNone/>
            </a:pPr>
            <a:r>
              <a:rPr lang="en-US" sz="1200" dirty="0">
                <a:solidFill>
                  <a:srgbClr val="E8EDF5"/>
                </a:solidFill>
                <a:latin typeface="Courier New" pitchFamily="34" charset="0"/>
                <a:ea typeface="Courier New" pitchFamily="34" charset="-122"/>
                <a:cs typeface="Courier New" pitchFamily="34" charset="-120"/>
              </a:rPr>
              <a:t>    &lt;p&gt;I am learning HTML at Tech Skills Institute.&lt;/p&gt;</a:t>
            </a:r>
            <a:endParaRPr lang="en-US" sz="1200" dirty="0"/>
          </a:p>
          <a:p>
            <a:pPr indent="0" marL="0">
              <a:lnSpc>
                <a:spcPts val="1536"/>
              </a:lnSpc>
              <a:buNone/>
            </a:pPr>
            <a:r>
              <a:rPr lang="en-US" sz="1200" dirty="0">
                <a:solidFill>
                  <a:srgbClr val="E8EDF5"/>
                </a:solidFill>
                <a:latin typeface="Courier New" pitchFamily="34" charset="0"/>
                <a:ea typeface="Courier New" pitchFamily="34" charset="-122"/>
                <a:cs typeface="Courier New" pitchFamily="34" charset="-120"/>
              </a:rPr>
              <a:t>  &lt;/body&gt;</a:t>
            </a:r>
            <a:endParaRPr lang="en-US" sz="1200" dirty="0"/>
          </a:p>
          <a:p>
            <a:pPr indent="0" marL="0">
              <a:lnSpc>
                <a:spcPts val="1536"/>
              </a:lnSpc>
              <a:buNone/>
            </a:pPr>
            <a:r>
              <a:rPr lang="en-US" sz="1200" dirty="0">
                <a:solidFill>
                  <a:srgbClr val="E8EDF5"/>
                </a:solidFill>
                <a:latin typeface="Courier New" pitchFamily="34" charset="0"/>
                <a:ea typeface="Courier New" pitchFamily="34" charset="-122"/>
                <a:cs typeface="Courier New" pitchFamily="34" charset="-120"/>
              </a:rPr>
              <a:t>&lt;/html&gt;</a:t>
            </a:r>
            <a:endParaRPr lang="en-US" sz="1200" dirty="0"/>
          </a:p>
        </p:txBody>
      </p:sp>
      <p:sp>
        <p:nvSpPr>
          <p:cNvPr id="14" name="Shape 10"/>
          <p:cNvSpPr/>
          <p:nvPr/>
        </p:nvSpPr>
        <p:spPr>
          <a:xfrm>
            <a:off x="548640" y="4279392"/>
            <a:ext cx="8046720" cy="502920"/>
          </a:xfrm>
          <a:prstGeom prst="roundRect">
            <a:avLst>
              <a:gd name="adj" fmla="val 14545"/>
            </a:avLst>
          </a:prstGeom>
          <a:solidFill>
            <a:srgbClr val="F5EBD8"/>
          </a:solidFill>
          <a:ln/>
        </p:spPr>
      </p:sp>
      <p:sp>
        <p:nvSpPr>
          <p:cNvPr id="15" name="Text 11"/>
          <p:cNvSpPr/>
          <p:nvPr/>
        </p:nvSpPr>
        <p:spPr>
          <a:xfrm>
            <a:off x="749808" y="4279392"/>
            <a:ext cx="7644384" cy="502920"/>
          </a:xfrm>
          <a:prstGeom prst="rect">
            <a:avLst/>
          </a:prstGeom>
          <a:noFill/>
          <a:ln/>
        </p:spPr>
        <p:txBody>
          <a:bodyPr wrap="square" lIns="0" tIns="0" rIns="0" bIns="0" rtlCol="0" anchor="ctr"/>
          <a:lstStyle/>
          <a:p>
            <a:pPr indent="0" marL="0">
              <a:buNone/>
            </a:pPr>
            <a:r>
              <a:rPr lang="en-US" sz="1250" b="1" dirty="0">
                <a:solidFill>
                  <a:srgbClr val="9A701F"/>
                </a:solidFill>
                <a:latin typeface="Calibri" pitchFamily="34" charset="0"/>
                <a:ea typeface="Calibri" pitchFamily="34" charset="-122"/>
                <a:cs typeface="Calibri" pitchFamily="34" charset="-120"/>
              </a:rPr>
              <a:t>lang="en"  </a:t>
            </a:r>
            <a:pPr indent="0" marL="0">
              <a:buNone/>
            </a:pPr>
            <a:r>
              <a:rPr lang="en-US" sz="1250" dirty="0">
                <a:solidFill>
                  <a:srgbClr val="2C3547"/>
                </a:solidFill>
                <a:latin typeface="Calibri" pitchFamily="34" charset="0"/>
                <a:ea typeface="Calibri" pitchFamily="34" charset="-122"/>
                <a:cs typeface="Calibri" pitchFamily="34" charset="-120"/>
              </a:rPr>
              <a:t>tells the browser and screen readers the page language. Every page, every time.</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layout-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758952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Nesting: last box opened, first box closed</a:t>
            </a:r>
            <a:endParaRPr lang="en-US" sz="2700" dirty="0"/>
          </a:p>
        </p:txBody>
      </p:sp>
      <p:sp>
        <p:nvSpPr>
          <p:cNvPr id="6" name="Shape 2"/>
          <p:cNvSpPr/>
          <p:nvPr/>
        </p:nvSpPr>
        <p:spPr>
          <a:xfrm>
            <a:off x="548640" y="1188720"/>
            <a:ext cx="3931920" cy="2148840"/>
          </a:xfrm>
          <a:prstGeom prst="roundRect">
            <a:avLst>
              <a:gd name="adj" fmla="val 3404"/>
            </a:avLst>
          </a:prstGeom>
          <a:solidFill>
            <a:srgbClr val="FBE9EA"/>
          </a:solidFill>
          <a:ln/>
        </p:spPr>
      </p:sp>
      <p:sp>
        <p:nvSpPr>
          <p:cNvPr id="7" name="Text 3"/>
          <p:cNvSpPr/>
          <p:nvPr/>
        </p:nvSpPr>
        <p:spPr>
          <a:xfrm>
            <a:off x="731520" y="1316736"/>
            <a:ext cx="3566160" cy="320040"/>
          </a:xfrm>
          <a:prstGeom prst="rect">
            <a:avLst/>
          </a:prstGeom>
          <a:noFill/>
          <a:ln/>
        </p:spPr>
        <p:txBody>
          <a:bodyPr wrap="square" lIns="0" tIns="0" rIns="0" bIns="0" rtlCol="0" anchor="ctr"/>
          <a:lstStyle/>
          <a:p>
            <a:pPr indent="0" marL="0">
              <a:buNone/>
            </a:pPr>
            <a:r>
              <a:rPr lang="en-US" sz="1500" b="1" dirty="0">
                <a:solidFill>
                  <a:srgbClr val="990011"/>
                </a:solidFill>
                <a:latin typeface="Cambria" pitchFamily="34" charset="0"/>
                <a:ea typeface="Cambria" pitchFamily="34" charset="-122"/>
                <a:cs typeface="Cambria" pitchFamily="34" charset="-120"/>
              </a:rPr>
              <a:t>Crossed boxes</a:t>
            </a:r>
            <a:endParaRPr lang="en-US" sz="1500" dirty="0"/>
          </a:p>
        </p:txBody>
      </p:sp>
      <p:sp>
        <p:nvSpPr>
          <p:cNvPr id="8" name="Text 4"/>
          <p:cNvSpPr/>
          <p:nvPr/>
        </p:nvSpPr>
        <p:spPr>
          <a:xfrm>
            <a:off x="731520" y="1737360"/>
            <a:ext cx="3566160" cy="1463040"/>
          </a:xfrm>
          <a:prstGeom prst="rect">
            <a:avLst/>
          </a:prstGeom>
          <a:noFill/>
          <a:ln/>
        </p:spPr>
        <p:txBody>
          <a:bodyPr wrap="square" lIns="0" tIns="0" rIns="0" bIns="0" rtlCol="0" anchor="t"/>
          <a:lstStyle/>
          <a:p>
            <a:pPr indent="0" marL="0">
              <a:lnSpc>
                <a:spcPts val="1700"/>
              </a:lnSpc>
              <a:buNone/>
            </a:pPr>
            <a:r>
              <a:rPr lang="en-US" sz="1150" dirty="0">
                <a:solidFill>
                  <a:srgbClr val="2C3547"/>
                </a:solidFill>
                <a:latin typeface="Courier New" pitchFamily="34" charset="0"/>
                <a:ea typeface="Courier New" pitchFamily="34" charset="-122"/>
                <a:cs typeface="Courier New" pitchFamily="34" charset="-120"/>
              </a:rPr>
              <a:t>&lt;p&gt;I live in</a:t>
            </a:r>
            <a:endParaRPr lang="en-US" sz="1150" dirty="0"/>
          </a:p>
          <a:p>
            <a:pPr indent="0" marL="0">
              <a:lnSpc>
                <a:spcPts val="1700"/>
              </a:lnSpc>
              <a:buNone/>
            </a:pPr>
            <a:r>
              <a:rPr lang="en-US" sz="1150" dirty="0">
                <a:solidFill>
                  <a:srgbClr val="2C3547"/>
                </a:solidFill>
                <a:latin typeface="Courier New" pitchFamily="34" charset="0"/>
                <a:ea typeface="Courier New" pitchFamily="34" charset="-122"/>
                <a:cs typeface="Courier New" pitchFamily="34" charset="-120"/>
              </a:rPr>
              <a:t>  &lt;strong&gt;Kathmandu&lt;/p&gt;</a:t>
            </a:r>
            <a:endParaRPr lang="en-US" sz="1150" dirty="0"/>
          </a:p>
          <a:p>
            <a:pPr indent="0" marL="0">
              <a:lnSpc>
                <a:spcPts val="1700"/>
              </a:lnSpc>
              <a:buNone/>
            </a:pPr>
            <a:r>
              <a:rPr lang="en-US" sz="1150" dirty="0">
                <a:solidFill>
                  <a:srgbClr val="2C3547"/>
                </a:solidFill>
                <a:latin typeface="Courier New" pitchFamily="34" charset="0"/>
                <a:ea typeface="Courier New" pitchFamily="34" charset="-122"/>
                <a:cs typeface="Courier New" pitchFamily="34" charset="-120"/>
              </a:rPr>
              <a:t>&lt;/strong&gt;</a:t>
            </a:r>
            <a:endParaRPr lang="en-US" sz="1150" dirty="0"/>
          </a:p>
          <a:p>
            <a:pPr indent="0" marL="0">
              <a:lnSpc>
                <a:spcPts val="1700"/>
              </a:lnSpc>
              <a:buNone/>
            </a:pPr>
            <a:endParaRPr lang="en-US" sz="1150" dirty="0"/>
          </a:p>
          <a:p>
            <a:pPr indent="0" marL="0">
              <a:lnSpc>
                <a:spcPts val="1700"/>
              </a:lnSpc>
              <a:buNone/>
            </a:pPr>
            <a:r>
              <a:rPr lang="en-US" sz="1150" dirty="0">
                <a:solidFill>
                  <a:srgbClr val="2C3547"/>
                </a:solidFill>
                <a:latin typeface="Courier New" pitchFamily="34" charset="0"/>
                <a:ea typeface="Courier New" pitchFamily="34" charset="-122"/>
                <a:cs typeface="Courier New" pitchFamily="34" charset="-120"/>
              </a:rPr>
              <a:t>&lt;p&gt; closed before &lt;strong&gt;</a:t>
            </a:r>
            <a:endParaRPr lang="en-US" sz="1150" dirty="0"/>
          </a:p>
        </p:txBody>
      </p:sp>
      <p:sp>
        <p:nvSpPr>
          <p:cNvPr id="9" name="Shape 5"/>
          <p:cNvSpPr/>
          <p:nvPr/>
        </p:nvSpPr>
        <p:spPr>
          <a:xfrm>
            <a:off x="4663440" y="1188720"/>
            <a:ext cx="3931920" cy="2148840"/>
          </a:xfrm>
          <a:prstGeom prst="roundRect">
            <a:avLst>
              <a:gd name="adj" fmla="val 3404"/>
            </a:avLst>
          </a:prstGeom>
          <a:solidFill>
            <a:srgbClr val="E8F3EA"/>
          </a:solidFill>
          <a:ln/>
        </p:spPr>
      </p:sp>
      <p:sp>
        <p:nvSpPr>
          <p:cNvPr id="10" name="Text 6"/>
          <p:cNvSpPr/>
          <p:nvPr/>
        </p:nvSpPr>
        <p:spPr>
          <a:xfrm>
            <a:off x="4846320" y="1316736"/>
            <a:ext cx="3566160" cy="320040"/>
          </a:xfrm>
          <a:prstGeom prst="rect">
            <a:avLst/>
          </a:prstGeom>
          <a:noFill/>
          <a:ln/>
        </p:spPr>
        <p:txBody>
          <a:bodyPr wrap="square" lIns="0" tIns="0" rIns="0" bIns="0" rtlCol="0" anchor="ctr"/>
          <a:lstStyle/>
          <a:p>
            <a:pPr indent="0" marL="0">
              <a:buNone/>
            </a:pPr>
            <a:r>
              <a:rPr lang="en-US" sz="1500" b="1" dirty="0">
                <a:solidFill>
                  <a:srgbClr val="1E6B34"/>
                </a:solidFill>
                <a:latin typeface="Cambria" pitchFamily="34" charset="0"/>
                <a:ea typeface="Cambria" pitchFamily="34" charset="-122"/>
                <a:cs typeface="Cambria" pitchFamily="34" charset="-120"/>
              </a:rPr>
              <a:t>Last opened, first closed</a:t>
            </a:r>
            <a:endParaRPr lang="en-US" sz="1500" dirty="0"/>
          </a:p>
        </p:txBody>
      </p:sp>
      <p:sp>
        <p:nvSpPr>
          <p:cNvPr id="11" name="Text 7"/>
          <p:cNvSpPr/>
          <p:nvPr/>
        </p:nvSpPr>
        <p:spPr>
          <a:xfrm>
            <a:off x="4846320" y="1737360"/>
            <a:ext cx="3566160" cy="1463040"/>
          </a:xfrm>
          <a:prstGeom prst="rect">
            <a:avLst/>
          </a:prstGeom>
          <a:noFill/>
          <a:ln/>
        </p:spPr>
        <p:txBody>
          <a:bodyPr wrap="square" lIns="0" tIns="0" rIns="0" bIns="0" rtlCol="0" anchor="t"/>
          <a:lstStyle/>
          <a:p>
            <a:pPr indent="0" marL="0">
              <a:lnSpc>
                <a:spcPts val="1700"/>
              </a:lnSpc>
              <a:buNone/>
            </a:pPr>
            <a:r>
              <a:rPr lang="en-US" sz="1150" dirty="0">
                <a:solidFill>
                  <a:srgbClr val="2C3547"/>
                </a:solidFill>
                <a:latin typeface="Courier New" pitchFamily="34" charset="0"/>
                <a:ea typeface="Courier New" pitchFamily="34" charset="-122"/>
                <a:cs typeface="Courier New" pitchFamily="34" charset="-120"/>
              </a:rPr>
              <a:t>&lt;p&gt;I live in</a:t>
            </a:r>
            <a:endParaRPr lang="en-US" sz="1150" dirty="0"/>
          </a:p>
          <a:p>
            <a:pPr indent="0" marL="0">
              <a:lnSpc>
                <a:spcPts val="1700"/>
              </a:lnSpc>
              <a:buNone/>
            </a:pPr>
            <a:r>
              <a:rPr lang="en-US" sz="1150" dirty="0">
                <a:solidFill>
                  <a:srgbClr val="2C3547"/>
                </a:solidFill>
                <a:latin typeface="Courier New" pitchFamily="34" charset="0"/>
                <a:ea typeface="Courier New" pitchFamily="34" charset="-122"/>
                <a:cs typeface="Courier New" pitchFamily="34" charset="-120"/>
              </a:rPr>
              <a:t>  &lt;strong&gt;Kathmandu&lt;/strong&gt;</a:t>
            </a:r>
            <a:endParaRPr lang="en-US" sz="1150" dirty="0"/>
          </a:p>
          <a:p>
            <a:pPr indent="0" marL="0">
              <a:lnSpc>
                <a:spcPts val="1700"/>
              </a:lnSpc>
              <a:buNone/>
            </a:pPr>
            <a:r>
              <a:rPr lang="en-US" sz="1150" dirty="0">
                <a:solidFill>
                  <a:srgbClr val="2C3547"/>
                </a:solidFill>
                <a:latin typeface="Courier New" pitchFamily="34" charset="0"/>
                <a:ea typeface="Courier New" pitchFamily="34" charset="-122"/>
                <a:cs typeface="Courier New" pitchFamily="34" charset="-120"/>
              </a:rPr>
              <a:t>&lt;/p&gt;</a:t>
            </a:r>
            <a:endParaRPr lang="en-US" sz="1150" dirty="0"/>
          </a:p>
          <a:p>
            <a:pPr indent="0" marL="0">
              <a:lnSpc>
                <a:spcPts val="1700"/>
              </a:lnSpc>
              <a:buNone/>
            </a:pPr>
            <a:endParaRPr lang="en-US" sz="1150" dirty="0"/>
          </a:p>
          <a:p>
            <a:pPr indent="0" marL="0">
              <a:lnSpc>
                <a:spcPts val="1700"/>
              </a:lnSpc>
              <a:buNone/>
            </a:pPr>
            <a:r>
              <a:rPr lang="en-US" sz="1150" dirty="0">
                <a:solidFill>
                  <a:srgbClr val="2C3547"/>
                </a:solidFill>
                <a:latin typeface="Courier New" pitchFamily="34" charset="0"/>
                <a:ea typeface="Courier New" pitchFamily="34" charset="-122"/>
                <a:cs typeface="Courier New" pitchFamily="34" charset="-120"/>
              </a:rPr>
              <a:t>&lt;strong&gt; closes first, then &lt;p&gt;</a:t>
            </a:r>
            <a:endParaRPr lang="en-US" sz="1150" dirty="0"/>
          </a:p>
        </p:txBody>
      </p:sp>
      <p:sp>
        <p:nvSpPr>
          <p:cNvPr id="12" name="Shape 8"/>
          <p:cNvSpPr/>
          <p:nvPr/>
        </p:nvSpPr>
        <p:spPr>
          <a:xfrm>
            <a:off x="548640" y="3520440"/>
            <a:ext cx="8046720" cy="685800"/>
          </a:xfrm>
          <a:prstGeom prst="roundRect">
            <a:avLst>
              <a:gd name="adj" fmla="val 10667"/>
            </a:avLst>
          </a:prstGeom>
          <a:solidFill>
            <a:srgbClr val="FFF3F4"/>
          </a:solidFill>
          <a:ln/>
        </p:spPr>
      </p:sp>
      <p:sp>
        <p:nvSpPr>
          <p:cNvPr id="13" name="Text 9"/>
          <p:cNvSpPr/>
          <p:nvPr/>
        </p:nvSpPr>
        <p:spPr>
          <a:xfrm>
            <a:off x="868680" y="3657600"/>
            <a:ext cx="7406640" cy="411480"/>
          </a:xfrm>
          <a:prstGeom prst="rect">
            <a:avLst/>
          </a:prstGeom>
          <a:noFill/>
          <a:ln/>
        </p:spPr>
        <p:txBody>
          <a:bodyPr wrap="square" lIns="0" tIns="0" rIns="0" bIns="0" rtlCol="0" anchor="ctr"/>
          <a:lstStyle/>
          <a:p>
            <a:pPr algn="ctr" indent="0" marL="0">
              <a:buNone/>
            </a:pPr>
            <a:r>
              <a:rPr lang="en-US" sz="2000" b="1" dirty="0">
                <a:solidFill>
                  <a:srgbClr val="14213D"/>
                </a:solidFill>
                <a:latin typeface="Cambria" pitchFamily="34" charset="0"/>
                <a:ea typeface="Cambria" pitchFamily="34" charset="-122"/>
                <a:cs typeface="Cambria" pitchFamily="34" charset="-120"/>
              </a:rPr>
              <a:t>Open p → open strong → close strong → close p</a:t>
            </a:r>
            <a:endParaRPr lang="en-US" sz="2000" dirty="0"/>
          </a:p>
        </p:txBody>
      </p:sp>
      <p:sp>
        <p:nvSpPr>
          <p:cNvPr id="14" name="Shape 10"/>
          <p:cNvSpPr/>
          <p:nvPr/>
        </p:nvSpPr>
        <p:spPr>
          <a:xfrm>
            <a:off x="548640" y="4343400"/>
            <a:ext cx="8046720" cy="438912"/>
          </a:xfrm>
          <a:prstGeom prst="roundRect">
            <a:avLst>
              <a:gd name="adj" fmla="val 16667"/>
            </a:avLst>
          </a:prstGeom>
          <a:solidFill>
            <a:srgbClr val="F5EBD8"/>
          </a:solidFill>
          <a:ln/>
        </p:spPr>
      </p:sp>
      <p:sp>
        <p:nvSpPr>
          <p:cNvPr id="15" name="Text 11"/>
          <p:cNvSpPr/>
          <p:nvPr/>
        </p:nvSpPr>
        <p:spPr>
          <a:xfrm>
            <a:off x="749808" y="4343400"/>
            <a:ext cx="7644384" cy="438912"/>
          </a:xfrm>
          <a:prstGeom prst="rect">
            <a:avLst/>
          </a:prstGeom>
          <a:noFill/>
          <a:ln/>
        </p:spPr>
        <p:txBody>
          <a:bodyPr wrap="square" lIns="0" tIns="0" rIns="0" bIns="0" rtlCol="0" anchor="ctr"/>
          <a:lstStyle/>
          <a:p>
            <a:pPr indent="0" marL="0">
              <a:buNone/>
            </a:pPr>
            <a:r>
              <a:rPr lang="en-US" sz="1250" b="1" dirty="0">
                <a:solidFill>
                  <a:srgbClr val="9A701F"/>
                </a:solidFill>
                <a:latin typeface="Calibri" pitchFamily="34" charset="0"/>
                <a:ea typeface="Calibri" pitchFamily="34" charset="-122"/>
                <a:cs typeface="Calibri" pitchFamily="34" charset="-120"/>
              </a:rPr>
              <a:t>Indent 2 spaces per level.  </a:t>
            </a:r>
            <a:pPr indent="0" marL="0">
              <a:buNone/>
            </a:pPr>
            <a:r>
              <a:rPr lang="en-US" sz="1250" dirty="0">
                <a:solidFill>
                  <a:srgbClr val="2C3547"/>
                </a:solidFill>
                <a:latin typeface="Calibri" pitchFamily="34" charset="0"/>
                <a:ea typeface="Calibri" pitchFamily="34" charset="-122"/>
                <a:cs typeface="Calibri" pitchFamily="34" charset="-120"/>
              </a:rPr>
              <a:t>Shift+Alt+F formats the file and shows the boxes.</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edit-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612648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Comments + head = parcel label</a:t>
            </a:r>
            <a:endParaRPr lang="en-US" sz="2700" dirty="0"/>
          </a:p>
        </p:txBody>
      </p:sp>
      <p:sp>
        <p:nvSpPr>
          <p:cNvPr id="5" name="Text 2"/>
          <p:cNvSpPr/>
          <p:nvPr/>
        </p:nvSpPr>
        <p:spPr>
          <a:xfrm>
            <a:off x="7315200" y="402336"/>
            <a:ext cx="1417320" cy="310896"/>
          </a:xfrm>
          <a:prstGeom prst="roundRect">
            <a:avLst>
              <a:gd name="adj" fmla="val 50000"/>
            </a:avLst>
          </a:prstGeom>
          <a:solidFill>
            <a:srgbClr val="F5EBD8"/>
          </a:solidFill>
          <a:ln/>
        </p:spPr>
        <p:txBody>
          <a:bodyPr wrap="square" lIns="0" tIns="0" rIns="0" bIns="0" rtlCol="0" anchor="ctr"/>
          <a:lstStyle/>
          <a:p>
            <a:pPr algn="ctr" indent="0" marL="0">
              <a:buNone/>
            </a:pPr>
            <a:r>
              <a:rPr lang="en-US" sz="1100" b="1" spc="200" kern="0" dirty="0">
                <a:solidFill>
                  <a:srgbClr val="9A701F"/>
                </a:solidFill>
                <a:latin typeface="Calibri" pitchFamily="34" charset="0"/>
                <a:ea typeface="Calibri" pitchFamily="34" charset="-122"/>
                <a:cs typeface="Calibri" pitchFamily="34" charset="-120"/>
              </a:rPr>
              <a:t>ACTIVITY</a:t>
            </a:r>
            <a:endParaRPr lang="en-US" sz="1100" dirty="0"/>
          </a:p>
        </p:txBody>
      </p:sp>
      <p:sp>
        <p:nvSpPr>
          <p:cNvPr id="7" name="Text 3"/>
          <p:cNvSpPr/>
          <p:nvPr/>
        </p:nvSpPr>
        <p:spPr>
          <a:xfrm>
            <a:off x="548640" y="1078992"/>
            <a:ext cx="8046720" cy="274320"/>
          </a:xfrm>
          <a:prstGeom prst="rect">
            <a:avLst/>
          </a:prstGeom>
          <a:noFill/>
          <a:ln/>
        </p:spPr>
        <p:txBody>
          <a:bodyPr wrap="square" lIns="0" tIns="0" rIns="0" bIns="0" rtlCol="0" anchor="ctr"/>
          <a:lstStyle/>
          <a:p>
            <a:pPr indent="0" marL="0">
              <a:buNone/>
            </a:pPr>
            <a:r>
              <a:rPr lang="en-US" sz="1300" b="1" dirty="0">
                <a:solidFill>
                  <a:srgbClr val="990011"/>
                </a:solidFill>
                <a:latin typeface="Calibri" pitchFamily="34" charset="0"/>
                <a:ea typeface="Calibri" pitchFamily="34" charset="-122"/>
                <a:cs typeface="Calibri" pitchFamily="34" charset="-120"/>
              </a:rPr>
              <a:t>Code-along  ·  2 min  ·  type with me  ·  W2D1/instructor-demos/B3-skeleton/step-04-nesting-comments</a:t>
            </a:r>
            <a:endParaRPr lang="en-US" sz="1300" dirty="0"/>
          </a:p>
        </p:txBody>
      </p:sp>
      <p:sp>
        <p:nvSpPr>
          <p:cNvPr id="8" name="Shape 4"/>
          <p:cNvSpPr/>
          <p:nvPr/>
        </p:nvSpPr>
        <p:spPr>
          <a:xfrm>
            <a:off x="548640" y="1463040"/>
            <a:ext cx="5486400" cy="2623312"/>
          </a:xfrm>
          <a:prstGeom prst="roundRect">
            <a:avLst>
              <a:gd name="adj" fmla="val 2789"/>
            </a:avLst>
          </a:prstGeom>
          <a:solidFill>
            <a:srgbClr val="16274A"/>
          </a:solidFill>
          <a:ln/>
        </p:spPr>
      </p:sp>
      <p:sp>
        <p:nvSpPr>
          <p:cNvPr id="9" name="Shape 5"/>
          <p:cNvSpPr/>
          <p:nvPr/>
        </p:nvSpPr>
        <p:spPr>
          <a:xfrm>
            <a:off x="694944" y="1581912"/>
            <a:ext cx="82296" cy="82296"/>
          </a:xfrm>
          <a:prstGeom prst="ellipse">
            <a:avLst/>
          </a:prstGeom>
          <a:solidFill>
            <a:srgbClr val="FF5F56"/>
          </a:solidFill>
          <a:ln/>
        </p:spPr>
      </p:sp>
      <p:sp>
        <p:nvSpPr>
          <p:cNvPr id="10" name="Shape 6"/>
          <p:cNvSpPr/>
          <p:nvPr/>
        </p:nvSpPr>
        <p:spPr>
          <a:xfrm>
            <a:off x="841248" y="1581912"/>
            <a:ext cx="82296" cy="82296"/>
          </a:xfrm>
          <a:prstGeom prst="ellipse">
            <a:avLst/>
          </a:prstGeom>
          <a:solidFill>
            <a:srgbClr val="FFBD2E"/>
          </a:solidFill>
          <a:ln/>
        </p:spPr>
      </p:sp>
      <p:sp>
        <p:nvSpPr>
          <p:cNvPr id="11" name="Shape 7"/>
          <p:cNvSpPr/>
          <p:nvPr/>
        </p:nvSpPr>
        <p:spPr>
          <a:xfrm>
            <a:off x="987552" y="1581912"/>
            <a:ext cx="82296" cy="82296"/>
          </a:xfrm>
          <a:prstGeom prst="ellipse">
            <a:avLst/>
          </a:prstGeom>
          <a:solidFill>
            <a:srgbClr val="27C93F"/>
          </a:solidFill>
          <a:ln/>
        </p:spPr>
      </p:sp>
      <p:sp>
        <p:nvSpPr>
          <p:cNvPr id="12" name="Text 8"/>
          <p:cNvSpPr/>
          <p:nvPr/>
        </p:nvSpPr>
        <p:spPr>
          <a:xfrm>
            <a:off x="1188720" y="1517904"/>
            <a:ext cx="4663440" cy="219456"/>
          </a:xfrm>
          <a:prstGeom prst="rect">
            <a:avLst/>
          </a:prstGeom>
          <a:noFill/>
          <a:ln/>
        </p:spPr>
        <p:txBody>
          <a:bodyPr wrap="square" lIns="0" tIns="0" rIns="0" bIns="0" rtlCol="0" anchor="ctr"/>
          <a:lstStyle/>
          <a:p>
            <a:pPr indent="0" marL="0">
              <a:buNone/>
            </a:pPr>
            <a:r>
              <a:rPr lang="en-US" sz="1000" dirty="0">
                <a:solidFill>
                  <a:srgbClr val="9AA8BF"/>
                </a:solidFill>
                <a:latin typeface="Courier New" pitchFamily="34" charset="0"/>
                <a:ea typeface="Courier New" pitchFamily="34" charset="-122"/>
                <a:cs typeface="Courier New" pitchFamily="34" charset="-120"/>
              </a:rPr>
              <a:t>index.html  (inside &lt;body&gt;)</a:t>
            </a:r>
            <a:endParaRPr lang="en-US" sz="1000" dirty="0"/>
          </a:p>
        </p:txBody>
      </p:sp>
      <p:sp>
        <p:nvSpPr>
          <p:cNvPr id="13" name="Text 9"/>
          <p:cNvSpPr/>
          <p:nvPr/>
        </p:nvSpPr>
        <p:spPr>
          <a:xfrm>
            <a:off x="749808" y="1810512"/>
            <a:ext cx="5120640" cy="2166112"/>
          </a:xfrm>
          <a:prstGeom prst="rect">
            <a:avLst/>
          </a:prstGeom>
          <a:noFill/>
          <a:ln/>
        </p:spPr>
        <p:txBody>
          <a:bodyPr wrap="square" lIns="0" tIns="0" rIns="0" bIns="0" rtlCol="0" anchor="t"/>
          <a:lstStyle/>
          <a:p>
            <a:pPr indent="0" marL="0">
              <a:lnSpc>
                <a:spcPts val="1472"/>
              </a:lnSpc>
              <a:buNone/>
            </a:pPr>
            <a:r>
              <a:rPr lang="en-US" sz="1150" dirty="0">
                <a:solidFill>
                  <a:srgbClr val="E8EDF5"/>
                </a:solidFill>
                <a:latin typeface="Courier New" pitchFamily="34" charset="0"/>
                <a:ea typeface="Courier New" pitchFamily="34" charset="-122"/>
                <a:cs typeface="Courier New" pitchFamily="34" charset="-120"/>
              </a:rPr>
              <a:t>&lt;!-- My introduction --&gt;</a:t>
            </a:r>
            <a:endParaRPr lang="en-US" sz="1150" dirty="0"/>
          </a:p>
          <a:p>
            <a:pPr indent="0" marL="0">
              <a:lnSpc>
                <a:spcPts val="1472"/>
              </a:lnSpc>
              <a:buNone/>
            </a:pPr>
            <a:r>
              <a:rPr lang="en-US" sz="1150" dirty="0">
                <a:solidFill>
                  <a:srgbClr val="E8EDF5"/>
                </a:solidFill>
                <a:latin typeface="Courier New" pitchFamily="34" charset="0"/>
                <a:ea typeface="Courier New" pitchFamily="34" charset="-122"/>
                <a:cs typeface="Courier New" pitchFamily="34" charset="-120"/>
              </a:rPr>
              <a:t>&lt;h1&gt;Hello, I am Sunita&lt;/h1&gt;</a:t>
            </a:r>
            <a:endParaRPr lang="en-US" sz="1150" dirty="0"/>
          </a:p>
          <a:p>
            <a:pPr indent="0" marL="0">
              <a:lnSpc>
                <a:spcPts val="1472"/>
              </a:lnSpc>
              <a:buNone/>
            </a:pPr>
            <a:r>
              <a:rPr lang="en-US" sz="1150" dirty="0">
                <a:solidFill>
                  <a:srgbClr val="E8EDF5"/>
                </a:solidFill>
                <a:latin typeface="Courier New" pitchFamily="34" charset="0"/>
                <a:ea typeface="Courier New" pitchFamily="34" charset="-122"/>
                <a:cs typeface="Courier New" pitchFamily="34" charset="-120"/>
              </a:rPr>
              <a:t>&lt;p&gt;I am learning &lt;strong&gt;HTML&lt;/strong&gt;</a:t>
            </a:r>
            <a:endParaRPr lang="en-US" sz="1150" dirty="0"/>
          </a:p>
          <a:p>
            <a:pPr indent="0" marL="0">
              <a:lnSpc>
                <a:spcPts val="1472"/>
              </a:lnSpc>
              <a:buNone/>
            </a:pPr>
            <a:r>
              <a:rPr lang="en-US" sz="1150" dirty="0">
                <a:solidFill>
                  <a:srgbClr val="E8EDF5"/>
                </a:solidFill>
                <a:latin typeface="Courier New" pitchFamily="34" charset="0"/>
                <a:ea typeface="Courier New" pitchFamily="34" charset="-122"/>
                <a:cs typeface="Courier New" pitchFamily="34" charset="-120"/>
              </a:rPr>
              <a:t>   at Tech Skills Institute.&lt;/p&gt;</a:t>
            </a:r>
            <a:endParaRPr lang="en-US" sz="1150" dirty="0"/>
          </a:p>
          <a:p>
            <a:pPr indent="0" marL="0">
              <a:lnSpc>
                <a:spcPts val="1472"/>
              </a:lnSpc>
              <a:buNone/>
            </a:pPr>
            <a:r>
              <a:rPr lang="en-US" sz="1150" dirty="0">
                <a:solidFill>
                  <a:srgbClr val="E8EDF5"/>
                </a:solidFill>
                <a:latin typeface="Courier New" pitchFamily="34" charset="0"/>
                <a:ea typeface="Courier New" pitchFamily="34" charset="-122"/>
                <a:cs typeface="Courier New" pitchFamily="34" charset="-120"/>
              </a:rPr>
              <a:t>&lt;p&gt;I live in &lt;em&gt;Patan&lt;/em&gt;, near the Durbar Square.&lt;/p&gt;</a:t>
            </a:r>
            <a:endParaRPr lang="en-US" sz="1150" dirty="0"/>
          </a:p>
          <a:p>
            <a:pPr indent="0" marL="0">
              <a:lnSpc>
                <a:spcPts val="1472"/>
              </a:lnSpc>
              <a:buNone/>
            </a:pPr>
            <a:r>
              <a:rPr lang="en-US" sz="1150" dirty="0">
                <a:solidFill>
                  <a:srgbClr val="E8EDF5"/>
                </a:solidFill>
                <a:latin typeface="Courier New" pitchFamily="34" charset="0"/>
                <a:ea typeface="Courier New" pitchFamily="34" charset="-122"/>
                <a:cs typeface="Courier New" pitchFamily="34" charset="-120"/>
              </a:rPr>
              <a:t>&lt;!-- My favourite things --&gt;</a:t>
            </a:r>
            <a:endParaRPr lang="en-US" sz="1150" dirty="0"/>
          </a:p>
          <a:p>
            <a:pPr indent="0" marL="0">
              <a:lnSpc>
                <a:spcPts val="1472"/>
              </a:lnSpc>
              <a:buNone/>
            </a:pPr>
            <a:r>
              <a:rPr lang="en-US" sz="1150" dirty="0">
                <a:solidFill>
                  <a:srgbClr val="E8EDF5"/>
                </a:solidFill>
                <a:latin typeface="Courier New" pitchFamily="34" charset="0"/>
                <a:ea typeface="Courier New" pitchFamily="34" charset="-122"/>
                <a:cs typeface="Courier New" pitchFamily="34" charset="-120"/>
              </a:rPr>
              <a:t>&lt;h2&gt;My favourite things&lt;/h2&gt;</a:t>
            </a:r>
            <a:endParaRPr lang="en-US" sz="1150" dirty="0"/>
          </a:p>
          <a:p>
            <a:pPr indent="0" marL="0">
              <a:lnSpc>
                <a:spcPts val="1472"/>
              </a:lnSpc>
              <a:buNone/>
            </a:pPr>
            <a:r>
              <a:rPr lang="en-US" sz="1150" dirty="0">
                <a:solidFill>
                  <a:srgbClr val="E8EDF5"/>
                </a:solidFill>
                <a:latin typeface="Courier New" pitchFamily="34" charset="0"/>
                <a:ea typeface="Courier New" pitchFamily="34" charset="-122"/>
                <a:cs typeface="Courier New" pitchFamily="34" charset="-120"/>
              </a:rPr>
              <a:t>&lt;ul&gt;</a:t>
            </a:r>
            <a:endParaRPr lang="en-US" sz="1150" dirty="0"/>
          </a:p>
          <a:p>
            <a:pPr indent="0" marL="0">
              <a:lnSpc>
                <a:spcPts val="1472"/>
              </a:lnSpc>
              <a:buNone/>
            </a:pPr>
            <a:r>
              <a:rPr lang="en-US" sz="1150" dirty="0">
                <a:solidFill>
                  <a:srgbClr val="E8EDF5"/>
                </a:solidFill>
                <a:latin typeface="Courier New" pitchFamily="34" charset="0"/>
                <a:ea typeface="Courier New" pitchFamily="34" charset="-122"/>
                <a:cs typeface="Courier New" pitchFamily="34" charset="-120"/>
              </a:rPr>
              <a:t>  &lt;li&gt;Momo with achar&lt;/li&gt;</a:t>
            </a:r>
            <a:endParaRPr lang="en-US" sz="1150" dirty="0"/>
          </a:p>
          <a:p>
            <a:pPr indent="0" marL="0">
              <a:lnSpc>
                <a:spcPts val="1472"/>
              </a:lnSpc>
              <a:buNone/>
            </a:pPr>
            <a:r>
              <a:rPr lang="en-US" sz="1150" dirty="0">
                <a:solidFill>
                  <a:srgbClr val="E8EDF5"/>
                </a:solidFill>
                <a:latin typeface="Courier New" pitchFamily="34" charset="0"/>
                <a:ea typeface="Courier New" pitchFamily="34" charset="-122"/>
                <a:cs typeface="Courier New" pitchFamily="34" charset="-120"/>
              </a:rPr>
              <a:t>  &lt;li&gt;Evening walks in Patan&lt;/li&gt;</a:t>
            </a:r>
            <a:endParaRPr lang="en-US" sz="1150" dirty="0"/>
          </a:p>
          <a:p>
            <a:pPr indent="0" marL="0">
              <a:lnSpc>
                <a:spcPts val="1472"/>
              </a:lnSpc>
              <a:buNone/>
            </a:pPr>
            <a:r>
              <a:rPr lang="en-US" sz="1150" dirty="0">
                <a:solidFill>
                  <a:srgbClr val="E8EDF5"/>
                </a:solidFill>
                <a:latin typeface="Courier New" pitchFamily="34" charset="0"/>
                <a:ea typeface="Courier New" pitchFamily="34" charset="-122"/>
                <a:cs typeface="Courier New" pitchFamily="34" charset="-120"/>
              </a:rPr>
              <a:t>&lt;/ul&gt;</a:t>
            </a:r>
            <a:endParaRPr lang="en-US" sz="1150" dirty="0"/>
          </a:p>
        </p:txBody>
      </p:sp>
      <p:sp>
        <p:nvSpPr>
          <p:cNvPr id="14" name="Shape 10"/>
          <p:cNvSpPr/>
          <p:nvPr/>
        </p:nvSpPr>
        <p:spPr>
          <a:xfrm>
            <a:off x="6217920" y="1463040"/>
            <a:ext cx="2377440" cy="2623312"/>
          </a:xfrm>
          <a:prstGeom prst="roundRect">
            <a:avLst>
              <a:gd name="adj" fmla="val 3077"/>
            </a:avLst>
          </a:prstGeom>
          <a:solidFill>
            <a:srgbClr val="FFF3F4"/>
          </a:solidFill>
          <a:ln/>
        </p:spPr>
      </p:sp>
      <p:sp>
        <p:nvSpPr>
          <p:cNvPr id="15" name="Text 11"/>
          <p:cNvSpPr/>
          <p:nvPr/>
        </p:nvSpPr>
        <p:spPr>
          <a:xfrm>
            <a:off x="6400800" y="1591056"/>
            <a:ext cx="2011680" cy="320040"/>
          </a:xfrm>
          <a:prstGeom prst="rect">
            <a:avLst/>
          </a:prstGeom>
          <a:noFill/>
          <a:ln/>
        </p:spPr>
        <p:txBody>
          <a:bodyPr wrap="square" lIns="0" tIns="0" rIns="0" bIns="0" rtlCol="0" anchor="ctr"/>
          <a:lstStyle/>
          <a:p>
            <a:pPr indent="0" marL="0">
              <a:buNone/>
            </a:pPr>
            <a:r>
              <a:rPr lang="en-US" sz="1600" b="1" dirty="0">
                <a:solidFill>
                  <a:srgbClr val="990011"/>
                </a:solidFill>
                <a:latin typeface="Cambria" pitchFamily="34" charset="0"/>
                <a:ea typeface="Cambria" pitchFamily="34" charset="-122"/>
                <a:cs typeface="Cambria" pitchFamily="34" charset="-120"/>
              </a:rPr>
              <a:t>Comments</a:t>
            </a:r>
            <a:endParaRPr lang="en-US" sz="1600" dirty="0"/>
          </a:p>
        </p:txBody>
      </p:sp>
      <p:sp>
        <p:nvSpPr>
          <p:cNvPr id="16" name="Text 12"/>
          <p:cNvSpPr/>
          <p:nvPr/>
        </p:nvSpPr>
        <p:spPr>
          <a:xfrm>
            <a:off x="6400800" y="1965960"/>
            <a:ext cx="2011680" cy="1983232"/>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&lt;!-- a comment --&gt;</a:t>
            </a: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The browser skips it.</a:t>
            </a:r>
            <a:endParaRPr lang="en-US" sz="1250" dirty="0"/>
          </a:p>
          <a:p>
            <a:pPr indent="0" marL="0">
              <a:buNone/>
            </a:pP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&lt;head&gt; = the parcel label: facts about the page.</a:t>
            </a:r>
            <a:endParaRPr lang="en-US" sz="1250" dirty="0"/>
          </a:p>
          <a:p>
            <a:pPr indent="0" marL="0">
              <a:buNone/>
            </a:pP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&lt;body&gt; = what is inside the parcel.</a:t>
            </a:r>
            <a:endParaRPr lang="en-US" sz="1250" dirty="0"/>
          </a:p>
        </p:txBody>
      </p:sp>
      <p:sp>
        <p:nvSpPr>
          <p:cNvPr id="17" name="Shape 13"/>
          <p:cNvSpPr/>
          <p:nvPr/>
        </p:nvSpPr>
        <p:spPr>
          <a:xfrm>
            <a:off x="548640" y="4279392"/>
            <a:ext cx="8046720" cy="502920"/>
          </a:xfrm>
          <a:prstGeom prst="roundRect">
            <a:avLst>
              <a:gd name="adj" fmla="val 14545"/>
            </a:avLst>
          </a:prstGeom>
          <a:solidFill>
            <a:srgbClr val="F5EBD8"/>
          </a:solidFill>
          <a:ln/>
        </p:spPr>
      </p:sp>
      <p:sp>
        <p:nvSpPr>
          <p:cNvPr id="18" name="Text 14"/>
          <p:cNvSpPr/>
          <p:nvPr/>
        </p:nvSpPr>
        <p:spPr>
          <a:xfrm>
            <a:off x="749808" y="4279392"/>
            <a:ext cx="7644384" cy="502920"/>
          </a:xfrm>
          <a:prstGeom prst="rect">
            <a:avLst/>
          </a:prstGeom>
          <a:noFill/>
          <a:ln/>
        </p:spPr>
        <p:txBody>
          <a:bodyPr wrap="square" lIns="0" tIns="0" rIns="0" bIns="0" rtlCol="0" anchor="ctr"/>
          <a:lstStyle/>
          <a:p>
            <a:pPr indent="0" marL="0">
              <a:buNone/>
            </a:pPr>
            <a:r>
              <a:rPr lang="en-US" sz="1250" b="1" dirty="0">
                <a:solidFill>
                  <a:srgbClr val="9A701F"/>
                </a:solidFill>
                <a:latin typeface="Calibri" pitchFamily="34" charset="0"/>
                <a:ea typeface="Calibri" pitchFamily="34" charset="-122"/>
                <a:cs typeface="Calibri" pitchFamily="34" charset="-120"/>
              </a:rPr>
              <a:t>Careful:  </a:t>
            </a:r>
            <a:pPr indent="0" marL="0">
              <a:buNone/>
            </a:pPr>
            <a:r>
              <a:rPr lang="en-US" sz="1250" dirty="0">
                <a:solidFill>
                  <a:srgbClr val="2C3547"/>
                </a:solidFill>
                <a:latin typeface="Calibri" pitchFamily="34" charset="0"/>
                <a:ea typeface="Calibri" pitchFamily="34" charset="-122"/>
                <a:cs typeface="Calibri" pitchFamily="34" charset="-120"/>
              </a:rPr>
              <a:t>-&gt; is not --&gt;. A comment that never closes hides everything after it.</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edit-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612648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D1-03  ·  Skeleton from memory</a:t>
            </a:r>
            <a:endParaRPr lang="en-US" sz="2700" dirty="0"/>
          </a:p>
        </p:txBody>
      </p:sp>
      <p:sp>
        <p:nvSpPr>
          <p:cNvPr id="5" name="Text 2"/>
          <p:cNvSpPr/>
          <p:nvPr/>
        </p:nvSpPr>
        <p:spPr>
          <a:xfrm>
            <a:off x="7315200" y="402336"/>
            <a:ext cx="1417320" cy="310896"/>
          </a:xfrm>
          <a:prstGeom prst="roundRect">
            <a:avLst>
              <a:gd name="adj" fmla="val 50000"/>
            </a:avLst>
          </a:prstGeom>
          <a:solidFill>
            <a:srgbClr val="F5EBD8"/>
          </a:solidFill>
          <a:ln/>
        </p:spPr>
        <p:txBody>
          <a:bodyPr wrap="square" lIns="0" tIns="0" rIns="0" bIns="0" rtlCol="0" anchor="ctr"/>
          <a:lstStyle/>
          <a:p>
            <a:pPr algn="ctr" indent="0" marL="0">
              <a:buNone/>
            </a:pPr>
            <a:r>
              <a:rPr lang="en-US" sz="1100" b="1" spc="200" kern="0" dirty="0">
                <a:solidFill>
                  <a:srgbClr val="9A701F"/>
                </a:solidFill>
                <a:latin typeface="Calibri" pitchFamily="34" charset="0"/>
                <a:ea typeface="Calibri" pitchFamily="34" charset="-122"/>
                <a:cs typeface="Calibri" pitchFamily="34" charset="-120"/>
              </a:rPr>
              <a:t>ACTIVITY</a:t>
            </a:r>
            <a:endParaRPr lang="en-US" sz="1100" dirty="0"/>
          </a:p>
        </p:txBody>
      </p:sp>
      <p:sp>
        <p:nvSpPr>
          <p:cNvPr id="7" name="Text 3"/>
          <p:cNvSpPr/>
          <p:nvPr/>
        </p:nvSpPr>
        <p:spPr>
          <a:xfrm>
            <a:off x="548640" y="1078992"/>
            <a:ext cx="8046720" cy="274320"/>
          </a:xfrm>
          <a:prstGeom prst="rect">
            <a:avLst/>
          </a:prstGeom>
          <a:noFill/>
          <a:ln/>
        </p:spPr>
        <p:txBody>
          <a:bodyPr wrap="square" lIns="0" tIns="0" rIns="0" bIns="0" rtlCol="0" anchor="ctr"/>
          <a:lstStyle/>
          <a:p>
            <a:pPr indent="0" marL="0">
              <a:buNone/>
            </a:pPr>
            <a:r>
              <a:rPr lang="en-US" sz="1300" b="1" dirty="0">
                <a:solidFill>
                  <a:srgbClr val="990011"/>
                </a:solidFill>
                <a:latin typeface="Calibri" pitchFamily="34" charset="0"/>
                <a:ea typeface="Calibri" pitchFamily="34" charset="-122"/>
                <a:cs typeface="Calibri" pitchFamily="34" charset="-120"/>
              </a:rPr>
              <a:t>4 minutes  ·  solo  ·  W2D1/classwork/D1-03-skeleton-from-memory/</a:t>
            </a:r>
            <a:endParaRPr lang="en-US" sz="1300" dirty="0"/>
          </a:p>
        </p:txBody>
      </p:sp>
      <p:sp>
        <p:nvSpPr>
          <p:cNvPr id="8" name="Text 4"/>
          <p:cNvSpPr/>
          <p:nvPr/>
        </p:nvSpPr>
        <p:spPr>
          <a:xfrm>
            <a:off x="566928" y="15544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5"/>
          <p:cNvSpPr/>
          <p:nvPr/>
        </p:nvSpPr>
        <p:spPr>
          <a:xfrm>
            <a:off x="1005840" y="15270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Close the notes. Close slide 16.</a:t>
            </a:r>
            <a:endParaRPr lang="en-US" sz="1350" dirty="0"/>
          </a:p>
        </p:txBody>
      </p:sp>
      <p:sp>
        <p:nvSpPr>
          <p:cNvPr id="10" name="Text 6"/>
          <p:cNvSpPr/>
          <p:nvPr/>
        </p:nvSpPr>
        <p:spPr>
          <a:xfrm>
            <a:off x="566928" y="20116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7"/>
          <p:cNvSpPr/>
          <p:nvPr/>
        </p:nvSpPr>
        <p:spPr>
          <a:xfrm>
            <a:off x="1005840" y="19842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Open the empty index.html</a:t>
            </a:r>
            <a:endParaRPr lang="en-US" sz="1350" dirty="0"/>
          </a:p>
        </p:txBody>
      </p:sp>
      <p:sp>
        <p:nvSpPr>
          <p:cNvPr id="12" name="Text 8"/>
          <p:cNvSpPr/>
          <p:nvPr/>
        </p:nvSpPr>
        <p:spPr>
          <a:xfrm>
            <a:off x="566928" y="24688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9"/>
          <p:cNvSpPr/>
          <p:nvPr/>
        </p:nvSpPr>
        <p:spPr>
          <a:xfrm>
            <a:off x="1005840" y="24414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Type the full skeleton by hand (no Emmet!)</a:t>
            </a:r>
            <a:endParaRPr lang="en-US" sz="1350" dirty="0"/>
          </a:p>
        </p:txBody>
      </p:sp>
      <p:sp>
        <p:nvSpPr>
          <p:cNvPr id="14" name="Text 10"/>
          <p:cNvSpPr/>
          <p:nvPr/>
        </p:nvSpPr>
        <p:spPr>
          <a:xfrm>
            <a:off x="566928" y="29260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1"/>
          <p:cNvSpPr/>
          <p:nvPr/>
        </p:nvSpPr>
        <p:spPr>
          <a:xfrm>
            <a:off x="1005840" y="28986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Add an &lt;h1&gt; and a &lt;p&gt; about you</a:t>
            </a:r>
            <a:endParaRPr lang="en-US" sz="1350" dirty="0"/>
          </a:p>
        </p:txBody>
      </p:sp>
      <p:sp>
        <p:nvSpPr>
          <p:cNvPr id="16" name="Text 12"/>
          <p:cNvSpPr/>
          <p:nvPr/>
        </p:nvSpPr>
        <p:spPr>
          <a:xfrm>
            <a:off x="566928" y="33832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7" name="Text 13"/>
          <p:cNvSpPr/>
          <p:nvPr/>
        </p:nvSpPr>
        <p:spPr>
          <a:xfrm>
            <a:off x="1005840" y="33558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Save. Open with Live Server.</a:t>
            </a:r>
            <a:endParaRPr lang="en-US" sz="1350" dirty="0"/>
          </a:p>
        </p:txBody>
      </p:sp>
      <p:sp>
        <p:nvSpPr>
          <p:cNvPr id="18" name="Shape 14"/>
          <p:cNvSpPr/>
          <p:nvPr/>
        </p:nvSpPr>
        <p:spPr>
          <a:xfrm>
            <a:off x="5760720" y="1554480"/>
            <a:ext cx="2834640" cy="2331720"/>
          </a:xfrm>
          <a:prstGeom prst="roundRect">
            <a:avLst>
              <a:gd name="adj" fmla="val 3137"/>
            </a:avLst>
          </a:prstGeom>
          <a:solidFill>
            <a:srgbClr val="FFF3F4"/>
          </a:solidFill>
          <a:ln/>
        </p:spPr>
      </p:sp>
      <p:sp>
        <p:nvSpPr>
          <p:cNvPr id="19" name="Text 15"/>
          <p:cNvSpPr/>
          <p:nvPr/>
        </p:nvSpPr>
        <p:spPr>
          <a:xfrm>
            <a:off x="5943600" y="1682496"/>
            <a:ext cx="2468880" cy="320040"/>
          </a:xfrm>
          <a:prstGeom prst="rect">
            <a:avLst/>
          </a:prstGeom>
          <a:noFill/>
          <a:ln/>
        </p:spPr>
        <p:txBody>
          <a:bodyPr wrap="square" lIns="0" tIns="0" rIns="0" bIns="0" rtlCol="0" anchor="ctr"/>
          <a:lstStyle/>
          <a:p>
            <a:pPr indent="0" marL="0">
              <a:buNone/>
            </a:pPr>
            <a:r>
              <a:rPr lang="en-US" sz="1600" b="1" dirty="0">
                <a:solidFill>
                  <a:srgbClr val="990011"/>
                </a:solidFill>
                <a:latin typeface="Cambria" pitchFamily="34" charset="0"/>
                <a:ea typeface="Cambria" pitchFamily="34" charset="-122"/>
                <a:cs typeface="Cambria" pitchFamily="34" charset="-120"/>
              </a:rPr>
              <a:t>DONE looks like</a:t>
            </a:r>
            <a:endParaRPr lang="en-US" sz="1600" dirty="0"/>
          </a:p>
        </p:txBody>
      </p:sp>
      <p:sp>
        <p:nvSpPr>
          <p:cNvPr id="20" name="Text 16"/>
          <p:cNvSpPr/>
          <p:nvPr/>
        </p:nvSpPr>
        <p:spPr>
          <a:xfrm>
            <a:off x="5943600" y="2057400"/>
            <a:ext cx="2468880" cy="169164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DOCTYPE, html lang="en", head (charset, viewport, title), body with h1 + p.</a:t>
            </a:r>
            <a:endParaRPr lang="en-US" sz="1250" dirty="0"/>
          </a:p>
          <a:p>
            <a:pPr indent="0" marL="0">
              <a:buNone/>
            </a:pP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The tab shows your title.</a:t>
            </a:r>
            <a:endParaRPr lang="en-US" sz="1250" dirty="0"/>
          </a:p>
        </p:txBody>
      </p:sp>
      <p:sp>
        <p:nvSpPr>
          <p:cNvPr id="21" name="Shape 17"/>
          <p:cNvSpPr/>
          <p:nvPr/>
        </p:nvSpPr>
        <p:spPr>
          <a:xfrm>
            <a:off x="548640" y="4206240"/>
            <a:ext cx="8046720" cy="502920"/>
          </a:xfrm>
          <a:prstGeom prst="roundRect">
            <a:avLst>
              <a:gd name="adj" fmla="val 14545"/>
            </a:avLst>
          </a:prstGeom>
          <a:solidFill>
            <a:srgbClr val="F5EBD8"/>
          </a:solidFill>
          <a:ln/>
        </p:spPr>
      </p:sp>
      <p:sp>
        <p:nvSpPr>
          <p:cNvPr id="22" name="Text 18"/>
          <p:cNvSpPr/>
          <p:nvPr/>
        </p:nvSpPr>
        <p:spPr>
          <a:xfrm>
            <a:off x="749808" y="4206240"/>
            <a:ext cx="7644384" cy="502920"/>
          </a:xfrm>
          <a:prstGeom prst="rect">
            <a:avLst/>
          </a:prstGeom>
          <a:noFill/>
          <a:ln/>
        </p:spPr>
        <p:txBody>
          <a:bodyPr wrap="square" lIns="0" tIns="0" rIns="0" bIns="0" rtlCol="0" anchor="ctr"/>
          <a:lstStyle/>
          <a:p>
            <a:pPr indent="0" marL="0">
              <a:buNone/>
            </a:pPr>
            <a:r>
              <a:rPr lang="en-US" sz="1250" b="1" dirty="0">
                <a:solidFill>
                  <a:srgbClr val="9A701F"/>
                </a:solidFill>
                <a:latin typeface="Calibri" pitchFamily="34" charset="0"/>
                <a:ea typeface="Calibri" pitchFamily="34" charset="-122"/>
                <a:cs typeface="Calibri" pitchFamily="34" charset="-120"/>
              </a:rPr>
              <a:t>Wrong is fine. Blank is not.  </a:t>
            </a:r>
            <a:pPr indent="0" marL="0">
              <a:buNone/>
            </a:pPr>
            <a:r>
              <a:rPr lang="en-US" sz="1250" dirty="0">
                <a:solidFill>
                  <a:srgbClr val="2C3547"/>
                </a:solidFill>
                <a:latin typeface="Calibri" pitchFamily="34" charset="0"/>
                <a:ea typeface="Calibri" pitchFamily="34" charset="-122"/>
                <a:cs typeface="Calibri" pitchFamily="34" charset="-120"/>
              </a:rPr>
              <a:t>Type what you remember. Then compare with notes/03-html-skeleton-and-anatomy.md.</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search-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758952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Browsers are polite guessers</a:t>
            </a:r>
            <a:endParaRPr lang="en-US" sz="2700" dirty="0"/>
          </a:p>
        </p:txBody>
      </p:sp>
      <p:sp>
        <p:nvSpPr>
          <p:cNvPr id="6" name="Shape 2"/>
          <p:cNvSpPr/>
          <p:nvPr/>
        </p:nvSpPr>
        <p:spPr>
          <a:xfrm>
            <a:off x="548640" y="1280160"/>
            <a:ext cx="8046720" cy="1691640"/>
          </a:xfrm>
          <a:prstGeom prst="roundRect">
            <a:avLst>
              <a:gd name="adj" fmla="val 4324"/>
            </a:avLst>
          </a:prstGeom>
          <a:solidFill>
            <a:srgbClr val="FFF3F4"/>
          </a:solidFill>
          <a:ln/>
        </p:spPr>
      </p:sp>
      <p:sp>
        <p:nvSpPr>
          <p:cNvPr id="7" name="Text 3"/>
          <p:cNvSpPr/>
          <p:nvPr/>
        </p:nvSpPr>
        <p:spPr>
          <a:xfrm>
            <a:off x="868680" y="1417320"/>
            <a:ext cx="7406640" cy="1417320"/>
          </a:xfrm>
          <a:prstGeom prst="rect">
            <a:avLst/>
          </a:prstGeom>
          <a:noFill/>
          <a:ln/>
        </p:spPr>
        <p:txBody>
          <a:bodyPr wrap="square" lIns="0" tIns="0" rIns="0" bIns="0" rtlCol="0" anchor="ctr"/>
          <a:lstStyle/>
          <a:p>
            <a:pPr algn="ctr" indent="0" marL="0">
              <a:buNone/>
            </a:pPr>
            <a:r>
              <a:rPr lang="en-US" sz="2400" b="1" dirty="0">
                <a:solidFill>
                  <a:srgbClr val="14213D"/>
                </a:solidFill>
                <a:latin typeface="Cambria" pitchFamily="34" charset="0"/>
                <a:ea typeface="Cambria" pitchFamily="34" charset="-122"/>
                <a:cs typeface="Cambria" pitchFamily="34" charset="-120"/>
              </a:rPr>
              <a:t>A browser never says "error".</a:t>
            </a:r>
            <a:endParaRPr lang="en-US" sz="2400" dirty="0"/>
          </a:p>
          <a:p>
            <a:pPr algn="ctr" indent="0" marL="0">
              <a:buNone/>
            </a:pPr>
            <a:r>
              <a:rPr lang="en-US" sz="2400" b="1" dirty="0">
                <a:solidFill>
                  <a:srgbClr val="14213D"/>
                </a:solidFill>
                <a:latin typeface="Cambria" pitchFamily="34" charset="0"/>
                <a:ea typeface="Cambria" pitchFamily="34" charset="-122"/>
                <a:cs typeface="Cambria" pitchFamily="34" charset="-120"/>
              </a:rPr>
              <a:t>It guesses what you meant, quietly.</a:t>
            </a:r>
            <a:endParaRPr lang="en-US" sz="2400" dirty="0"/>
          </a:p>
        </p:txBody>
      </p:sp>
      <p:sp>
        <p:nvSpPr>
          <p:cNvPr id="8" name="Shape 4"/>
          <p:cNvSpPr/>
          <p:nvPr/>
        </p:nvSpPr>
        <p:spPr>
          <a:xfrm>
            <a:off x="548640" y="3063240"/>
            <a:ext cx="2560320" cy="1234440"/>
          </a:xfrm>
          <a:prstGeom prst="roundRect">
            <a:avLst>
              <a:gd name="adj" fmla="val 5926"/>
            </a:avLst>
          </a:prstGeom>
          <a:solidFill>
            <a:srgbClr val="F9F6F5"/>
          </a:solidFill>
          <a:ln w="9525">
            <a:solidFill>
              <a:srgbClr val="E8E2E1"/>
            </a:solidFill>
            <a:prstDash val="solid"/>
          </a:ln>
        </p:spPr>
      </p:sp>
      <p:sp>
        <p:nvSpPr>
          <p:cNvPr id="9" name="Text 5"/>
          <p:cNvSpPr/>
          <p:nvPr/>
        </p:nvSpPr>
        <p:spPr>
          <a:xfrm>
            <a:off x="731520" y="3191256"/>
            <a:ext cx="2194560" cy="32004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Unclosed &lt;h1&gt;?</a:t>
            </a:r>
            <a:endParaRPr lang="en-US" sz="1600" dirty="0"/>
          </a:p>
        </p:txBody>
      </p:sp>
      <p:sp>
        <p:nvSpPr>
          <p:cNvPr id="10" name="Text 6"/>
          <p:cNvSpPr/>
          <p:nvPr/>
        </p:nvSpPr>
        <p:spPr>
          <a:xfrm>
            <a:off x="731520" y="3566160"/>
            <a:ext cx="2194560" cy="59436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The browser guesses: everything after it becomes a giant heading.</a:t>
            </a:r>
            <a:endParaRPr lang="en-US" sz="1250" dirty="0"/>
          </a:p>
        </p:txBody>
      </p:sp>
      <p:sp>
        <p:nvSpPr>
          <p:cNvPr id="11" name="Shape 7"/>
          <p:cNvSpPr/>
          <p:nvPr/>
        </p:nvSpPr>
        <p:spPr>
          <a:xfrm>
            <a:off x="3291840" y="3063240"/>
            <a:ext cx="2560320" cy="1234440"/>
          </a:xfrm>
          <a:prstGeom prst="roundRect">
            <a:avLst>
              <a:gd name="adj" fmla="val 5926"/>
            </a:avLst>
          </a:prstGeom>
          <a:solidFill>
            <a:srgbClr val="FFF3F4"/>
          </a:solidFill>
          <a:ln/>
        </p:spPr>
      </p:sp>
      <p:sp>
        <p:nvSpPr>
          <p:cNvPr id="12" name="Text 8"/>
          <p:cNvSpPr/>
          <p:nvPr/>
        </p:nvSpPr>
        <p:spPr>
          <a:xfrm>
            <a:off x="3474720" y="3191256"/>
            <a:ext cx="2194560" cy="320040"/>
          </a:xfrm>
          <a:prstGeom prst="rect">
            <a:avLst/>
          </a:prstGeom>
          <a:noFill/>
          <a:ln/>
        </p:spPr>
        <p:txBody>
          <a:bodyPr wrap="square" lIns="0" tIns="0" rIns="0" bIns="0" rtlCol="0" anchor="ctr"/>
          <a:lstStyle/>
          <a:p>
            <a:pPr indent="0" marL="0">
              <a:buNone/>
            </a:pPr>
            <a:r>
              <a:rPr lang="en-US" sz="1600" b="1" dirty="0">
                <a:solidFill>
                  <a:srgbClr val="990011"/>
                </a:solidFill>
                <a:latin typeface="Cambria" pitchFamily="34" charset="0"/>
                <a:ea typeface="Cambria" pitchFamily="34" charset="-122"/>
                <a:cs typeface="Cambria" pitchFamily="34" charset="-120"/>
              </a:rPr>
              <a:t>Crossed boxes?</a:t>
            </a:r>
            <a:endParaRPr lang="en-US" sz="1600" dirty="0"/>
          </a:p>
        </p:txBody>
      </p:sp>
      <p:sp>
        <p:nvSpPr>
          <p:cNvPr id="13" name="Text 9"/>
          <p:cNvSpPr/>
          <p:nvPr/>
        </p:nvSpPr>
        <p:spPr>
          <a:xfrm>
            <a:off x="3474720" y="3566160"/>
            <a:ext cx="2194560" cy="59436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It rebuilds the boxes its own way. Only F12 shows the repair.</a:t>
            </a:r>
            <a:endParaRPr lang="en-US" sz="1250" dirty="0"/>
          </a:p>
        </p:txBody>
      </p:sp>
      <p:sp>
        <p:nvSpPr>
          <p:cNvPr id="14" name="Shape 10"/>
          <p:cNvSpPr/>
          <p:nvPr/>
        </p:nvSpPr>
        <p:spPr>
          <a:xfrm>
            <a:off x="6035040" y="3063240"/>
            <a:ext cx="2560320" cy="1234440"/>
          </a:xfrm>
          <a:prstGeom prst="roundRect">
            <a:avLst>
              <a:gd name="adj" fmla="val 5926"/>
            </a:avLst>
          </a:prstGeom>
          <a:solidFill>
            <a:srgbClr val="F9F6F5"/>
          </a:solidFill>
          <a:ln w="9525">
            <a:solidFill>
              <a:srgbClr val="E8E2E1"/>
            </a:solidFill>
            <a:prstDash val="solid"/>
          </a:ln>
        </p:spPr>
      </p:sp>
      <p:sp>
        <p:nvSpPr>
          <p:cNvPr id="15" name="Text 11"/>
          <p:cNvSpPr/>
          <p:nvPr/>
        </p:nvSpPr>
        <p:spPr>
          <a:xfrm>
            <a:off x="6217920" y="3191256"/>
            <a:ext cx="2194560" cy="32004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Missing DOCTYPE?</a:t>
            </a:r>
            <a:endParaRPr lang="en-US" sz="1600" dirty="0"/>
          </a:p>
        </p:txBody>
      </p:sp>
      <p:sp>
        <p:nvSpPr>
          <p:cNvPr id="16" name="Text 12"/>
          <p:cNvSpPr/>
          <p:nvPr/>
        </p:nvSpPr>
        <p:spPr>
          <a:xfrm>
            <a:off x="6217920" y="3566160"/>
            <a:ext cx="2194560" cy="59436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It switches to an old "quirks" mode. No warning at all.</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check-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758952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Your spell-checker: HTMLHint + F12</a:t>
            </a:r>
            <a:endParaRPr lang="en-US" sz="2700" dirty="0"/>
          </a:p>
        </p:txBody>
      </p:sp>
      <p:sp>
        <p:nvSpPr>
          <p:cNvPr id="6" name="Shape 2"/>
          <p:cNvSpPr/>
          <p:nvPr/>
        </p:nvSpPr>
        <p:spPr>
          <a:xfrm>
            <a:off x="548640" y="1188720"/>
            <a:ext cx="3840480" cy="2157984"/>
          </a:xfrm>
          <a:prstGeom prst="roundRect">
            <a:avLst>
              <a:gd name="adj" fmla="val 2542"/>
            </a:avLst>
          </a:prstGeom>
          <a:solidFill>
            <a:srgbClr val="F9F6F5"/>
          </a:solidFill>
          <a:ln w="19050">
            <a:solidFill>
              <a:srgbClr val="9FB3D1"/>
            </a:solidFill>
            <a:prstDash val="dash"/>
          </a:ln>
        </p:spPr>
      </p:sp>
      <p:sp>
        <p:nvSpPr>
          <p:cNvPr id="7" name="Text 3"/>
          <p:cNvSpPr/>
          <p:nvPr/>
        </p:nvSpPr>
        <p:spPr>
          <a:xfrm>
            <a:off x="658368" y="1298448"/>
            <a:ext cx="1325880" cy="256032"/>
          </a:xfrm>
          <a:prstGeom prst="roundRect">
            <a:avLst>
              <a:gd name="adj" fmla="val 46429"/>
            </a:avLst>
          </a:prstGeom>
          <a:solidFill>
            <a:srgbClr val="14213D"/>
          </a:solid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LIVE DEMO</a:t>
            </a:r>
            <a:endParaRPr lang="en-US" sz="1100" dirty="0"/>
          </a:p>
        </p:txBody>
      </p:sp>
      <p:sp>
        <p:nvSpPr>
          <p:cNvPr id="8" name="Text 4"/>
          <p:cNvSpPr/>
          <p:nvPr/>
        </p:nvSpPr>
        <p:spPr>
          <a:xfrm>
            <a:off x="777240" y="1600200"/>
            <a:ext cx="3383280" cy="1609344"/>
          </a:xfrm>
          <a:prstGeom prst="rect">
            <a:avLst/>
          </a:prstGeom>
          <a:noFill/>
          <a:ln/>
        </p:spPr>
        <p:txBody>
          <a:bodyPr wrap="square" lIns="0" tIns="0" rIns="0" bIns="0" rtlCol="0" anchor="ctr">
            <a:normAutofit/>
          </a:bodyPr>
          <a:lstStyle/>
          <a:p>
            <a:pPr algn="ctr" indent="0" marL="0">
              <a:buNone/>
            </a:pPr>
            <a:r>
              <a:rPr lang="en-US" sz="1250" i="1" dirty="0">
                <a:solidFill>
                  <a:srgbClr val="2C3547"/>
                </a:solidFill>
                <a:latin typeface="Calibri" pitchFamily="34" charset="0"/>
                <a:ea typeface="Calibri" pitchFamily="34" charset="-122"/>
                <a:cs typeface="Calibri" pitchFamily="34" charset="-120"/>
              </a:rPr>
              <a:t>LIVE: open VS Code → step-05-htmlhint-demo → Problems panel (Ctrl+Shift+M)</a:t>
            </a:r>
            <a:endParaRPr lang="en-US" sz="12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0" y="1188720"/>
          <a:ext cx="4069080" cy="914400"/>
        </p:xfrm>
        <a:graphic>
          <a:graphicData uri="http://schemas.openxmlformats.org/drawingml/2006/table">
            <a:tbl>
              <a:tblPr/>
              <a:tblGrid>
                <a:gridCol w="960120"/>
                <a:gridCol w="310896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Tag</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How you see the bug</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14213D"/>
                    </a:solidFill>
                  </a:tcPr>
                </a:tc>
              </a:tr>
              <a:tr h="338328">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V</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your eyes, on the page</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r>
              <a:tr h="338328">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D(HH)</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HTMLHint squiggle / Ctrl+Shift+M</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338328">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D(F12)</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only F12 → Elements shows it</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r>
              <a:tr h="338328">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D(URL)</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submit the form, read the URL</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338328">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H</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hidden on Windows, breaks on Linux</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r>
              <a:tr h="338328">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R</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no tool: check the rule yourself</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0" name="Shape 5"/>
          <p:cNvSpPr/>
          <p:nvPr/>
        </p:nvSpPr>
        <p:spPr>
          <a:xfrm>
            <a:off x="548640" y="3840480"/>
            <a:ext cx="8046720" cy="685800"/>
          </a:xfrm>
          <a:prstGeom prst="roundRect">
            <a:avLst>
              <a:gd name="adj" fmla="val 10667"/>
            </a:avLst>
          </a:prstGeom>
          <a:solidFill>
            <a:srgbClr val="F5EBD8"/>
          </a:solidFill>
          <a:ln/>
        </p:spPr>
      </p:sp>
      <p:sp>
        <p:nvSpPr>
          <p:cNvPr id="11" name="Text 6"/>
          <p:cNvSpPr/>
          <p:nvPr/>
        </p:nvSpPr>
        <p:spPr>
          <a:xfrm>
            <a:off x="749808" y="3840480"/>
            <a:ext cx="7644384" cy="685800"/>
          </a:xfrm>
          <a:prstGeom prst="rect">
            <a:avLst/>
          </a:prstGeom>
          <a:noFill/>
          <a:ln/>
        </p:spPr>
        <p:txBody>
          <a:bodyPr wrap="square" lIns="0" tIns="0" rIns="0" bIns="0" rtlCol="0" anchor="ctr"/>
          <a:lstStyle/>
          <a:p>
            <a:pPr indent="0" marL="0">
              <a:buNone/>
            </a:pPr>
            <a:r>
              <a:rPr lang="en-US" sz="1250" b="1" dirty="0">
                <a:solidFill>
                  <a:srgbClr val="9A701F"/>
                </a:solidFill>
                <a:latin typeface="Calibri" pitchFamily="34" charset="0"/>
                <a:ea typeface="Calibri" pitchFamily="34" charset="-122"/>
                <a:cs typeface="Calibri" pitchFamily="34" charset="-120"/>
              </a:rPr>
              <a:t>HTMLHint = the spell-checker for HTML.  </a:t>
            </a:r>
            <a:pPr indent="0" marL="0">
              <a:buNone/>
            </a:pPr>
            <a:r>
              <a:rPr lang="en-US" sz="1250" dirty="0">
                <a:solidFill>
                  <a:srgbClr val="2C3547"/>
                </a:solidFill>
                <a:latin typeface="Calibri" pitchFamily="34" charset="0"/>
                <a:ea typeface="Calibri" pitchFamily="34" charset="-122"/>
                <a:cs typeface="Calibri" pitchFamily="34" charset="-120"/>
              </a:rPr>
              <a:t>Red squiggle in the editor. Ctrl+Shift+M lists every problem with its line. Click it to jump there.</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wrench-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612648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D1-04  ·  Broken Skeleton</a:t>
            </a:r>
            <a:endParaRPr lang="en-US" sz="2700" dirty="0"/>
          </a:p>
        </p:txBody>
      </p:sp>
      <p:sp>
        <p:nvSpPr>
          <p:cNvPr id="5" name="Text 2"/>
          <p:cNvSpPr/>
          <p:nvPr/>
        </p:nvSpPr>
        <p:spPr>
          <a:xfrm>
            <a:off x="7315200" y="402336"/>
            <a:ext cx="1417320" cy="310896"/>
          </a:xfrm>
          <a:prstGeom prst="roundRect">
            <a:avLst>
              <a:gd name="adj" fmla="val 50000"/>
            </a:avLst>
          </a:prstGeom>
          <a:solidFill>
            <a:srgbClr val="F5EBD8"/>
          </a:solidFill>
          <a:ln/>
        </p:spPr>
        <p:txBody>
          <a:bodyPr wrap="square" lIns="0" tIns="0" rIns="0" bIns="0" rtlCol="0" anchor="ctr"/>
          <a:lstStyle/>
          <a:p>
            <a:pPr algn="ctr" indent="0" marL="0">
              <a:buNone/>
            </a:pPr>
            <a:r>
              <a:rPr lang="en-US" sz="1100" b="1" spc="200" kern="0" dirty="0">
                <a:solidFill>
                  <a:srgbClr val="9A701F"/>
                </a:solidFill>
                <a:latin typeface="Calibri" pitchFamily="34" charset="0"/>
                <a:ea typeface="Calibri" pitchFamily="34" charset="-122"/>
                <a:cs typeface="Calibri" pitchFamily="34" charset="-120"/>
              </a:rPr>
              <a:t>ACTIVITY</a:t>
            </a:r>
            <a:endParaRPr lang="en-US" sz="1100" dirty="0"/>
          </a:p>
        </p:txBody>
      </p:sp>
      <p:sp>
        <p:nvSpPr>
          <p:cNvPr id="7" name="Text 3"/>
          <p:cNvSpPr/>
          <p:nvPr/>
        </p:nvSpPr>
        <p:spPr>
          <a:xfrm>
            <a:off x="548640" y="1078992"/>
            <a:ext cx="8046720" cy="274320"/>
          </a:xfrm>
          <a:prstGeom prst="rect">
            <a:avLst/>
          </a:prstGeom>
          <a:noFill/>
          <a:ln/>
        </p:spPr>
        <p:txBody>
          <a:bodyPr wrap="square" lIns="0" tIns="0" rIns="0" bIns="0" rtlCol="0" anchor="ctr"/>
          <a:lstStyle/>
          <a:p>
            <a:pPr indent="0" marL="0">
              <a:buNone/>
            </a:pPr>
            <a:r>
              <a:rPr lang="en-US" sz="1300" b="1" dirty="0">
                <a:solidFill>
                  <a:srgbClr val="990011"/>
                </a:solidFill>
                <a:latin typeface="Calibri" pitchFamily="34" charset="0"/>
                <a:ea typeface="Calibri" pitchFamily="34" charset="-122"/>
                <a:cs typeface="Calibri" pitchFamily="34" charset="-120"/>
              </a:rPr>
              <a:t>10 minutes  ·  solo  ·  W2D1/classwork/D1-04-broken-skeleton/</a:t>
            </a:r>
            <a:endParaRPr lang="en-US" sz="1300" dirty="0"/>
          </a:p>
        </p:txBody>
      </p:sp>
      <p:sp>
        <p:nvSpPr>
          <p:cNvPr id="8" name="Text 4"/>
          <p:cNvSpPr/>
          <p:nvPr/>
        </p:nvSpPr>
        <p:spPr>
          <a:xfrm>
            <a:off x="566928" y="15544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5"/>
          <p:cNvSpPr/>
          <p:nvPr/>
        </p:nvSpPr>
        <p:spPr>
          <a:xfrm>
            <a:off x="1005840" y="15270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Open index.html with Live Server</a:t>
            </a:r>
            <a:endParaRPr lang="en-US" sz="1350" dirty="0"/>
          </a:p>
        </p:txBody>
      </p:sp>
      <p:sp>
        <p:nvSpPr>
          <p:cNvPr id="10" name="Text 6"/>
          <p:cNvSpPr/>
          <p:nvPr/>
        </p:nvSpPr>
        <p:spPr>
          <a:xfrm>
            <a:off x="566928" y="20116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7"/>
          <p:cNvSpPr/>
          <p:nvPr/>
        </p:nvSpPr>
        <p:spPr>
          <a:xfrm>
            <a:off x="1005840" y="19842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Look at the page. What looks wrong?</a:t>
            </a:r>
            <a:endParaRPr lang="en-US" sz="1350" dirty="0"/>
          </a:p>
        </p:txBody>
      </p:sp>
      <p:sp>
        <p:nvSpPr>
          <p:cNvPr id="12" name="Text 8"/>
          <p:cNvSpPr/>
          <p:nvPr/>
        </p:nvSpPr>
        <p:spPr>
          <a:xfrm>
            <a:off x="566928" y="24688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9"/>
          <p:cNvSpPr/>
          <p:nvPr/>
        </p:nvSpPr>
        <p:spPr>
          <a:xfrm>
            <a:off x="1005840" y="24414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Ctrl+Shift+M: read every HTMLHint problem</a:t>
            </a:r>
            <a:endParaRPr lang="en-US" sz="1350" dirty="0"/>
          </a:p>
        </p:txBody>
      </p:sp>
      <p:sp>
        <p:nvSpPr>
          <p:cNvPr id="14" name="Text 10"/>
          <p:cNvSpPr/>
          <p:nvPr/>
        </p:nvSpPr>
        <p:spPr>
          <a:xfrm>
            <a:off x="566928" y="29260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1"/>
          <p:cNvSpPr/>
          <p:nvPr/>
        </p:nvSpPr>
        <p:spPr>
          <a:xfrm>
            <a:off x="1005840" y="28986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F12 → Elements: what did the browser build?</a:t>
            </a:r>
            <a:endParaRPr lang="en-US" sz="1350" dirty="0"/>
          </a:p>
        </p:txBody>
      </p:sp>
      <p:sp>
        <p:nvSpPr>
          <p:cNvPr id="16" name="Text 12"/>
          <p:cNvSpPr/>
          <p:nvPr/>
        </p:nvSpPr>
        <p:spPr>
          <a:xfrm>
            <a:off x="566928" y="33832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7" name="Text 13"/>
          <p:cNvSpPr/>
          <p:nvPr/>
        </p:nvSpPr>
        <p:spPr>
          <a:xfrm>
            <a:off x="1005840" y="33558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Fix, save, check. Repeat.</a:t>
            </a:r>
            <a:endParaRPr lang="en-US" sz="1350" dirty="0"/>
          </a:p>
        </p:txBody>
      </p:sp>
      <p:sp>
        <p:nvSpPr>
          <p:cNvPr id="18" name="Shape 14"/>
          <p:cNvSpPr/>
          <p:nvPr/>
        </p:nvSpPr>
        <p:spPr>
          <a:xfrm>
            <a:off x="5760720" y="1554480"/>
            <a:ext cx="2834640" cy="2331720"/>
          </a:xfrm>
          <a:prstGeom prst="roundRect">
            <a:avLst>
              <a:gd name="adj" fmla="val 3137"/>
            </a:avLst>
          </a:prstGeom>
          <a:solidFill>
            <a:srgbClr val="FFF3F4"/>
          </a:solidFill>
          <a:ln/>
        </p:spPr>
      </p:sp>
      <p:sp>
        <p:nvSpPr>
          <p:cNvPr id="19" name="Text 15"/>
          <p:cNvSpPr/>
          <p:nvPr/>
        </p:nvSpPr>
        <p:spPr>
          <a:xfrm>
            <a:off x="5943600" y="1682496"/>
            <a:ext cx="2468880" cy="320040"/>
          </a:xfrm>
          <a:prstGeom prst="rect">
            <a:avLst/>
          </a:prstGeom>
          <a:noFill/>
          <a:ln/>
        </p:spPr>
        <p:txBody>
          <a:bodyPr wrap="square" lIns="0" tIns="0" rIns="0" bIns="0" rtlCol="0" anchor="ctr"/>
          <a:lstStyle/>
          <a:p>
            <a:pPr indent="0" marL="0">
              <a:buNone/>
            </a:pPr>
            <a:r>
              <a:rPr lang="en-US" sz="1600" b="1" dirty="0">
                <a:solidFill>
                  <a:srgbClr val="990011"/>
                </a:solidFill>
                <a:latin typeface="Cambria" pitchFamily="34" charset="0"/>
                <a:ea typeface="Cambria" pitchFamily="34" charset="-122"/>
                <a:cs typeface="Cambria" pitchFamily="34" charset="-120"/>
              </a:rPr>
              <a:t>DONE looks like</a:t>
            </a:r>
            <a:endParaRPr lang="en-US" sz="1600" dirty="0"/>
          </a:p>
        </p:txBody>
      </p:sp>
      <p:sp>
        <p:nvSpPr>
          <p:cNvPr id="20" name="Text 16"/>
          <p:cNvSpPr/>
          <p:nvPr/>
        </p:nvSpPr>
        <p:spPr>
          <a:xfrm>
            <a:off x="5943600" y="2057400"/>
            <a:ext cx="2468880" cy="169164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No squiggles. Problems panel is empty.</a:t>
            </a:r>
            <a:endParaRPr lang="en-US" sz="1250" dirty="0"/>
          </a:p>
          <a:p>
            <a:pPr indent="0" marL="0">
              <a:buNone/>
            </a:pP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The tab shows "Aarav's Page".</a:t>
            </a:r>
            <a:endParaRPr lang="en-US" sz="1250" dirty="0"/>
          </a:p>
          <a:p>
            <a:pPr indent="0" marL="0">
              <a:buNone/>
            </a:pP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The footer is back.</a:t>
            </a:r>
            <a:endParaRPr lang="en-US" sz="1250" dirty="0"/>
          </a:p>
        </p:txBody>
      </p:sp>
      <p:sp>
        <p:nvSpPr>
          <p:cNvPr id="21" name="Shape 17"/>
          <p:cNvSpPr/>
          <p:nvPr/>
        </p:nvSpPr>
        <p:spPr>
          <a:xfrm>
            <a:off x="548640" y="4206240"/>
            <a:ext cx="8046720" cy="502920"/>
          </a:xfrm>
          <a:prstGeom prst="roundRect">
            <a:avLst>
              <a:gd name="adj" fmla="val 14545"/>
            </a:avLst>
          </a:prstGeom>
          <a:solidFill>
            <a:srgbClr val="F5EBD8"/>
          </a:solidFill>
          <a:ln/>
        </p:spPr>
      </p:sp>
      <p:sp>
        <p:nvSpPr>
          <p:cNvPr id="22" name="Text 18"/>
          <p:cNvSpPr/>
          <p:nvPr/>
        </p:nvSpPr>
        <p:spPr>
          <a:xfrm>
            <a:off x="749808" y="4206240"/>
            <a:ext cx="7644384" cy="502920"/>
          </a:xfrm>
          <a:prstGeom prst="rect">
            <a:avLst/>
          </a:prstGeom>
          <a:noFill/>
          <a:ln/>
        </p:spPr>
        <p:txBody>
          <a:bodyPr wrap="square" lIns="0" tIns="0" rIns="0" bIns="0" rtlCol="0" anchor="ctr"/>
          <a:lstStyle/>
          <a:p>
            <a:pPr indent="0" marL="0">
              <a:buNone/>
            </a:pPr>
            <a:r>
              <a:rPr lang="en-US" sz="1250" b="1" dirty="0">
                <a:solidFill>
                  <a:srgbClr val="9A701F"/>
                </a:solidFill>
                <a:latin typeface="Calibri" pitchFamily="34" charset="0"/>
                <a:ea typeface="Calibri" pitchFamily="34" charset="-122"/>
                <a:cs typeface="Calibri" pitchFamily="34" charset="-120"/>
              </a:rPr>
              <a:t>6 bugs. Find at least 4.  </a:t>
            </a:r>
            <a:pPr indent="0" marL="0">
              <a:buNone/>
            </a:pPr>
            <a:r>
              <a:rPr lang="en-US" sz="1250" dirty="0">
                <a:solidFill>
                  <a:srgbClr val="2C3547"/>
                </a:solidFill>
                <a:latin typeface="Calibri" pitchFamily="34" charset="0"/>
                <a:ea typeface="Calibri" pitchFamily="34" charset="-122"/>
                <a:cs typeface="Calibri" pitchFamily="34" charset="-120"/>
              </a:rPr>
              <a:t>Page looks strange? Fix the unclosed &lt;h1&gt; first.</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edit-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758952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Text = tone of voice</a:t>
            </a:r>
            <a:endParaRPr lang="en-US" sz="27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8138160" cy="914400"/>
        </p:xfrm>
        <a:graphic>
          <a:graphicData uri="http://schemas.openxmlformats.org/drawingml/2006/table">
            <a:tbl>
              <a:tblPr/>
              <a:tblGrid>
                <a:gridCol w="1920240"/>
                <a:gridCol w="2926080"/>
                <a:gridCol w="329184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Tag</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Tone of voice</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Example</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14213D"/>
                    </a:solidFill>
                  </a:tcPr>
                </a:tc>
              </a:tr>
              <a:tr h="393192">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&lt;strong&gt;</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"this matters"</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Shop closes at &lt;strong&gt;5 pm&lt;/strong&gt;</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r>
              <a:tr h="393192">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&lt;em&gt;</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the stressed word</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I &lt;em&gt;love&lt;/em&gt; jhol momo</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393192">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&lt;br&gt;</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a pause in one thought</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Dillibazar,&lt;br&gt;Kathmandu</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r>
              <a:tr h="393192">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&lt;hr&gt;</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a change of topic</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a line between two sections</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393192">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&lt;blockquote&gt; / &lt;q&gt;</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quoting someone else</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Didi said: &lt;q&gt;Fresh today!&lt;/q&gt;</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r>
              <a:tr h="393192">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&lt;span&gt;</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no tone, a hook for CSS</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&lt;span class="price"&gt;Rs. 150&lt;/span&gt;</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7" name="Shape 2"/>
          <p:cNvSpPr/>
          <p:nvPr/>
        </p:nvSpPr>
        <p:spPr>
          <a:xfrm>
            <a:off x="548640" y="4297680"/>
            <a:ext cx="8046720" cy="457200"/>
          </a:xfrm>
          <a:prstGeom prst="roundRect">
            <a:avLst>
              <a:gd name="adj" fmla="val 16000"/>
            </a:avLst>
          </a:prstGeom>
          <a:solidFill>
            <a:srgbClr val="F5EBD8"/>
          </a:solidFill>
          <a:ln/>
        </p:spPr>
      </p:sp>
      <p:sp>
        <p:nvSpPr>
          <p:cNvPr id="8" name="Text 3"/>
          <p:cNvSpPr/>
          <p:nvPr/>
        </p:nvSpPr>
        <p:spPr>
          <a:xfrm>
            <a:off x="749808" y="4297680"/>
            <a:ext cx="7644384" cy="457200"/>
          </a:xfrm>
          <a:prstGeom prst="rect">
            <a:avLst/>
          </a:prstGeom>
          <a:noFill/>
          <a:ln/>
        </p:spPr>
        <p:txBody>
          <a:bodyPr wrap="square" lIns="0" tIns="0" rIns="0" bIns="0" rtlCol="0" anchor="ctr"/>
          <a:lstStyle/>
          <a:p>
            <a:pPr indent="0" marL="0">
              <a:buNone/>
            </a:pPr>
            <a:r>
              <a:rPr lang="en-US" sz="1250" b="1" dirty="0">
                <a:solidFill>
                  <a:srgbClr val="9A701F"/>
                </a:solidFill>
                <a:latin typeface="Calibri" pitchFamily="34" charset="0"/>
                <a:ea typeface="Calibri" pitchFamily="34" charset="-122"/>
                <a:cs typeface="Calibri" pitchFamily="34" charset="-120"/>
              </a:rPr>
              <a:t>strong vs b, em vs i:  </a:t>
            </a:r>
            <a:pPr indent="0" marL="0">
              <a:buNone/>
            </a:pPr>
            <a:r>
              <a:rPr lang="en-US" sz="1250" dirty="0">
                <a:solidFill>
                  <a:srgbClr val="2C3547"/>
                </a:solidFill>
                <a:latin typeface="Calibri" pitchFamily="34" charset="0"/>
                <a:ea typeface="Calibri" pitchFamily="34" charset="-122"/>
                <a:cs typeface="Calibri" pitchFamily="34" charset="-120"/>
              </a:rPr>
              <a:t>strong and em carry MEANING (screen readers stress them). b and i only change the look.</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list-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758952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Headings are an outline</a:t>
            </a:r>
            <a:endParaRPr lang="en-US" sz="2700" dirty="0"/>
          </a:p>
        </p:txBody>
      </p:sp>
      <p:sp>
        <p:nvSpPr>
          <p:cNvPr id="6" name="Text 2"/>
          <p:cNvSpPr/>
          <p:nvPr/>
        </p:nvSpPr>
        <p:spPr>
          <a:xfrm>
            <a:off x="731520" y="1234440"/>
            <a:ext cx="685800" cy="420624"/>
          </a:xfrm>
          <a:prstGeom prst="roundRect">
            <a:avLst>
              <a:gd name="adj" fmla="val 13043"/>
            </a:avLst>
          </a:prstGeom>
          <a:solidFill>
            <a:srgbClr val="990011"/>
          </a:solidFill>
          <a:ln/>
        </p:spPr>
        <p:txBody>
          <a:bodyPr wrap="square" lIns="50800" tIns="50800" rIns="50800" bIns="5080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h1</a:t>
            </a:r>
            <a:endParaRPr lang="en-US" sz="1400" dirty="0"/>
          </a:p>
        </p:txBody>
      </p:sp>
      <p:sp>
        <p:nvSpPr>
          <p:cNvPr id="7" name="Text 3"/>
          <p:cNvSpPr/>
          <p:nvPr/>
        </p:nvSpPr>
        <p:spPr>
          <a:xfrm>
            <a:off x="1554480" y="1289304"/>
            <a:ext cx="3200400" cy="310896"/>
          </a:xfrm>
          <a:prstGeom prst="rect">
            <a:avLst/>
          </a:prstGeom>
          <a:noFill/>
          <a:ln/>
        </p:spPr>
        <p:txBody>
          <a:bodyPr wrap="square" lIns="0" tIns="0" rIns="0" bIns="0" rtlCol="0" anchor="ctr"/>
          <a:lstStyle/>
          <a:p>
            <a:pPr algn="l" indent="0" marL="0">
              <a:buNone/>
            </a:pPr>
            <a:r>
              <a:rPr lang="en-US" sz="1600" b="1" dirty="0">
                <a:solidFill>
                  <a:srgbClr val="14213D"/>
                </a:solidFill>
                <a:latin typeface="Calibri" pitchFamily="34" charset="0"/>
                <a:ea typeface="Calibri" pitchFamily="34" charset="-122"/>
                <a:cs typeface="Calibri" pitchFamily="34" charset="-120"/>
              </a:rPr>
              <a:t>TSI Canteen Weekly</a:t>
            </a:r>
            <a:endParaRPr lang="en-US" sz="1600" dirty="0"/>
          </a:p>
        </p:txBody>
      </p:sp>
      <p:sp>
        <p:nvSpPr>
          <p:cNvPr id="8" name="Text 4"/>
          <p:cNvSpPr/>
          <p:nvPr/>
        </p:nvSpPr>
        <p:spPr>
          <a:xfrm>
            <a:off x="1280160" y="1764792"/>
            <a:ext cx="685800" cy="420624"/>
          </a:xfrm>
          <a:prstGeom prst="roundRect">
            <a:avLst>
              <a:gd name="adj" fmla="val 13043"/>
            </a:avLst>
          </a:prstGeom>
          <a:solidFill>
            <a:srgbClr val="14213D"/>
          </a:solidFill>
          <a:ln/>
        </p:spPr>
        <p:txBody>
          <a:bodyPr wrap="square" lIns="50800" tIns="50800" rIns="50800" bIns="5080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h2</a:t>
            </a:r>
            <a:endParaRPr lang="en-US" sz="1400" dirty="0"/>
          </a:p>
        </p:txBody>
      </p:sp>
      <p:sp>
        <p:nvSpPr>
          <p:cNvPr id="9" name="Text 5"/>
          <p:cNvSpPr/>
          <p:nvPr/>
        </p:nvSpPr>
        <p:spPr>
          <a:xfrm>
            <a:off x="2103120" y="1819656"/>
            <a:ext cx="3200400" cy="310896"/>
          </a:xfrm>
          <a:prstGeom prst="rect">
            <a:avLst/>
          </a:prstGeom>
          <a:noFill/>
          <a:ln/>
        </p:spPr>
        <p:txBody>
          <a:bodyPr wrap="square" lIns="0" tIns="0" rIns="0" bIns="0" rtlCol="0" anchor="ctr"/>
          <a:lstStyle/>
          <a:p>
            <a:pPr algn="l" indent="0" marL="0">
              <a:buNone/>
            </a:pPr>
            <a:r>
              <a:rPr lang="en-US" sz="1350" dirty="0">
                <a:solidFill>
                  <a:srgbClr val="14213D"/>
                </a:solidFill>
                <a:latin typeface="Calibri" pitchFamily="34" charset="0"/>
                <a:ea typeface="Calibri" pitchFamily="34" charset="-122"/>
                <a:cs typeface="Calibri" pitchFamily="34" charset="-120"/>
              </a:rPr>
              <a:t>This week's menu</a:t>
            </a:r>
            <a:endParaRPr lang="en-US" sz="1350" dirty="0"/>
          </a:p>
        </p:txBody>
      </p:sp>
      <p:sp>
        <p:nvSpPr>
          <p:cNvPr id="10" name="Text 6"/>
          <p:cNvSpPr/>
          <p:nvPr/>
        </p:nvSpPr>
        <p:spPr>
          <a:xfrm>
            <a:off x="1828800" y="2295144"/>
            <a:ext cx="685800" cy="420624"/>
          </a:xfrm>
          <a:prstGeom prst="roundRect">
            <a:avLst>
              <a:gd name="adj" fmla="val 13043"/>
            </a:avLst>
          </a:prstGeom>
          <a:solidFill>
            <a:srgbClr val="14213D"/>
          </a:solidFill>
          <a:ln/>
        </p:spPr>
        <p:txBody>
          <a:bodyPr wrap="square" lIns="50800" tIns="50800" rIns="50800" bIns="5080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h3</a:t>
            </a:r>
            <a:endParaRPr lang="en-US" sz="1400" dirty="0"/>
          </a:p>
        </p:txBody>
      </p:sp>
      <p:sp>
        <p:nvSpPr>
          <p:cNvPr id="11" name="Text 7"/>
          <p:cNvSpPr/>
          <p:nvPr/>
        </p:nvSpPr>
        <p:spPr>
          <a:xfrm>
            <a:off x="2651760" y="2350008"/>
            <a:ext cx="3200400" cy="310896"/>
          </a:xfrm>
          <a:prstGeom prst="rect">
            <a:avLst/>
          </a:prstGeom>
          <a:noFill/>
          <a:ln/>
        </p:spPr>
        <p:txBody>
          <a:bodyPr wrap="square" lIns="0" tIns="0" rIns="0" bIns="0" rtlCol="0" anchor="ctr"/>
          <a:lstStyle/>
          <a:p>
            <a:pPr algn="l" indent="0" marL="0">
              <a:buNone/>
            </a:pPr>
            <a:r>
              <a:rPr lang="en-US" sz="1350" dirty="0">
                <a:solidFill>
                  <a:srgbClr val="14213D"/>
                </a:solidFill>
                <a:latin typeface="Calibri" pitchFamily="34" charset="0"/>
                <a:ea typeface="Calibri" pitchFamily="34" charset="-122"/>
                <a:cs typeface="Calibri" pitchFamily="34" charset="-120"/>
              </a:rPr>
              <a:t>Momo of the week</a:t>
            </a:r>
            <a:endParaRPr lang="en-US" sz="1350" dirty="0"/>
          </a:p>
        </p:txBody>
      </p:sp>
      <p:sp>
        <p:nvSpPr>
          <p:cNvPr id="12" name="Text 8"/>
          <p:cNvSpPr/>
          <p:nvPr/>
        </p:nvSpPr>
        <p:spPr>
          <a:xfrm>
            <a:off x="1828800" y="2825496"/>
            <a:ext cx="685800" cy="420624"/>
          </a:xfrm>
          <a:prstGeom prst="roundRect">
            <a:avLst>
              <a:gd name="adj" fmla="val 13043"/>
            </a:avLst>
          </a:prstGeom>
          <a:solidFill>
            <a:srgbClr val="14213D"/>
          </a:solidFill>
          <a:ln/>
        </p:spPr>
        <p:txBody>
          <a:bodyPr wrap="square" lIns="50800" tIns="50800" rIns="50800" bIns="5080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h3</a:t>
            </a:r>
            <a:endParaRPr lang="en-US" sz="1400" dirty="0"/>
          </a:p>
        </p:txBody>
      </p:sp>
      <p:sp>
        <p:nvSpPr>
          <p:cNvPr id="13" name="Text 9"/>
          <p:cNvSpPr/>
          <p:nvPr/>
        </p:nvSpPr>
        <p:spPr>
          <a:xfrm>
            <a:off x="2651760" y="2880360"/>
            <a:ext cx="3200400" cy="310896"/>
          </a:xfrm>
          <a:prstGeom prst="rect">
            <a:avLst/>
          </a:prstGeom>
          <a:noFill/>
          <a:ln/>
        </p:spPr>
        <p:txBody>
          <a:bodyPr wrap="square" lIns="0" tIns="0" rIns="0" bIns="0" rtlCol="0" anchor="ctr"/>
          <a:lstStyle/>
          <a:p>
            <a:pPr algn="l" indent="0" marL="0">
              <a:buNone/>
            </a:pPr>
            <a:r>
              <a:rPr lang="en-US" sz="1350" dirty="0">
                <a:solidFill>
                  <a:srgbClr val="14213D"/>
                </a:solidFill>
                <a:latin typeface="Calibri" pitchFamily="34" charset="0"/>
                <a:ea typeface="Calibri" pitchFamily="34" charset="-122"/>
                <a:cs typeface="Calibri" pitchFamily="34" charset="-120"/>
              </a:rPr>
              <a:t>New drinks</a:t>
            </a:r>
            <a:endParaRPr lang="en-US" sz="1350" dirty="0"/>
          </a:p>
        </p:txBody>
      </p:sp>
      <p:sp>
        <p:nvSpPr>
          <p:cNvPr id="14" name="Text 10"/>
          <p:cNvSpPr/>
          <p:nvPr/>
        </p:nvSpPr>
        <p:spPr>
          <a:xfrm>
            <a:off x="1280160" y="3355848"/>
            <a:ext cx="685800" cy="420624"/>
          </a:xfrm>
          <a:prstGeom prst="roundRect">
            <a:avLst>
              <a:gd name="adj" fmla="val 13043"/>
            </a:avLst>
          </a:prstGeom>
          <a:solidFill>
            <a:srgbClr val="14213D"/>
          </a:solidFill>
          <a:ln/>
        </p:spPr>
        <p:txBody>
          <a:bodyPr wrap="square" lIns="50800" tIns="50800" rIns="50800" bIns="5080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h2</a:t>
            </a:r>
            <a:endParaRPr lang="en-US" sz="1400" dirty="0"/>
          </a:p>
        </p:txBody>
      </p:sp>
      <p:sp>
        <p:nvSpPr>
          <p:cNvPr id="15" name="Text 11"/>
          <p:cNvSpPr/>
          <p:nvPr/>
        </p:nvSpPr>
        <p:spPr>
          <a:xfrm>
            <a:off x="2103120" y="3410712"/>
            <a:ext cx="3200400" cy="310896"/>
          </a:xfrm>
          <a:prstGeom prst="rect">
            <a:avLst/>
          </a:prstGeom>
          <a:noFill/>
          <a:ln/>
        </p:spPr>
        <p:txBody>
          <a:bodyPr wrap="square" lIns="0" tIns="0" rIns="0" bIns="0" rtlCol="0" anchor="ctr"/>
          <a:lstStyle/>
          <a:p>
            <a:pPr algn="l" indent="0" marL="0">
              <a:buNone/>
            </a:pPr>
            <a:r>
              <a:rPr lang="en-US" sz="1350" dirty="0">
                <a:solidFill>
                  <a:srgbClr val="14213D"/>
                </a:solidFill>
                <a:latin typeface="Calibri" pitchFamily="34" charset="0"/>
                <a:ea typeface="Calibri" pitchFamily="34" charset="-122"/>
                <a:cs typeface="Calibri" pitchFamily="34" charset="-120"/>
              </a:rPr>
              <a:t>Notices</a:t>
            </a:r>
            <a:endParaRPr lang="en-US" sz="1350" dirty="0"/>
          </a:p>
        </p:txBody>
      </p:sp>
      <p:sp>
        <p:nvSpPr>
          <p:cNvPr id="16" name="Shape 12"/>
          <p:cNvSpPr/>
          <p:nvPr/>
        </p:nvSpPr>
        <p:spPr>
          <a:xfrm>
            <a:off x="5120640" y="1234440"/>
            <a:ext cx="3474720" cy="1280160"/>
          </a:xfrm>
          <a:prstGeom prst="roundRect">
            <a:avLst>
              <a:gd name="adj" fmla="val 5714"/>
            </a:avLst>
          </a:prstGeom>
          <a:solidFill>
            <a:srgbClr val="FFF3F4"/>
          </a:solidFill>
          <a:ln/>
        </p:spPr>
      </p:sp>
      <p:sp>
        <p:nvSpPr>
          <p:cNvPr id="17" name="Text 13"/>
          <p:cNvSpPr/>
          <p:nvPr/>
        </p:nvSpPr>
        <p:spPr>
          <a:xfrm>
            <a:off x="5303520" y="1362456"/>
            <a:ext cx="3108960" cy="320040"/>
          </a:xfrm>
          <a:prstGeom prst="rect">
            <a:avLst/>
          </a:prstGeom>
          <a:noFill/>
          <a:ln/>
        </p:spPr>
        <p:txBody>
          <a:bodyPr wrap="square" lIns="0" tIns="0" rIns="0" bIns="0" rtlCol="0" anchor="ctr"/>
          <a:lstStyle/>
          <a:p>
            <a:pPr indent="0" marL="0">
              <a:buNone/>
            </a:pPr>
            <a:r>
              <a:rPr lang="en-US" sz="1600" b="1" dirty="0">
                <a:solidFill>
                  <a:srgbClr val="990011"/>
                </a:solidFill>
                <a:latin typeface="Cambria" pitchFamily="34" charset="0"/>
                <a:ea typeface="Cambria" pitchFamily="34" charset="-122"/>
                <a:cs typeface="Cambria" pitchFamily="34" charset="-120"/>
              </a:rPr>
              <a:t>Rule 1: one h1</a:t>
            </a:r>
            <a:endParaRPr lang="en-US" sz="1600" dirty="0"/>
          </a:p>
        </p:txBody>
      </p:sp>
      <p:sp>
        <p:nvSpPr>
          <p:cNvPr id="18" name="Text 14"/>
          <p:cNvSpPr/>
          <p:nvPr/>
        </p:nvSpPr>
        <p:spPr>
          <a:xfrm>
            <a:off x="5303520" y="1737360"/>
            <a:ext cx="3108960" cy="64008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One page = one title. The h1 says what the whole page is about.</a:t>
            </a:r>
            <a:endParaRPr lang="en-US" sz="1250" dirty="0"/>
          </a:p>
        </p:txBody>
      </p:sp>
      <p:sp>
        <p:nvSpPr>
          <p:cNvPr id="19" name="Shape 15"/>
          <p:cNvSpPr/>
          <p:nvPr/>
        </p:nvSpPr>
        <p:spPr>
          <a:xfrm>
            <a:off x="5120640" y="2651760"/>
            <a:ext cx="3474720" cy="1280160"/>
          </a:xfrm>
          <a:prstGeom prst="roundRect">
            <a:avLst>
              <a:gd name="adj" fmla="val 5714"/>
            </a:avLst>
          </a:prstGeom>
          <a:solidFill>
            <a:srgbClr val="F9F6F5"/>
          </a:solidFill>
          <a:ln w="9525">
            <a:solidFill>
              <a:srgbClr val="E8E2E1"/>
            </a:solidFill>
            <a:prstDash val="solid"/>
          </a:ln>
        </p:spPr>
      </p:sp>
      <p:sp>
        <p:nvSpPr>
          <p:cNvPr id="20" name="Text 16"/>
          <p:cNvSpPr/>
          <p:nvPr/>
        </p:nvSpPr>
        <p:spPr>
          <a:xfrm>
            <a:off x="5303520" y="2779776"/>
            <a:ext cx="3108960" cy="32004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Rule 2: no jumps</a:t>
            </a:r>
            <a:endParaRPr lang="en-US" sz="1600" dirty="0"/>
          </a:p>
        </p:txBody>
      </p:sp>
      <p:sp>
        <p:nvSpPr>
          <p:cNvPr id="21" name="Text 17"/>
          <p:cNvSpPr/>
          <p:nvPr/>
        </p:nvSpPr>
        <p:spPr>
          <a:xfrm>
            <a:off x="5303520" y="3154680"/>
            <a:ext cx="3108960" cy="64008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h1 → h2 → h3. Never h2 → h5. Pick the level by meaning, not by size.</a:t>
            </a:r>
            <a:endParaRPr lang="en-US" sz="1250" dirty="0"/>
          </a:p>
        </p:txBody>
      </p:sp>
      <p:sp>
        <p:nvSpPr>
          <p:cNvPr id="22" name="Shape 18"/>
          <p:cNvSpPr/>
          <p:nvPr/>
        </p:nvSpPr>
        <p:spPr>
          <a:xfrm>
            <a:off x="548640" y="4206240"/>
            <a:ext cx="8046720" cy="502920"/>
          </a:xfrm>
          <a:prstGeom prst="roundRect">
            <a:avLst>
              <a:gd name="adj" fmla="val 14545"/>
            </a:avLst>
          </a:prstGeom>
          <a:solidFill>
            <a:srgbClr val="F5EBD8"/>
          </a:solidFill>
          <a:ln/>
        </p:spPr>
      </p:sp>
      <p:sp>
        <p:nvSpPr>
          <p:cNvPr id="23" name="Text 19"/>
          <p:cNvSpPr/>
          <p:nvPr/>
        </p:nvSpPr>
        <p:spPr>
          <a:xfrm>
            <a:off x="749808" y="4206240"/>
            <a:ext cx="7644384" cy="502920"/>
          </a:xfrm>
          <a:prstGeom prst="rect">
            <a:avLst/>
          </a:prstGeom>
          <a:noFill/>
          <a:ln/>
        </p:spPr>
        <p:txBody>
          <a:bodyPr wrap="square" lIns="0" tIns="0" rIns="0" bIns="0" rtlCol="0" anchor="ctr"/>
          <a:lstStyle/>
          <a:p>
            <a:pPr indent="0" marL="0">
              <a:buNone/>
            </a:pPr>
            <a:r>
              <a:rPr lang="en-US" sz="1250" b="1" dirty="0">
                <a:solidFill>
                  <a:srgbClr val="9A701F"/>
                </a:solidFill>
                <a:latin typeface="Calibri" pitchFamily="34" charset="0"/>
                <a:ea typeface="Calibri" pitchFamily="34" charset="-122"/>
                <a:cs typeface="Calibri" pitchFamily="34" charset="-120"/>
              </a:rPr>
              <a:t>Want big bold text?  </a:t>
            </a:r>
            <a:pPr indent="0" marL="0">
              <a:buNone/>
            </a:pPr>
            <a:r>
              <a:rPr lang="en-US" sz="1250" dirty="0">
                <a:solidFill>
                  <a:srgbClr val="2C3547"/>
                </a:solidFill>
                <a:latin typeface="Calibri" pitchFamily="34" charset="0"/>
                <a:ea typeface="Calibri" pitchFamily="34" charset="-122"/>
                <a:cs typeface="Calibri" pitchFamily="34" charset="-120"/>
              </a:rPr>
              <a:t>That is CSS (tomorrow), not a heading. Never use &lt;h4&gt; just to make a sentence bold.</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code-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612648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Entities: printing &lt;, &amp; and ©</a:t>
            </a:r>
            <a:endParaRPr lang="en-US" sz="2700" dirty="0"/>
          </a:p>
        </p:txBody>
      </p:sp>
      <p:sp>
        <p:nvSpPr>
          <p:cNvPr id="5" name="Text 2"/>
          <p:cNvSpPr/>
          <p:nvPr/>
        </p:nvSpPr>
        <p:spPr>
          <a:xfrm>
            <a:off x="7315200" y="402336"/>
            <a:ext cx="1417320" cy="310896"/>
          </a:xfrm>
          <a:prstGeom prst="roundRect">
            <a:avLst>
              <a:gd name="adj" fmla="val 50000"/>
            </a:avLst>
          </a:prstGeom>
          <a:solidFill>
            <a:srgbClr val="F5EBD8"/>
          </a:solidFill>
          <a:ln/>
        </p:spPr>
        <p:txBody>
          <a:bodyPr wrap="square" lIns="0" tIns="0" rIns="0" bIns="0" rtlCol="0" anchor="ctr"/>
          <a:lstStyle/>
          <a:p>
            <a:pPr algn="ctr" indent="0" marL="0">
              <a:buNone/>
            </a:pPr>
            <a:r>
              <a:rPr lang="en-US" sz="1100" b="1" spc="200" kern="0" dirty="0">
                <a:solidFill>
                  <a:srgbClr val="9A701F"/>
                </a:solidFill>
                <a:latin typeface="Calibri" pitchFamily="34" charset="0"/>
                <a:ea typeface="Calibri" pitchFamily="34" charset="-122"/>
                <a:cs typeface="Calibri" pitchFamily="34" charset="-120"/>
              </a:rPr>
              <a:t>ACTIVITY</a:t>
            </a:r>
            <a:endParaRPr lang="en-US" sz="1100" dirty="0"/>
          </a:p>
        </p:txBody>
      </p:sp>
      <p:sp>
        <p:nvSpPr>
          <p:cNvPr id="7" name="Text 3"/>
          <p:cNvSpPr/>
          <p:nvPr/>
        </p:nvSpPr>
        <p:spPr>
          <a:xfrm>
            <a:off x="548640" y="1078992"/>
            <a:ext cx="8046720" cy="274320"/>
          </a:xfrm>
          <a:prstGeom prst="rect">
            <a:avLst/>
          </a:prstGeom>
          <a:noFill/>
          <a:ln/>
        </p:spPr>
        <p:txBody>
          <a:bodyPr wrap="square" lIns="0" tIns="0" rIns="0" bIns="0" rtlCol="0" anchor="ctr"/>
          <a:lstStyle/>
          <a:p>
            <a:pPr indent="0" marL="0">
              <a:buNone/>
            </a:pPr>
            <a:r>
              <a:rPr lang="en-US" sz="1300" b="1" dirty="0">
                <a:solidFill>
                  <a:srgbClr val="990011"/>
                </a:solidFill>
                <a:latin typeface="Calibri" pitchFamily="34" charset="0"/>
                <a:ea typeface="Calibri" pitchFamily="34" charset="-122"/>
                <a:cs typeface="Calibri" pitchFamily="34" charset="-120"/>
              </a:rPr>
              <a:t>Code-along  ·  2 min  ·  type with me  ·  W2D1/instructor-demos/B4-text/step-04-entities</a:t>
            </a:r>
            <a:endParaRPr lang="en-US" sz="1300" dirty="0"/>
          </a:p>
        </p:txBody>
      </p:sp>
      <p:sp>
        <p:nvSpPr>
          <p:cNvPr id="8" name="Shape 4"/>
          <p:cNvSpPr/>
          <p:nvPr/>
        </p:nvSpPr>
        <p:spPr>
          <a:xfrm>
            <a:off x="548640" y="1463040"/>
            <a:ext cx="5486400" cy="1280160"/>
          </a:xfrm>
          <a:prstGeom prst="roundRect">
            <a:avLst>
              <a:gd name="adj" fmla="val 5714"/>
            </a:avLst>
          </a:prstGeom>
          <a:solidFill>
            <a:srgbClr val="16274A"/>
          </a:solidFill>
          <a:ln/>
        </p:spPr>
      </p:sp>
      <p:sp>
        <p:nvSpPr>
          <p:cNvPr id="9" name="Shape 5"/>
          <p:cNvSpPr/>
          <p:nvPr/>
        </p:nvSpPr>
        <p:spPr>
          <a:xfrm>
            <a:off x="694944" y="1581912"/>
            <a:ext cx="82296" cy="82296"/>
          </a:xfrm>
          <a:prstGeom prst="ellipse">
            <a:avLst/>
          </a:prstGeom>
          <a:solidFill>
            <a:srgbClr val="FF5F56"/>
          </a:solidFill>
          <a:ln/>
        </p:spPr>
      </p:sp>
      <p:sp>
        <p:nvSpPr>
          <p:cNvPr id="10" name="Shape 6"/>
          <p:cNvSpPr/>
          <p:nvPr/>
        </p:nvSpPr>
        <p:spPr>
          <a:xfrm>
            <a:off x="841248" y="1581912"/>
            <a:ext cx="82296" cy="82296"/>
          </a:xfrm>
          <a:prstGeom prst="ellipse">
            <a:avLst/>
          </a:prstGeom>
          <a:solidFill>
            <a:srgbClr val="FFBD2E"/>
          </a:solidFill>
          <a:ln/>
        </p:spPr>
      </p:sp>
      <p:sp>
        <p:nvSpPr>
          <p:cNvPr id="11" name="Shape 7"/>
          <p:cNvSpPr/>
          <p:nvPr/>
        </p:nvSpPr>
        <p:spPr>
          <a:xfrm>
            <a:off x="987552" y="1581912"/>
            <a:ext cx="82296" cy="82296"/>
          </a:xfrm>
          <a:prstGeom prst="ellipse">
            <a:avLst/>
          </a:prstGeom>
          <a:solidFill>
            <a:srgbClr val="27C93F"/>
          </a:solidFill>
          <a:ln/>
        </p:spPr>
      </p:sp>
      <p:sp>
        <p:nvSpPr>
          <p:cNvPr id="12" name="Text 8"/>
          <p:cNvSpPr/>
          <p:nvPr/>
        </p:nvSpPr>
        <p:spPr>
          <a:xfrm>
            <a:off x="1188720" y="1517904"/>
            <a:ext cx="4663440" cy="219456"/>
          </a:xfrm>
          <a:prstGeom prst="rect">
            <a:avLst/>
          </a:prstGeom>
          <a:noFill/>
          <a:ln/>
        </p:spPr>
        <p:txBody>
          <a:bodyPr wrap="square" lIns="0" tIns="0" rIns="0" bIns="0" rtlCol="0" anchor="ctr"/>
          <a:lstStyle/>
          <a:p>
            <a:pPr indent="0" marL="0">
              <a:buNone/>
            </a:pPr>
            <a:r>
              <a:rPr lang="en-US" sz="1000" dirty="0">
                <a:solidFill>
                  <a:srgbClr val="9AA8BF"/>
                </a:solidFill>
                <a:latin typeface="Courier New" pitchFamily="34" charset="0"/>
                <a:ea typeface="Courier New" pitchFamily="34" charset="-122"/>
                <a:cs typeface="Courier New" pitchFamily="34" charset="-120"/>
              </a:rPr>
              <a:t>index.html  (inside &lt;body&gt;)</a:t>
            </a:r>
            <a:endParaRPr lang="en-US" sz="1000" dirty="0"/>
          </a:p>
        </p:txBody>
      </p:sp>
      <p:sp>
        <p:nvSpPr>
          <p:cNvPr id="13" name="Text 9"/>
          <p:cNvSpPr/>
          <p:nvPr/>
        </p:nvSpPr>
        <p:spPr>
          <a:xfrm>
            <a:off x="749808" y="1810512"/>
            <a:ext cx="5120640" cy="822960"/>
          </a:xfrm>
          <a:prstGeom prst="rect">
            <a:avLst/>
          </a:prstGeom>
          <a:noFill/>
          <a:ln/>
        </p:spPr>
        <p:txBody>
          <a:bodyPr wrap="square" lIns="0" tIns="0" rIns="0" bIns="0" rtlCol="0" anchor="t"/>
          <a:lstStyle/>
          <a:p>
            <a:pPr indent="0" marL="0">
              <a:lnSpc>
                <a:spcPts val="1536"/>
              </a:lnSpc>
              <a:buNone/>
            </a:pPr>
            <a:r>
              <a:rPr lang="en-US" sz="1200" dirty="0">
                <a:solidFill>
                  <a:srgbClr val="E8EDF5"/>
                </a:solidFill>
                <a:latin typeface="Courier New" pitchFamily="34" charset="0"/>
                <a:ea typeface="Courier New" pitchFamily="34" charset="-122"/>
                <a:cs typeface="Courier New" pitchFamily="34" charset="-120"/>
              </a:rPr>
              <a:t>&lt;p&gt;Wrap text in &amp;lt;p&amp;gt; and &amp;lt;/p&amp;gt; tags.&lt;/p&gt;</a:t>
            </a:r>
            <a:endParaRPr lang="en-US" sz="1200" dirty="0"/>
          </a:p>
          <a:p>
            <a:pPr indent="0" marL="0">
              <a:lnSpc>
                <a:spcPts val="1536"/>
              </a:lnSpc>
              <a:buNone/>
            </a:pPr>
            <a:r>
              <a:rPr lang="en-US" sz="1200" dirty="0">
                <a:solidFill>
                  <a:srgbClr val="E8EDF5"/>
                </a:solidFill>
                <a:latin typeface="Courier New" pitchFamily="34" charset="0"/>
                <a:ea typeface="Courier New" pitchFamily="34" charset="-122"/>
                <a:cs typeface="Courier New" pitchFamily="34" charset="-120"/>
              </a:rPr>
              <a:t>&lt;p&gt;Momo &amp;amp; milk tea: Rs.&amp;nbsp;170&lt;/p&gt;</a:t>
            </a:r>
            <a:endParaRPr lang="en-US" sz="1200" dirty="0"/>
          </a:p>
          <a:p>
            <a:pPr indent="0" marL="0">
              <a:lnSpc>
                <a:spcPts val="1536"/>
              </a:lnSpc>
              <a:buNone/>
            </a:pPr>
            <a:r>
              <a:rPr lang="en-US" sz="1200" dirty="0">
                <a:solidFill>
                  <a:srgbClr val="E8EDF5"/>
                </a:solidFill>
                <a:latin typeface="Courier New" pitchFamily="34" charset="0"/>
                <a:ea typeface="Courier New" pitchFamily="34" charset="-122"/>
                <a:cs typeface="Courier New" pitchFamily="34" charset="-120"/>
              </a:rPr>
              <a:t>&lt;p&gt;&amp;copy; 2026 TSI Canteen&lt;/p&gt;</a:t>
            </a:r>
            <a:endParaRPr lang="en-US" sz="1200" dirty="0"/>
          </a:p>
        </p:txBody>
      </p:sp>
      <p:sp>
        <p:nvSpPr>
          <p:cNvPr id="14" name="Shape 10"/>
          <p:cNvSpPr/>
          <p:nvPr/>
        </p:nvSpPr>
        <p:spPr>
          <a:xfrm>
            <a:off x="6217920" y="1463040"/>
            <a:ext cx="2377440" cy="2011680"/>
          </a:xfrm>
          <a:prstGeom prst="roundRect">
            <a:avLst>
              <a:gd name="adj" fmla="val 3636"/>
            </a:avLst>
          </a:prstGeom>
          <a:solidFill>
            <a:srgbClr val="FFF3F4"/>
          </a:solidFill>
          <a:ln/>
        </p:spPr>
      </p:sp>
      <p:sp>
        <p:nvSpPr>
          <p:cNvPr id="15" name="Text 11"/>
          <p:cNvSpPr/>
          <p:nvPr/>
        </p:nvSpPr>
        <p:spPr>
          <a:xfrm>
            <a:off x="6400800" y="1591056"/>
            <a:ext cx="2011680" cy="320040"/>
          </a:xfrm>
          <a:prstGeom prst="rect">
            <a:avLst/>
          </a:prstGeom>
          <a:noFill/>
          <a:ln/>
        </p:spPr>
        <p:txBody>
          <a:bodyPr wrap="square" lIns="0" tIns="0" rIns="0" bIns="0" rtlCol="0" anchor="ctr"/>
          <a:lstStyle/>
          <a:p>
            <a:pPr indent="0" marL="0">
              <a:buNone/>
            </a:pPr>
            <a:r>
              <a:rPr lang="en-US" sz="1600" b="1" dirty="0">
                <a:solidFill>
                  <a:srgbClr val="990011"/>
                </a:solidFill>
                <a:latin typeface="Cambria" pitchFamily="34" charset="0"/>
                <a:ea typeface="Cambria" pitchFamily="34" charset="-122"/>
                <a:cs typeface="Cambria" pitchFamily="34" charset="-120"/>
              </a:rPr>
              <a:t>Escape codes</a:t>
            </a:r>
            <a:endParaRPr lang="en-US" sz="1600" dirty="0"/>
          </a:p>
        </p:txBody>
      </p:sp>
      <p:sp>
        <p:nvSpPr>
          <p:cNvPr id="16" name="Text 12"/>
          <p:cNvSpPr/>
          <p:nvPr/>
        </p:nvSpPr>
        <p:spPr>
          <a:xfrm>
            <a:off x="6400800" y="1965960"/>
            <a:ext cx="2011680" cy="137160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&amp;lt;  →  &lt;</a:t>
            </a: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&amp;gt;  →  &gt;</a:t>
            </a: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&amp;amp;  →  &amp;</a:t>
            </a: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&amp;copy;  →  ©</a:t>
            </a: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&amp;nbsp;  →  fixed space</a:t>
            </a:r>
            <a:endParaRPr lang="en-US" sz="1250" dirty="0"/>
          </a:p>
          <a:p>
            <a:pPr indent="0" marL="0">
              <a:buNone/>
            </a:pP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Starts with &amp;, ends with ;</a:t>
            </a:r>
            <a:endParaRPr lang="en-US" sz="1250" dirty="0"/>
          </a:p>
        </p:txBody>
      </p:sp>
      <p:sp>
        <p:nvSpPr>
          <p:cNvPr id="17" name="Shape 13"/>
          <p:cNvSpPr/>
          <p:nvPr/>
        </p:nvSpPr>
        <p:spPr>
          <a:xfrm>
            <a:off x="548640" y="4279392"/>
            <a:ext cx="8046720" cy="502920"/>
          </a:xfrm>
          <a:prstGeom prst="roundRect">
            <a:avLst>
              <a:gd name="adj" fmla="val 14545"/>
            </a:avLst>
          </a:prstGeom>
          <a:solidFill>
            <a:srgbClr val="F5EBD8"/>
          </a:solidFill>
          <a:ln/>
        </p:spPr>
      </p:sp>
      <p:sp>
        <p:nvSpPr>
          <p:cNvPr id="18" name="Text 14"/>
          <p:cNvSpPr/>
          <p:nvPr/>
        </p:nvSpPr>
        <p:spPr>
          <a:xfrm>
            <a:off x="749808" y="4279392"/>
            <a:ext cx="7644384" cy="502920"/>
          </a:xfrm>
          <a:prstGeom prst="rect">
            <a:avLst/>
          </a:prstGeom>
          <a:noFill/>
          <a:ln/>
        </p:spPr>
        <p:txBody>
          <a:bodyPr wrap="square" lIns="0" tIns="0" rIns="0" bIns="0" rtlCol="0" anchor="ctr"/>
          <a:lstStyle/>
          <a:p>
            <a:pPr indent="0" marL="0">
              <a:buNone/>
            </a:pPr>
            <a:r>
              <a:rPr lang="en-US" sz="1250" b="1" dirty="0">
                <a:solidFill>
                  <a:srgbClr val="9A701F"/>
                </a:solidFill>
                <a:latin typeface="Calibri" pitchFamily="34" charset="0"/>
                <a:ea typeface="Calibri" pitchFamily="34" charset="-122"/>
                <a:cs typeface="Calibri" pitchFamily="34" charset="-120"/>
              </a:rPr>
              <a:t>Escape codes:  </a:t>
            </a:r>
            <a:pPr indent="0" marL="0">
              <a:buNone/>
            </a:pPr>
            <a:r>
              <a:rPr lang="en-US" sz="1250" dirty="0">
                <a:solidFill>
                  <a:srgbClr val="2C3547"/>
                </a:solidFill>
                <a:latin typeface="Calibri" pitchFamily="34" charset="0"/>
                <a:ea typeface="Calibri" pitchFamily="34" charset="-122"/>
                <a:cs typeface="Calibri" pitchFamily="34" charset="-120"/>
              </a:rPr>
              <a:t>&amp;lt; means "print a &lt;, do not start a tag". One typo (&amp;nbps;) and it prints as text.</a:t>
            </a:r>
            <a:endParaRPr lang="en-US" sz="1250" dirty="0"/>
          </a:p>
        </p:txBody>
      </p:sp>
      <p:sp>
        <p:nvSpPr>
          <p:cNvPr id="19" name="Shape 15"/>
          <p:cNvSpPr/>
          <p:nvPr/>
        </p:nvSpPr>
        <p:spPr>
          <a:xfrm>
            <a:off x="548640" y="2880360"/>
            <a:ext cx="5486400" cy="1280160"/>
          </a:xfrm>
          <a:prstGeom prst="roundRect">
            <a:avLst>
              <a:gd name="adj" fmla="val 5714"/>
            </a:avLst>
          </a:prstGeom>
          <a:solidFill>
            <a:srgbClr val="F9F6F5"/>
          </a:solidFill>
          <a:ln w="9525">
            <a:solidFill>
              <a:srgbClr val="E8E2E1"/>
            </a:solidFill>
            <a:prstDash val="solid"/>
          </a:ln>
        </p:spPr>
      </p:sp>
      <p:sp>
        <p:nvSpPr>
          <p:cNvPr id="20" name="Text 16"/>
          <p:cNvSpPr/>
          <p:nvPr/>
        </p:nvSpPr>
        <p:spPr>
          <a:xfrm>
            <a:off x="731520" y="3008376"/>
            <a:ext cx="5120640" cy="32004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On the page you see</a:t>
            </a:r>
            <a:endParaRPr lang="en-US" sz="1600" dirty="0"/>
          </a:p>
        </p:txBody>
      </p:sp>
      <p:sp>
        <p:nvSpPr>
          <p:cNvPr id="21" name="Text 17"/>
          <p:cNvSpPr/>
          <p:nvPr/>
        </p:nvSpPr>
        <p:spPr>
          <a:xfrm>
            <a:off x="731520" y="3383280"/>
            <a:ext cx="5120640" cy="64008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Wrap text in &lt;p&gt; and &lt;/p&gt; tags.</a:t>
            </a: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Momo &amp; milk tea: Rs. 170</a:t>
            </a: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 2026 TSI Canteen</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edit-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612648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D1-05  ·  Grandmother's note</a:t>
            </a:r>
            <a:endParaRPr lang="en-US" sz="2700" dirty="0"/>
          </a:p>
        </p:txBody>
      </p:sp>
      <p:sp>
        <p:nvSpPr>
          <p:cNvPr id="5" name="Text 2"/>
          <p:cNvSpPr/>
          <p:nvPr/>
        </p:nvSpPr>
        <p:spPr>
          <a:xfrm>
            <a:off x="7315200" y="402336"/>
            <a:ext cx="1417320" cy="310896"/>
          </a:xfrm>
          <a:prstGeom prst="roundRect">
            <a:avLst>
              <a:gd name="adj" fmla="val 50000"/>
            </a:avLst>
          </a:prstGeom>
          <a:solidFill>
            <a:srgbClr val="F5EBD8"/>
          </a:solidFill>
          <a:ln/>
        </p:spPr>
        <p:txBody>
          <a:bodyPr wrap="square" lIns="0" tIns="0" rIns="0" bIns="0" rtlCol="0" anchor="ctr"/>
          <a:lstStyle/>
          <a:p>
            <a:pPr algn="ctr" indent="0" marL="0">
              <a:buNone/>
            </a:pPr>
            <a:r>
              <a:rPr lang="en-US" sz="1100" b="1" spc="200" kern="0" dirty="0">
                <a:solidFill>
                  <a:srgbClr val="9A701F"/>
                </a:solidFill>
                <a:latin typeface="Calibri" pitchFamily="34" charset="0"/>
                <a:ea typeface="Calibri" pitchFamily="34" charset="-122"/>
                <a:cs typeface="Calibri" pitchFamily="34" charset="-120"/>
              </a:rPr>
              <a:t>ACTIVITY</a:t>
            </a:r>
            <a:endParaRPr lang="en-US" sz="1100" dirty="0"/>
          </a:p>
        </p:txBody>
      </p:sp>
      <p:sp>
        <p:nvSpPr>
          <p:cNvPr id="7" name="Text 3"/>
          <p:cNvSpPr/>
          <p:nvPr/>
        </p:nvSpPr>
        <p:spPr>
          <a:xfrm>
            <a:off x="548640" y="1078992"/>
            <a:ext cx="8046720" cy="274320"/>
          </a:xfrm>
          <a:prstGeom prst="rect">
            <a:avLst/>
          </a:prstGeom>
          <a:noFill/>
          <a:ln/>
        </p:spPr>
        <p:txBody>
          <a:bodyPr wrap="square" lIns="0" tIns="0" rIns="0" bIns="0" rtlCol="0" anchor="ctr"/>
          <a:lstStyle/>
          <a:p>
            <a:pPr indent="0" marL="0">
              <a:buNone/>
            </a:pPr>
            <a:r>
              <a:rPr lang="en-US" sz="1300" b="1" dirty="0">
                <a:solidFill>
                  <a:srgbClr val="990011"/>
                </a:solidFill>
                <a:latin typeface="Calibri" pitchFamily="34" charset="0"/>
                <a:ea typeface="Calibri" pitchFamily="34" charset="-122"/>
                <a:cs typeface="Calibri" pitchFamily="34" charset="-120"/>
              </a:rPr>
              <a:t>4 minutes  ·  solo  ·  W2D1/classwork/D1-05-grandmothers-note/</a:t>
            </a:r>
            <a:endParaRPr lang="en-US" sz="1300" dirty="0"/>
          </a:p>
        </p:txBody>
      </p:sp>
      <p:sp>
        <p:nvSpPr>
          <p:cNvPr id="8" name="Text 4"/>
          <p:cNvSpPr/>
          <p:nvPr/>
        </p:nvSpPr>
        <p:spPr>
          <a:xfrm>
            <a:off x="566928" y="15544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5"/>
          <p:cNvSpPr/>
          <p:nvPr/>
        </p:nvSpPr>
        <p:spPr>
          <a:xfrm>
            <a:off x="1005840" y="15270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Open index.html: 4 plain sentences</a:t>
            </a:r>
            <a:endParaRPr lang="en-US" sz="1350" dirty="0"/>
          </a:p>
        </p:txBody>
      </p:sp>
      <p:sp>
        <p:nvSpPr>
          <p:cNvPr id="10" name="Text 6"/>
          <p:cNvSpPr/>
          <p:nvPr/>
        </p:nvSpPr>
        <p:spPr>
          <a:xfrm>
            <a:off x="566928" y="20116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7"/>
          <p:cNvSpPr/>
          <p:nvPr/>
        </p:nvSpPr>
        <p:spPr>
          <a:xfrm>
            <a:off x="1005840" y="19842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The most important words → &lt;strong&gt;</a:t>
            </a:r>
            <a:endParaRPr lang="en-US" sz="1350" dirty="0"/>
          </a:p>
        </p:txBody>
      </p:sp>
      <p:sp>
        <p:nvSpPr>
          <p:cNvPr id="12" name="Text 8"/>
          <p:cNvSpPr/>
          <p:nvPr/>
        </p:nvSpPr>
        <p:spPr>
          <a:xfrm>
            <a:off x="566928" y="24688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9"/>
          <p:cNvSpPr/>
          <p:nvPr/>
        </p:nvSpPr>
        <p:spPr>
          <a:xfrm>
            <a:off x="1005840" y="24414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One stressed word → &lt;em&gt;</a:t>
            </a:r>
            <a:endParaRPr lang="en-US" sz="1350" dirty="0"/>
          </a:p>
        </p:txBody>
      </p:sp>
      <p:sp>
        <p:nvSpPr>
          <p:cNvPr id="14" name="Text 10"/>
          <p:cNvSpPr/>
          <p:nvPr/>
        </p:nvSpPr>
        <p:spPr>
          <a:xfrm>
            <a:off x="566928" y="29260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1"/>
          <p:cNvSpPr/>
          <p:nvPr/>
        </p:nvSpPr>
        <p:spPr>
          <a:xfrm>
            <a:off x="1005840" y="28986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The address on 2 lines → &lt;br&gt;</a:t>
            </a:r>
            <a:endParaRPr lang="en-US" sz="1350" dirty="0"/>
          </a:p>
        </p:txBody>
      </p:sp>
      <p:sp>
        <p:nvSpPr>
          <p:cNvPr id="16" name="Text 12"/>
          <p:cNvSpPr/>
          <p:nvPr/>
        </p:nvSpPr>
        <p:spPr>
          <a:xfrm>
            <a:off x="566928" y="33832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7" name="Text 13"/>
          <p:cNvSpPr/>
          <p:nvPr/>
        </p:nvSpPr>
        <p:spPr>
          <a:xfrm>
            <a:off x="1005840" y="33558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Grandmother's saying → &lt;blockquote&gt;</a:t>
            </a:r>
            <a:endParaRPr lang="en-US" sz="1350" dirty="0"/>
          </a:p>
        </p:txBody>
      </p:sp>
      <p:sp>
        <p:nvSpPr>
          <p:cNvPr id="18" name="Shape 14"/>
          <p:cNvSpPr/>
          <p:nvPr/>
        </p:nvSpPr>
        <p:spPr>
          <a:xfrm>
            <a:off x="5760720" y="1554480"/>
            <a:ext cx="2834640" cy="2331720"/>
          </a:xfrm>
          <a:prstGeom prst="roundRect">
            <a:avLst>
              <a:gd name="adj" fmla="val 3137"/>
            </a:avLst>
          </a:prstGeom>
          <a:solidFill>
            <a:srgbClr val="FFF3F4"/>
          </a:solidFill>
          <a:ln/>
        </p:spPr>
      </p:sp>
      <p:sp>
        <p:nvSpPr>
          <p:cNvPr id="19" name="Text 15"/>
          <p:cNvSpPr/>
          <p:nvPr/>
        </p:nvSpPr>
        <p:spPr>
          <a:xfrm>
            <a:off x="5943600" y="1682496"/>
            <a:ext cx="2468880" cy="320040"/>
          </a:xfrm>
          <a:prstGeom prst="rect">
            <a:avLst/>
          </a:prstGeom>
          <a:noFill/>
          <a:ln/>
        </p:spPr>
        <p:txBody>
          <a:bodyPr wrap="square" lIns="0" tIns="0" rIns="0" bIns="0" rtlCol="0" anchor="ctr"/>
          <a:lstStyle/>
          <a:p>
            <a:pPr indent="0" marL="0">
              <a:buNone/>
            </a:pPr>
            <a:r>
              <a:rPr lang="en-US" sz="1600" b="1" dirty="0">
                <a:solidFill>
                  <a:srgbClr val="990011"/>
                </a:solidFill>
                <a:latin typeface="Cambria" pitchFamily="34" charset="0"/>
                <a:ea typeface="Cambria" pitchFamily="34" charset="-122"/>
                <a:cs typeface="Cambria" pitchFamily="34" charset="-120"/>
              </a:rPr>
              <a:t>DONE looks like</a:t>
            </a:r>
            <a:endParaRPr lang="en-US" sz="1600" dirty="0"/>
          </a:p>
        </p:txBody>
      </p:sp>
      <p:sp>
        <p:nvSpPr>
          <p:cNvPr id="20" name="Text 16"/>
          <p:cNvSpPr/>
          <p:nvPr/>
        </p:nvSpPr>
        <p:spPr>
          <a:xfrm>
            <a:off x="5943600" y="2057400"/>
            <a:ext cx="2468880" cy="169164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Live Server shows bold, italic, a line break and an indented quote.</a:t>
            </a:r>
            <a:endParaRPr lang="en-US" sz="1250" dirty="0"/>
          </a:p>
          <a:p>
            <a:pPr indent="0" marL="0">
              <a:buNone/>
            </a:pP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You can say WHY each tag is there.</a:t>
            </a:r>
            <a:endParaRPr lang="en-US" sz="1250" dirty="0"/>
          </a:p>
        </p:txBody>
      </p:sp>
      <p:sp>
        <p:nvSpPr>
          <p:cNvPr id="21" name="Shape 17"/>
          <p:cNvSpPr/>
          <p:nvPr/>
        </p:nvSpPr>
        <p:spPr>
          <a:xfrm>
            <a:off x="548640" y="4206240"/>
            <a:ext cx="8046720" cy="502920"/>
          </a:xfrm>
          <a:prstGeom prst="roundRect">
            <a:avLst>
              <a:gd name="adj" fmla="val 14545"/>
            </a:avLst>
          </a:prstGeom>
          <a:solidFill>
            <a:srgbClr val="F5EBD8"/>
          </a:solidFill>
          <a:ln/>
        </p:spPr>
      </p:sp>
      <p:sp>
        <p:nvSpPr>
          <p:cNvPr id="22" name="Text 18"/>
          <p:cNvSpPr/>
          <p:nvPr/>
        </p:nvSpPr>
        <p:spPr>
          <a:xfrm>
            <a:off x="749808" y="4206240"/>
            <a:ext cx="7644384" cy="502920"/>
          </a:xfrm>
          <a:prstGeom prst="rect">
            <a:avLst/>
          </a:prstGeom>
          <a:noFill/>
          <a:ln/>
        </p:spPr>
        <p:txBody>
          <a:bodyPr wrap="square" lIns="0" tIns="0" rIns="0" bIns="0" rtlCol="0" anchor="ctr"/>
          <a:lstStyle/>
          <a:p>
            <a:pPr indent="0" marL="0">
              <a:buNone/>
            </a:pPr>
            <a:r>
              <a:rPr lang="en-US" sz="1250" b="1" dirty="0">
                <a:solidFill>
                  <a:srgbClr val="9A701F"/>
                </a:solidFill>
                <a:latin typeface="Calibri" pitchFamily="34" charset="0"/>
                <a:ea typeface="Calibri" pitchFamily="34" charset="-122"/>
                <a:cs typeface="Calibri" pitchFamily="34" charset="-120"/>
              </a:rPr>
              <a:t>Meaning first:  </a:t>
            </a:r>
            <a:pPr indent="0" marL="0">
              <a:buNone/>
            </a:pPr>
            <a:r>
              <a:rPr lang="en-US" sz="1250" dirty="0">
                <a:solidFill>
                  <a:srgbClr val="2C3547"/>
                </a:solidFill>
                <a:latin typeface="Calibri" pitchFamily="34" charset="0"/>
                <a:ea typeface="Calibri" pitchFamily="34" charset="-122"/>
                <a:cs typeface="Calibri" pitchFamily="34" charset="-120"/>
              </a:rPr>
              <a:t>pick the tag for what the words MEAN, not for how they should look.</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search-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612648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D1-06  ·  Canteen News</a:t>
            </a:r>
            <a:endParaRPr lang="en-US" sz="2700" dirty="0"/>
          </a:p>
        </p:txBody>
      </p:sp>
      <p:sp>
        <p:nvSpPr>
          <p:cNvPr id="5" name="Text 2"/>
          <p:cNvSpPr/>
          <p:nvPr/>
        </p:nvSpPr>
        <p:spPr>
          <a:xfrm>
            <a:off x="7315200" y="402336"/>
            <a:ext cx="1417320" cy="310896"/>
          </a:xfrm>
          <a:prstGeom prst="roundRect">
            <a:avLst>
              <a:gd name="adj" fmla="val 50000"/>
            </a:avLst>
          </a:prstGeom>
          <a:solidFill>
            <a:srgbClr val="F5EBD8"/>
          </a:solidFill>
          <a:ln/>
        </p:spPr>
        <p:txBody>
          <a:bodyPr wrap="square" lIns="0" tIns="0" rIns="0" bIns="0" rtlCol="0" anchor="ctr"/>
          <a:lstStyle/>
          <a:p>
            <a:pPr algn="ctr" indent="0" marL="0">
              <a:buNone/>
            </a:pPr>
            <a:r>
              <a:rPr lang="en-US" sz="1100" b="1" spc="200" kern="0" dirty="0">
                <a:solidFill>
                  <a:srgbClr val="9A701F"/>
                </a:solidFill>
                <a:latin typeface="Calibri" pitchFamily="34" charset="0"/>
                <a:ea typeface="Calibri" pitchFamily="34" charset="-122"/>
                <a:cs typeface="Calibri" pitchFamily="34" charset="-120"/>
              </a:rPr>
              <a:t>ACTIVITY</a:t>
            </a:r>
            <a:endParaRPr lang="en-US" sz="1100" dirty="0"/>
          </a:p>
        </p:txBody>
      </p:sp>
      <p:sp>
        <p:nvSpPr>
          <p:cNvPr id="7" name="Text 3"/>
          <p:cNvSpPr/>
          <p:nvPr/>
        </p:nvSpPr>
        <p:spPr>
          <a:xfrm>
            <a:off x="548640" y="1078992"/>
            <a:ext cx="8046720" cy="274320"/>
          </a:xfrm>
          <a:prstGeom prst="rect">
            <a:avLst/>
          </a:prstGeom>
          <a:noFill/>
          <a:ln/>
        </p:spPr>
        <p:txBody>
          <a:bodyPr wrap="square" lIns="0" tIns="0" rIns="0" bIns="0" rtlCol="0" anchor="ctr"/>
          <a:lstStyle/>
          <a:p>
            <a:pPr indent="0" marL="0">
              <a:buNone/>
            </a:pPr>
            <a:r>
              <a:rPr lang="en-US" sz="1300" b="1" dirty="0">
                <a:solidFill>
                  <a:srgbClr val="990011"/>
                </a:solidFill>
                <a:latin typeface="Calibri" pitchFamily="34" charset="0"/>
                <a:ea typeface="Calibri" pitchFamily="34" charset="-122"/>
                <a:cs typeface="Calibri" pitchFamily="34" charset="-120"/>
              </a:rPr>
              <a:t>10 minutes  ·  solo  ·  W2D1/classwork/D1-06-canteen-news-bughunt/</a:t>
            </a:r>
            <a:endParaRPr lang="en-US" sz="1300" dirty="0"/>
          </a:p>
        </p:txBody>
      </p:sp>
      <p:sp>
        <p:nvSpPr>
          <p:cNvPr id="8" name="Text 4"/>
          <p:cNvSpPr/>
          <p:nvPr/>
        </p:nvSpPr>
        <p:spPr>
          <a:xfrm>
            <a:off x="566928" y="15544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5"/>
          <p:cNvSpPr/>
          <p:nvPr/>
        </p:nvSpPr>
        <p:spPr>
          <a:xfrm>
            <a:off x="1005840" y="15270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Open index.html with Live Server</a:t>
            </a:r>
            <a:endParaRPr lang="en-US" sz="1350" dirty="0"/>
          </a:p>
        </p:txBody>
      </p:sp>
      <p:sp>
        <p:nvSpPr>
          <p:cNvPr id="10" name="Text 6"/>
          <p:cNvSpPr/>
          <p:nvPr/>
        </p:nvSpPr>
        <p:spPr>
          <a:xfrm>
            <a:off x="566928" y="20116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7"/>
          <p:cNvSpPr/>
          <p:nvPr/>
        </p:nvSpPr>
        <p:spPr>
          <a:xfrm>
            <a:off x="1005840" y="19842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Read the page top to bottom</a:t>
            </a:r>
            <a:endParaRPr lang="en-US" sz="1350" dirty="0"/>
          </a:p>
        </p:txBody>
      </p:sp>
      <p:sp>
        <p:nvSpPr>
          <p:cNvPr id="12" name="Text 8"/>
          <p:cNvSpPr/>
          <p:nvPr/>
        </p:nvSpPr>
        <p:spPr>
          <a:xfrm>
            <a:off x="566928" y="24688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9"/>
          <p:cNvSpPr/>
          <p:nvPr/>
        </p:nvSpPr>
        <p:spPr>
          <a:xfrm>
            <a:off x="1005840" y="24414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Check the outline: how many h1?</a:t>
            </a:r>
            <a:endParaRPr lang="en-US" sz="1350" dirty="0"/>
          </a:p>
        </p:txBody>
      </p:sp>
      <p:sp>
        <p:nvSpPr>
          <p:cNvPr id="14" name="Text 10"/>
          <p:cNvSpPr/>
          <p:nvPr/>
        </p:nvSpPr>
        <p:spPr>
          <a:xfrm>
            <a:off x="566928" y="29260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1"/>
          <p:cNvSpPr/>
          <p:nvPr/>
        </p:nvSpPr>
        <p:spPr>
          <a:xfrm>
            <a:off x="1005840" y="28986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Look for text that shows wrongly</a:t>
            </a:r>
            <a:endParaRPr lang="en-US" sz="1350" dirty="0"/>
          </a:p>
        </p:txBody>
      </p:sp>
      <p:sp>
        <p:nvSpPr>
          <p:cNvPr id="16" name="Text 12"/>
          <p:cNvSpPr/>
          <p:nvPr/>
        </p:nvSpPr>
        <p:spPr>
          <a:xfrm>
            <a:off x="566928" y="33832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7" name="Text 13"/>
          <p:cNvSpPr/>
          <p:nvPr/>
        </p:nvSpPr>
        <p:spPr>
          <a:xfrm>
            <a:off x="1005840" y="33558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Is everything after one point italic or indented?</a:t>
            </a:r>
            <a:endParaRPr lang="en-US" sz="1350" dirty="0"/>
          </a:p>
        </p:txBody>
      </p:sp>
      <p:sp>
        <p:nvSpPr>
          <p:cNvPr id="18" name="Shape 14"/>
          <p:cNvSpPr/>
          <p:nvPr/>
        </p:nvSpPr>
        <p:spPr>
          <a:xfrm>
            <a:off x="5760720" y="1554480"/>
            <a:ext cx="2834640" cy="2331720"/>
          </a:xfrm>
          <a:prstGeom prst="roundRect">
            <a:avLst>
              <a:gd name="adj" fmla="val 3137"/>
            </a:avLst>
          </a:prstGeom>
          <a:solidFill>
            <a:srgbClr val="FFF3F4"/>
          </a:solidFill>
          <a:ln/>
        </p:spPr>
      </p:sp>
      <p:sp>
        <p:nvSpPr>
          <p:cNvPr id="19" name="Text 15"/>
          <p:cNvSpPr/>
          <p:nvPr/>
        </p:nvSpPr>
        <p:spPr>
          <a:xfrm>
            <a:off x="5943600" y="1682496"/>
            <a:ext cx="2468880" cy="320040"/>
          </a:xfrm>
          <a:prstGeom prst="rect">
            <a:avLst/>
          </a:prstGeom>
          <a:noFill/>
          <a:ln/>
        </p:spPr>
        <p:txBody>
          <a:bodyPr wrap="square" lIns="0" tIns="0" rIns="0" bIns="0" rtlCol="0" anchor="ctr"/>
          <a:lstStyle/>
          <a:p>
            <a:pPr indent="0" marL="0">
              <a:buNone/>
            </a:pPr>
            <a:r>
              <a:rPr lang="en-US" sz="1600" b="1" dirty="0">
                <a:solidFill>
                  <a:srgbClr val="990011"/>
                </a:solidFill>
                <a:latin typeface="Cambria" pitchFamily="34" charset="0"/>
                <a:ea typeface="Cambria" pitchFamily="34" charset="-122"/>
                <a:cs typeface="Cambria" pitchFamily="34" charset="-120"/>
              </a:rPr>
              <a:t>DONE looks like</a:t>
            </a:r>
            <a:endParaRPr lang="en-US" sz="1600" dirty="0"/>
          </a:p>
        </p:txBody>
      </p:sp>
      <p:sp>
        <p:nvSpPr>
          <p:cNvPr id="20" name="Text 16"/>
          <p:cNvSpPr/>
          <p:nvPr/>
        </p:nvSpPr>
        <p:spPr>
          <a:xfrm>
            <a:off x="5943600" y="2057400"/>
            <a:ext cx="2468880" cy="169164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One h1.</a:t>
            </a: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"Wrap text in &lt;p&gt; tags" shows the &lt;p&gt;.</a:t>
            </a: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"Rs. 150" shows with a normal space.</a:t>
            </a: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No stray italic or indent.</a:t>
            </a:r>
            <a:endParaRPr lang="en-US" sz="1250" dirty="0"/>
          </a:p>
        </p:txBody>
      </p:sp>
      <p:sp>
        <p:nvSpPr>
          <p:cNvPr id="21" name="Shape 17"/>
          <p:cNvSpPr/>
          <p:nvPr/>
        </p:nvSpPr>
        <p:spPr>
          <a:xfrm>
            <a:off x="548640" y="4206240"/>
            <a:ext cx="8046720" cy="502920"/>
          </a:xfrm>
          <a:prstGeom prst="roundRect">
            <a:avLst>
              <a:gd name="adj" fmla="val 14545"/>
            </a:avLst>
          </a:prstGeom>
          <a:solidFill>
            <a:srgbClr val="F5EBD8"/>
          </a:solidFill>
          <a:ln/>
        </p:spPr>
      </p:sp>
      <p:sp>
        <p:nvSpPr>
          <p:cNvPr id="22" name="Text 18"/>
          <p:cNvSpPr/>
          <p:nvPr/>
        </p:nvSpPr>
        <p:spPr>
          <a:xfrm>
            <a:off x="749808" y="4206240"/>
            <a:ext cx="7644384" cy="502920"/>
          </a:xfrm>
          <a:prstGeom prst="rect">
            <a:avLst/>
          </a:prstGeom>
          <a:noFill/>
          <a:ln/>
        </p:spPr>
        <p:txBody>
          <a:bodyPr wrap="square" lIns="0" tIns="0" rIns="0" bIns="0" rtlCol="0" anchor="ctr"/>
          <a:lstStyle/>
          <a:p>
            <a:pPr indent="0" marL="0">
              <a:buNone/>
            </a:pPr>
            <a:r>
              <a:rPr lang="en-US" sz="1250" b="1" dirty="0">
                <a:solidFill>
                  <a:srgbClr val="9A701F"/>
                </a:solidFill>
                <a:latin typeface="Calibri" pitchFamily="34" charset="0"/>
                <a:ea typeface="Calibri" pitchFamily="34" charset="-122"/>
                <a:cs typeface="Calibri" pitchFamily="34" charset="-120"/>
              </a:rPr>
              <a:t>5 bugs. Find at least 3.  </a:t>
            </a:r>
            <a:pPr indent="0" marL="0">
              <a:buNone/>
            </a:pPr>
            <a:r>
              <a:rPr lang="en-US" sz="1250" dirty="0">
                <a:solidFill>
                  <a:srgbClr val="2C3547"/>
                </a:solidFill>
                <a:latin typeface="Calibri" pitchFamily="34" charset="0"/>
                <a:ea typeface="Calibri" pitchFamily="34" charset="-122"/>
                <a:cs typeface="Calibri" pitchFamily="34" charset="-120"/>
              </a:rPr>
              <a:t>Then the reveal: solution/BUGS.md on the projector. Write your score line in the README.</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7498080" y="-1463040"/>
            <a:ext cx="3291840" cy="3291840"/>
          </a:xfrm>
          <a:prstGeom prst="ellipse">
            <a:avLst/>
          </a:prstGeom>
          <a:solidFill>
            <a:srgbClr val="2A3F63">
              <a:alpha val="60000"/>
            </a:srgbClr>
          </a:solidFill>
          <a:ln/>
        </p:spPr>
      </p:sp>
      <p:sp>
        <p:nvSpPr>
          <p:cNvPr id="3" name="Shape 1"/>
          <p:cNvSpPr/>
          <p:nvPr/>
        </p:nvSpPr>
        <p:spPr>
          <a:xfrm>
            <a:off x="-1097280" y="3657600"/>
            <a:ext cx="2743200" cy="2743200"/>
          </a:xfrm>
          <a:prstGeom prst="ellipse">
            <a:avLst/>
          </a:prstGeom>
          <a:solidFill>
            <a:srgbClr val="2A3F63">
              <a:alpha val="45000"/>
            </a:srgbClr>
          </a:solidFill>
          <a:ln/>
        </p:spPr>
      </p:sp>
      <p:sp>
        <p:nvSpPr>
          <p:cNvPr id="4" name="Text 2"/>
          <p:cNvSpPr/>
          <p:nvPr/>
        </p:nvSpPr>
        <p:spPr>
          <a:xfrm>
            <a:off x="640080" y="1051560"/>
            <a:ext cx="7863840" cy="365760"/>
          </a:xfrm>
          <a:prstGeom prst="rect">
            <a:avLst/>
          </a:prstGeom>
          <a:noFill/>
          <a:ln/>
        </p:spPr>
        <p:txBody>
          <a:bodyPr wrap="square" lIns="0" tIns="0" rIns="0" bIns="0" rtlCol="0" anchor="ctr"/>
          <a:lstStyle/>
          <a:p>
            <a:pPr indent="0" marL="0">
              <a:buNone/>
            </a:pPr>
            <a:r>
              <a:rPr lang="en-US" sz="1500" b="1" spc="200" kern="0" dirty="0">
                <a:solidFill>
                  <a:srgbClr val="9FB3D1"/>
                </a:solidFill>
                <a:latin typeface="Calibri" pitchFamily="34" charset="0"/>
                <a:ea typeface="Calibri" pitchFamily="34" charset="-122"/>
                <a:cs typeface="Calibri" pitchFamily="34" charset="-120"/>
              </a:rPr>
              <a:t>BREAK</a:t>
            </a:r>
            <a:endParaRPr lang="en-US" sz="1500" dirty="0"/>
          </a:p>
        </p:txBody>
      </p:sp>
      <p:sp>
        <p:nvSpPr>
          <p:cNvPr id="5" name="Text 3"/>
          <p:cNvSpPr/>
          <p:nvPr/>
        </p:nvSpPr>
        <p:spPr>
          <a:xfrm>
            <a:off x="640080" y="1463040"/>
            <a:ext cx="7863840" cy="155448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10 minutes</a:t>
            </a:r>
            <a:endParaRPr lang="en-US" sz="4000" dirty="0"/>
          </a:p>
        </p:txBody>
      </p:sp>
      <p:sp>
        <p:nvSpPr>
          <p:cNvPr id="6" name="Text 4"/>
          <p:cNvSpPr/>
          <p:nvPr/>
        </p:nvSpPr>
        <p:spPr>
          <a:xfrm>
            <a:off x="640080" y="3063240"/>
            <a:ext cx="7680960" cy="685800"/>
          </a:xfrm>
          <a:prstGeom prst="rect">
            <a:avLst/>
          </a:prstGeom>
          <a:noFill/>
          <a:ln/>
        </p:spPr>
        <p:txBody>
          <a:bodyPr wrap="square" lIns="0" tIns="0" rIns="0" bIns="0" rtlCol="0" anchor="t"/>
          <a:lstStyle/>
          <a:p>
            <a:pPr indent="0" marL="0">
              <a:buNone/>
            </a:pPr>
            <a:r>
              <a:rPr lang="en-US" sz="1700" dirty="0">
                <a:solidFill>
                  <a:srgbClr val="CADCFC"/>
                </a:solidFill>
                <a:latin typeface="Calibri" pitchFamily="34" charset="0"/>
                <a:ea typeface="Calibri" pitchFamily="34" charset="-122"/>
                <a:cs typeface="Calibri" pitchFamily="34" charset="-120"/>
              </a:rPr>
              <a:t>After the break: this page has 6 broken links. You fix them.</a:t>
            </a:r>
            <a:endParaRPr lang="en-US" sz="1700" dirty="0"/>
          </a:p>
          <a:p>
            <a:pPr indent="0" marL="0">
              <a:buNone/>
            </a:pPr>
            <a:r>
              <a:rPr lang="en-US" sz="1700" dirty="0">
                <a:solidFill>
                  <a:srgbClr val="CADCFC"/>
                </a:solidFill>
                <a:latin typeface="Calibri" pitchFamily="34" charset="0"/>
                <a:ea typeface="Calibri" pitchFamily="34" charset="-122"/>
                <a:cs typeface="Calibri" pitchFamily="34" charset="-120"/>
              </a:rPr>
              <a:t>No Live Server yet? Wave now — we install it together.</a:t>
            </a:r>
            <a:endParaRPr lang="en-US" sz="1700" dirty="0"/>
          </a:p>
        </p:txBody>
      </p:sp>
      <p:sp>
        <p:nvSpPr>
          <p:cNvPr id="7" name="Text 5"/>
          <p:cNvSpPr/>
          <p:nvPr/>
        </p:nvSpPr>
        <p:spPr>
          <a:xfrm>
            <a:off x="640080" y="4526280"/>
            <a:ext cx="7863840" cy="320040"/>
          </a:xfrm>
          <a:prstGeom prst="rect">
            <a:avLst/>
          </a:prstGeom>
          <a:noFill/>
          <a:ln/>
        </p:spPr>
        <p:txBody>
          <a:bodyPr wrap="square" lIns="0" tIns="0" rIns="0" bIns="0" rtlCol="0" anchor="ctr"/>
          <a:lstStyle/>
          <a:p>
            <a:pPr indent="0" marL="0">
              <a:buNone/>
            </a:pPr>
            <a:r>
              <a:rPr lang="en-US" sz="1200" dirty="0">
                <a:solidFill>
                  <a:srgbClr val="B9C2CF"/>
                </a:solidFill>
                <a:latin typeface="Calibri" pitchFamily="34" charset="0"/>
                <a:ea typeface="Calibri" pitchFamily="34" charset="-122"/>
                <a:cs typeface="Calibri" pitchFamily="34" charset="-120"/>
              </a:rPr>
              <a:t>AI-Powered Full Stack Developer  ·  Tech Skills Institute Nepal</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list-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758952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Shopping list vs recipe steps</a:t>
            </a:r>
            <a:endParaRPr lang="en-US" sz="2700" dirty="0"/>
          </a:p>
        </p:txBody>
      </p:sp>
      <p:sp>
        <p:nvSpPr>
          <p:cNvPr id="6" name="Text 2"/>
          <p:cNvSpPr/>
          <p:nvPr/>
        </p:nvSpPr>
        <p:spPr>
          <a:xfrm>
            <a:off x="548640" y="1143000"/>
            <a:ext cx="3931920" cy="274320"/>
          </a:xfrm>
          <a:prstGeom prst="rect">
            <a:avLst/>
          </a:prstGeom>
          <a:noFill/>
          <a:ln/>
        </p:spPr>
        <p:txBody>
          <a:bodyPr wrap="square" lIns="0" tIns="0" rIns="0" bIns="0" rtlCol="0" anchor="ctr"/>
          <a:lstStyle/>
          <a:p>
            <a:pPr algn="l" indent="0" marL="0">
              <a:buNone/>
            </a:pPr>
            <a:r>
              <a:rPr lang="en-US" sz="1250" b="1" dirty="0">
                <a:solidFill>
                  <a:srgbClr val="14213D"/>
                </a:solidFill>
                <a:latin typeface="Calibri" pitchFamily="34" charset="0"/>
                <a:ea typeface="Calibri" pitchFamily="34" charset="-122"/>
                <a:cs typeface="Calibri" pitchFamily="34" charset="-120"/>
              </a:rPr>
              <a:t>Shopping list: order does not matter → bullets</a:t>
            </a:r>
            <a:endParaRPr lang="en-US" sz="1250" dirty="0"/>
          </a:p>
        </p:txBody>
      </p:sp>
      <p:sp>
        <p:nvSpPr>
          <p:cNvPr id="7" name="Text 3"/>
          <p:cNvSpPr/>
          <p:nvPr/>
        </p:nvSpPr>
        <p:spPr>
          <a:xfrm>
            <a:off x="4663440" y="1143000"/>
            <a:ext cx="3931920" cy="274320"/>
          </a:xfrm>
          <a:prstGeom prst="rect">
            <a:avLst/>
          </a:prstGeom>
          <a:noFill/>
          <a:ln/>
        </p:spPr>
        <p:txBody>
          <a:bodyPr wrap="square" lIns="0" tIns="0" rIns="0" bIns="0" rtlCol="0" anchor="ctr"/>
          <a:lstStyle/>
          <a:p>
            <a:pPr algn="l" indent="0" marL="0">
              <a:buNone/>
            </a:pPr>
            <a:r>
              <a:rPr lang="en-US" sz="1250" b="1" dirty="0">
                <a:solidFill>
                  <a:srgbClr val="990011"/>
                </a:solidFill>
                <a:latin typeface="Calibri" pitchFamily="34" charset="0"/>
                <a:ea typeface="Calibri" pitchFamily="34" charset="-122"/>
                <a:cs typeface="Calibri" pitchFamily="34" charset="-120"/>
              </a:rPr>
              <a:t>Recipe steps: order matters → numbers</a:t>
            </a:r>
            <a:endParaRPr lang="en-US" sz="1250" dirty="0"/>
          </a:p>
        </p:txBody>
      </p:sp>
      <p:sp>
        <p:nvSpPr>
          <p:cNvPr id="8" name="Shape 4"/>
          <p:cNvSpPr/>
          <p:nvPr/>
        </p:nvSpPr>
        <p:spPr>
          <a:xfrm>
            <a:off x="548640" y="1463040"/>
            <a:ext cx="3931920" cy="2286000"/>
          </a:xfrm>
          <a:prstGeom prst="roundRect">
            <a:avLst>
              <a:gd name="adj" fmla="val 3200"/>
            </a:avLst>
          </a:prstGeom>
          <a:solidFill>
            <a:srgbClr val="16274A"/>
          </a:solidFill>
          <a:ln/>
        </p:spPr>
      </p:sp>
      <p:sp>
        <p:nvSpPr>
          <p:cNvPr id="9" name="Shape 5"/>
          <p:cNvSpPr/>
          <p:nvPr/>
        </p:nvSpPr>
        <p:spPr>
          <a:xfrm>
            <a:off x="694944" y="1581912"/>
            <a:ext cx="82296" cy="82296"/>
          </a:xfrm>
          <a:prstGeom prst="ellipse">
            <a:avLst/>
          </a:prstGeom>
          <a:solidFill>
            <a:srgbClr val="FF5F56"/>
          </a:solidFill>
          <a:ln/>
        </p:spPr>
      </p:sp>
      <p:sp>
        <p:nvSpPr>
          <p:cNvPr id="10" name="Shape 6"/>
          <p:cNvSpPr/>
          <p:nvPr/>
        </p:nvSpPr>
        <p:spPr>
          <a:xfrm>
            <a:off x="841248" y="1581912"/>
            <a:ext cx="82296" cy="82296"/>
          </a:xfrm>
          <a:prstGeom prst="ellipse">
            <a:avLst/>
          </a:prstGeom>
          <a:solidFill>
            <a:srgbClr val="FFBD2E"/>
          </a:solidFill>
          <a:ln/>
        </p:spPr>
      </p:sp>
      <p:sp>
        <p:nvSpPr>
          <p:cNvPr id="11" name="Shape 7"/>
          <p:cNvSpPr/>
          <p:nvPr/>
        </p:nvSpPr>
        <p:spPr>
          <a:xfrm>
            <a:off x="987552" y="1581912"/>
            <a:ext cx="82296" cy="82296"/>
          </a:xfrm>
          <a:prstGeom prst="ellipse">
            <a:avLst/>
          </a:prstGeom>
          <a:solidFill>
            <a:srgbClr val="27C93F"/>
          </a:solidFill>
          <a:ln/>
        </p:spPr>
      </p:sp>
      <p:sp>
        <p:nvSpPr>
          <p:cNvPr id="12" name="Text 8"/>
          <p:cNvSpPr/>
          <p:nvPr/>
        </p:nvSpPr>
        <p:spPr>
          <a:xfrm>
            <a:off x="1188720" y="1517904"/>
            <a:ext cx="3108960" cy="219456"/>
          </a:xfrm>
          <a:prstGeom prst="rect">
            <a:avLst/>
          </a:prstGeom>
          <a:noFill/>
          <a:ln/>
        </p:spPr>
        <p:txBody>
          <a:bodyPr wrap="square" lIns="0" tIns="0" rIns="0" bIns="0" rtlCol="0" anchor="ctr"/>
          <a:lstStyle/>
          <a:p>
            <a:pPr indent="0" marL="0">
              <a:buNone/>
            </a:pPr>
            <a:r>
              <a:rPr lang="en-US" sz="1000" dirty="0">
                <a:solidFill>
                  <a:srgbClr val="9AA8BF"/>
                </a:solidFill>
                <a:latin typeface="Courier New" pitchFamily="34" charset="0"/>
                <a:ea typeface="Courier New" pitchFamily="34" charset="-122"/>
                <a:cs typeface="Courier New" pitchFamily="34" charset="-120"/>
              </a:rPr>
              <a:t>shopping list</a:t>
            </a:r>
            <a:endParaRPr lang="en-US" sz="1000" dirty="0"/>
          </a:p>
        </p:txBody>
      </p:sp>
      <p:sp>
        <p:nvSpPr>
          <p:cNvPr id="13" name="Text 9"/>
          <p:cNvSpPr/>
          <p:nvPr/>
        </p:nvSpPr>
        <p:spPr>
          <a:xfrm>
            <a:off x="749808" y="1810512"/>
            <a:ext cx="3566160" cy="1828800"/>
          </a:xfrm>
          <a:prstGeom prst="rect">
            <a:avLst/>
          </a:prstGeom>
          <a:noFill/>
          <a:ln/>
        </p:spPr>
        <p:txBody>
          <a:bodyPr wrap="square" lIns="0" tIns="0" rIns="0" bIns="0" rtlCol="0" anchor="t"/>
          <a:lstStyle/>
          <a:p>
            <a:pPr indent="0" marL="0">
              <a:lnSpc>
                <a:spcPts val="1664"/>
              </a:lnSpc>
              <a:buNone/>
            </a:pPr>
            <a:r>
              <a:rPr lang="en-US" sz="1300" dirty="0">
                <a:solidFill>
                  <a:srgbClr val="E8EDF5"/>
                </a:solidFill>
                <a:latin typeface="Courier New" pitchFamily="34" charset="0"/>
                <a:ea typeface="Courier New" pitchFamily="34" charset="-122"/>
                <a:cs typeface="Courier New" pitchFamily="34" charset="-120"/>
              </a:rPr>
              <a:t>&lt;ul&gt;</a:t>
            </a:r>
            <a:endParaRPr lang="en-US" sz="1300" dirty="0"/>
          </a:p>
          <a:p>
            <a:pPr indent="0" marL="0">
              <a:lnSpc>
                <a:spcPts val="1664"/>
              </a:lnSpc>
              <a:buNone/>
            </a:pPr>
            <a:r>
              <a:rPr lang="en-US" sz="1300" dirty="0">
                <a:solidFill>
                  <a:srgbClr val="E8EDF5"/>
                </a:solidFill>
                <a:latin typeface="Courier New" pitchFamily="34" charset="0"/>
                <a:ea typeface="Courier New" pitchFamily="34" charset="-122"/>
                <a:cs typeface="Courier New" pitchFamily="34" charset="-120"/>
              </a:rPr>
              <a:t>  &lt;li&gt;Flour&lt;/li&gt;</a:t>
            </a:r>
            <a:endParaRPr lang="en-US" sz="1300" dirty="0"/>
          </a:p>
          <a:p>
            <a:pPr indent="0" marL="0">
              <a:lnSpc>
                <a:spcPts val="1664"/>
              </a:lnSpc>
              <a:buNone/>
            </a:pPr>
            <a:r>
              <a:rPr lang="en-US" sz="1300" dirty="0">
                <a:solidFill>
                  <a:srgbClr val="E8EDF5"/>
                </a:solidFill>
                <a:latin typeface="Courier New" pitchFamily="34" charset="0"/>
                <a:ea typeface="Courier New" pitchFamily="34" charset="-122"/>
                <a:cs typeface="Courier New" pitchFamily="34" charset="-120"/>
              </a:rPr>
              <a:t>  &lt;li&gt;Minced chicken&lt;/li&gt;</a:t>
            </a:r>
            <a:endParaRPr lang="en-US" sz="1300" dirty="0"/>
          </a:p>
          <a:p>
            <a:pPr indent="0" marL="0">
              <a:lnSpc>
                <a:spcPts val="1664"/>
              </a:lnSpc>
              <a:buNone/>
            </a:pPr>
            <a:r>
              <a:rPr lang="en-US" sz="1300" dirty="0">
                <a:solidFill>
                  <a:srgbClr val="E8EDF5"/>
                </a:solidFill>
                <a:latin typeface="Courier New" pitchFamily="34" charset="0"/>
                <a:ea typeface="Courier New" pitchFamily="34" charset="-122"/>
                <a:cs typeface="Courier New" pitchFamily="34" charset="-120"/>
              </a:rPr>
              <a:t>  &lt;li&gt;Onion&lt;/li&gt;</a:t>
            </a:r>
            <a:endParaRPr lang="en-US" sz="1300" dirty="0"/>
          </a:p>
          <a:p>
            <a:pPr indent="0" marL="0">
              <a:lnSpc>
                <a:spcPts val="1664"/>
              </a:lnSpc>
              <a:buNone/>
            </a:pPr>
            <a:r>
              <a:rPr lang="en-US" sz="1300" dirty="0">
                <a:solidFill>
                  <a:srgbClr val="E8EDF5"/>
                </a:solidFill>
                <a:latin typeface="Courier New" pitchFamily="34" charset="0"/>
                <a:ea typeface="Courier New" pitchFamily="34" charset="-122"/>
                <a:cs typeface="Courier New" pitchFamily="34" charset="-120"/>
              </a:rPr>
              <a:t>&lt;/ul&gt;</a:t>
            </a:r>
            <a:endParaRPr lang="en-US" sz="1300" dirty="0"/>
          </a:p>
        </p:txBody>
      </p:sp>
      <p:sp>
        <p:nvSpPr>
          <p:cNvPr id="14" name="Shape 10"/>
          <p:cNvSpPr/>
          <p:nvPr/>
        </p:nvSpPr>
        <p:spPr>
          <a:xfrm>
            <a:off x="4663440" y="1463040"/>
            <a:ext cx="3931920" cy="2286000"/>
          </a:xfrm>
          <a:prstGeom prst="roundRect">
            <a:avLst>
              <a:gd name="adj" fmla="val 3200"/>
            </a:avLst>
          </a:prstGeom>
          <a:solidFill>
            <a:srgbClr val="16274A"/>
          </a:solidFill>
          <a:ln/>
        </p:spPr>
      </p:sp>
      <p:sp>
        <p:nvSpPr>
          <p:cNvPr id="15" name="Shape 11"/>
          <p:cNvSpPr/>
          <p:nvPr/>
        </p:nvSpPr>
        <p:spPr>
          <a:xfrm>
            <a:off x="4809744" y="1581912"/>
            <a:ext cx="82296" cy="82296"/>
          </a:xfrm>
          <a:prstGeom prst="ellipse">
            <a:avLst/>
          </a:prstGeom>
          <a:solidFill>
            <a:srgbClr val="FF5F56"/>
          </a:solidFill>
          <a:ln/>
        </p:spPr>
      </p:sp>
      <p:sp>
        <p:nvSpPr>
          <p:cNvPr id="16" name="Shape 12"/>
          <p:cNvSpPr/>
          <p:nvPr/>
        </p:nvSpPr>
        <p:spPr>
          <a:xfrm>
            <a:off x="4956048" y="1581912"/>
            <a:ext cx="82296" cy="82296"/>
          </a:xfrm>
          <a:prstGeom prst="ellipse">
            <a:avLst/>
          </a:prstGeom>
          <a:solidFill>
            <a:srgbClr val="FFBD2E"/>
          </a:solidFill>
          <a:ln/>
        </p:spPr>
      </p:sp>
      <p:sp>
        <p:nvSpPr>
          <p:cNvPr id="17" name="Shape 13"/>
          <p:cNvSpPr/>
          <p:nvPr/>
        </p:nvSpPr>
        <p:spPr>
          <a:xfrm>
            <a:off x="5102352" y="1581912"/>
            <a:ext cx="82296" cy="82296"/>
          </a:xfrm>
          <a:prstGeom prst="ellipse">
            <a:avLst/>
          </a:prstGeom>
          <a:solidFill>
            <a:srgbClr val="27C93F"/>
          </a:solidFill>
          <a:ln/>
        </p:spPr>
      </p:sp>
      <p:sp>
        <p:nvSpPr>
          <p:cNvPr id="18" name="Text 14"/>
          <p:cNvSpPr/>
          <p:nvPr/>
        </p:nvSpPr>
        <p:spPr>
          <a:xfrm>
            <a:off x="5303520" y="1517904"/>
            <a:ext cx="3108960" cy="219456"/>
          </a:xfrm>
          <a:prstGeom prst="rect">
            <a:avLst/>
          </a:prstGeom>
          <a:noFill/>
          <a:ln/>
        </p:spPr>
        <p:txBody>
          <a:bodyPr wrap="square" lIns="0" tIns="0" rIns="0" bIns="0" rtlCol="0" anchor="ctr"/>
          <a:lstStyle/>
          <a:p>
            <a:pPr indent="0" marL="0">
              <a:buNone/>
            </a:pPr>
            <a:r>
              <a:rPr lang="en-US" sz="1000" dirty="0">
                <a:solidFill>
                  <a:srgbClr val="9AA8BF"/>
                </a:solidFill>
                <a:latin typeface="Courier New" pitchFamily="34" charset="0"/>
                <a:ea typeface="Courier New" pitchFamily="34" charset="-122"/>
                <a:cs typeface="Courier New" pitchFamily="34" charset="-120"/>
              </a:rPr>
              <a:t>recipe steps</a:t>
            </a:r>
            <a:endParaRPr lang="en-US" sz="1000" dirty="0"/>
          </a:p>
        </p:txBody>
      </p:sp>
      <p:sp>
        <p:nvSpPr>
          <p:cNvPr id="19" name="Text 15"/>
          <p:cNvSpPr/>
          <p:nvPr/>
        </p:nvSpPr>
        <p:spPr>
          <a:xfrm>
            <a:off x="4864608" y="1810512"/>
            <a:ext cx="3566160" cy="1828800"/>
          </a:xfrm>
          <a:prstGeom prst="rect">
            <a:avLst/>
          </a:prstGeom>
          <a:noFill/>
          <a:ln/>
        </p:spPr>
        <p:txBody>
          <a:bodyPr wrap="square" lIns="0" tIns="0" rIns="0" bIns="0" rtlCol="0" anchor="t"/>
          <a:lstStyle/>
          <a:p>
            <a:pPr indent="0" marL="0">
              <a:lnSpc>
                <a:spcPts val="1664"/>
              </a:lnSpc>
              <a:buNone/>
            </a:pPr>
            <a:r>
              <a:rPr lang="en-US" sz="1300" dirty="0">
                <a:solidFill>
                  <a:srgbClr val="E8EDF5"/>
                </a:solidFill>
                <a:latin typeface="Courier New" pitchFamily="34" charset="0"/>
                <a:ea typeface="Courier New" pitchFamily="34" charset="-122"/>
                <a:cs typeface="Courier New" pitchFamily="34" charset="-120"/>
              </a:rPr>
              <a:t>&lt;ol&gt;</a:t>
            </a:r>
            <a:endParaRPr lang="en-US" sz="1300" dirty="0"/>
          </a:p>
          <a:p>
            <a:pPr indent="0" marL="0">
              <a:lnSpc>
                <a:spcPts val="1664"/>
              </a:lnSpc>
              <a:buNone/>
            </a:pPr>
            <a:r>
              <a:rPr lang="en-US" sz="1300" dirty="0">
                <a:solidFill>
                  <a:srgbClr val="E8EDF5"/>
                </a:solidFill>
                <a:latin typeface="Courier New" pitchFamily="34" charset="0"/>
                <a:ea typeface="Courier New" pitchFamily="34" charset="-122"/>
                <a:cs typeface="Courier New" pitchFamily="34" charset="-120"/>
              </a:rPr>
              <a:t>  &lt;li&gt;Make the dough.&lt;/li&gt;</a:t>
            </a:r>
            <a:endParaRPr lang="en-US" sz="1300" dirty="0"/>
          </a:p>
          <a:p>
            <a:pPr indent="0" marL="0">
              <a:lnSpc>
                <a:spcPts val="1664"/>
              </a:lnSpc>
              <a:buNone/>
            </a:pPr>
            <a:r>
              <a:rPr lang="en-US" sz="1300" dirty="0">
                <a:solidFill>
                  <a:srgbClr val="E8EDF5"/>
                </a:solidFill>
                <a:latin typeface="Courier New" pitchFamily="34" charset="0"/>
                <a:ea typeface="Courier New" pitchFamily="34" charset="-122"/>
                <a:cs typeface="Courier New" pitchFamily="34" charset="-120"/>
              </a:rPr>
              <a:t>  &lt;li&gt;Make the filling.&lt;/li&gt;</a:t>
            </a:r>
            <a:endParaRPr lang="en-US" sz="1300" dirty="0"/>
          </a:p>
          <a:p>
            <a:pPr indent="0" marL="0">
              <a:lnSpc>
                <a:spcPts val="1664"/>
              </a:lnSpc>
              <a:buNone/>
            </a:pPr>
            <a:r>
              <a:rPr lang="en-US" sz="1300" dirty="0">
                <a:solidFill>
                  <a:srgbClr val="E8EDF5"/>
                </a:solidFill>
                <a:latin typeface="Courier New" pitchFamily="34" charset="0"/>
                <a:ea typeface="Courier New" pitchFamily="34" charset="-122"/>
                <a:cs typeface="Courier New" pitchFamily="34" charset="-120"/>
              </a:rPr>
              <a:t>  &lt;li&gt;Fold and steam.&lt;/li&gt;</a:t>
            </a:r>
            <a:endParaRPr lang="en-US" sz="1300" dirty="0"/>
          </a:p>
          <a:p>
            <a:pPr indent="0" marL="0">
              <a:lnSpc>
                <a:spcPts val="1664"/>
              </a:lnSpc>
              <a:buNone/>
            </a:pPr>
            <a:r>
              <a:rPr lang="en-US" sz="1300" dirty="0">
                <a:solidFill>
                  <a:srgbClr val="E8EDF5"/>
                </a:solidFill>
                <a:latin typeface="Courier New" pitchFamily="34" charset="0"/>
                <a:ea typeface="Courier New" pitchFamily="34" charset="-122"/>
                <a:cs typeface="Courier New" pitchFamily="34" charset="-120"/>
              </a:rPr>
              <a:t>&lt;/ol&gt;</a:t>
            </a:r>
            <a:endParaRPr lang="en-US" sz="1300" dirty="0"/>
          </a:p>
        </p:txBody>
      </p:sp>
      <p:sp>
        <p:nvSpPr>
          <p:cNvPr id="20" name="Shape 16"/>
          <p:cNvSpPr/>
          <p:nvPr/>
        </p:nvSpPr>
        <p:spPr>
          <a:xfrm>
            <a:off x="548640" y="3931920"/>
            <a:ext cx="8046720" cy="548640"/>
          </a:xfrm>
          <a:prstGeom prst="roundRect">
            <a:avLst>
              <a:gd name="adj" fmla="val 13333"/>
            </a:avLst>
          </a:prstGeom>
          <a:solidFill>
            <a:srgbClr val="F5EBD8"/>
          </a:solidFill>
          <a:ln/>
        </p:spPr>
      </p:sp>
      <p:sp>
        <p:nvSpPr>
          <p:cNvPr id="21" name="Text 17"/>
          <p:cNvSpPr/>
          <p:nvPr/>
        </p:nvSpPr>
        <p:spPr>
          <a:xfrm>
            <a:off x="749808" y="3931920"/>
            <a:ext cx="7644384" cy="548640"/>
          </a:xfrm>
          <a:prstGeom prst="rect">
            <a:avLst/>
          </a:prstGeom>
          <a:noFill/>
          <a:ln/>
        </p:spPr>
        <p:txBody>
          <a:bodyPr wrap="square" lIns="0" tIns="0" rIns="0" bIns="0" rtlCol="0" anchor="ctr"/>
          <a:lstStyle/>
          <a:p>
            <a:pPr indent="0" marL="0">
              <a:buNone/>
            </a:pPr>
            <a:r>
              <a:rPr lang="en-US" sz="1250" b="1" dirty="0">
                <a:solidFill>
                  <a:srgbClr val="9A701F"/>
                </a:solidFill>
                <a:latin typeface="Calibri" pitchFamily="34" charset="0"/>
                <a:ea typeface="Calibri" pitchFamily="34" charset="-122"/>
                <a:cs typeface="Calibri" pitchFamily="34" charset="-120"/>
              </a:rPr>
              <a:t>Every &lt;li&gt; lives inside a &lt;ul&gt; or an &lt;ol&gt;.  </a:t>
            </a:r>
            <a:pPr indent="0" marL="0">
              <a:buNone/>
            </a:pPr>
            <a:r>
              <a:rPr lang="en-US" sz="1250" dirty="0">
                <a:solidFill>
                  <a:srgbClr val="2C3547"/>
                </a:solidFill>
                <a:latin typeface="Calibri" pitchFamily="34" charset="0"/>
                <a:ea typeface="Calibri" pitchFamily="34" charset="-122"/>
                <a:cs typeface="Calibri" pitchFamily="34" charset="-120"/>
              </a:rPr>
              <a:t>Extras for &lt;ol&gt;: type="A" counts A, B, C. start="5" starts at 5.</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list-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612648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Nested lists + dl / dt / dd</a:t>
            </a:r>
            <a:endParaRPr lang="en-US" sz="2700" dirty="0"/>
          </a:p>
        </p:txBody>
      </p:sp>
      <p:sp>
        <p:nvSpPr>
          <p:cNvPr id="5" name="Text 2"/>
          <p:cNvSpPr/>
          <p:nvPr/>
        </p:nvSpPr>
        <p:spPr>
          <a:xfrm>
            <a:off x="7315200" y="402336"/>
            <a:ext cx="1417320" cy="310896"/>
          </a:xfrm>
          <a:prstGeom prst="roundRect">
            <a:avLst>
              <a:gd name="adj" fmla="val 50000"/>
            </a:avLst>
          </a:prstGeom>
          <a:solidFill>
            <a:srgbClr val="F5EBD8"/>
          </a:solidFill>
          <a:ln/>
        </p:spPr>
        <p:txBody>
          <a:bodyPr wrap="square" lIns="0" tIns="0" rIns="0" bIns="0" rtlCol="0" anchor="ctr"/>
          <a:lstStyle/>
          <a:p>
            <a:pPr algn="ctr" indent="0" marL="0">
              <a:buNone/>
            </a:pPr>
            <a:r>
              <a:rPr lang="en-US" sz="1100" b="1" spc="200" kern="0" dirty="0">
                <a:solidFill>
                  <a:srgbClr val="9A701F"/>
                </a:solidFill>
                <a:latin typeface="Calibri" pitchFamily="34" charset="0"/>
                <a:ea typeface="Calibri" pitchFamily="34" charset="-122"/>
                <a:cs typeface="Calibri" pitchFamily="34" charset="-120"/>
              </a:rPr>
              <a:t>ACTIVITY</a:t>
            </a:r>
            <a:endParaRPr lang="en-US" sz="1100" dirty="0"/>
          </a:p>
        </p:txBody>
      </p:sp>
      <p:sp>
        <p:nvSpPr>
          <p:cNvPr id="7" name="Text 3"/>
          <p:cNvSpPr/>
          <p:nvPr/>
        </p:nvSpPr>
        <p:spPr>
          <a:xfrm>
            <a:off x="548640" y="1078992"/>
            <a:ext cx="8046720" cy="274320"/>
          </a:xfrm>
          <a:prstGeom prst="rect">
            <a:avLst/>
          </a:prstGeom>
          <a:noFill/>
          <a:ln/>
        </p:spPr>
        <p:txBody>
          <a:bodyPr wrap="square" lIns="0" tIns="0" rIns="0" bIns="0" rtlCol="0" anchor="ctr"/>
          <a:lstStyle/>
          <a:p>
            <a:pPr indent="0" marL="0">
              <a:buNone/>
            </a:pPr>
            <a:r>
              <a:rPr lang="en-US" sz="1300" b="1" dirty="0">
                <a:solidFill>
                  <a:srgbClr val="990011"/>
                </a:solidFill>
                <a:latin typeface="Calibri" pitchFamily="34" charset="0"/>
                <a:ea typeface="Calibri" pitchFamily="34" charset="-122"/>
                <a:cs typeface="Calibri" pitchFamily="34" charset="-120"/>
              </a:rPr>
              <a:t>Code-along  ·  2 min  ·  type with me  ·  W2D1/instructor-demos/B5-lists/step-02-nested, step-03-dl</a:t>
            </a:r>
            <a:endParaRPr lang="en-US" sz="1300" dirty="0"/>
          </a:p>
        </p:txBody>
      </p:sp>
      <p:sp>
        <p:nvSpPr>
          <p:cNvPr id="8" name="Shape 4"/>
          <p:cNvSpPr/>
          <p:nvPr/>
        </p:nvSpPr>
        <p:spPr>
          <a:xfrm>
            <a:off x="548640" y="1463040"/>
            <a:ext cx="5029200" cy="2697480"/>
          </a:xfrm>
          <a:prstGeom prst="roundRect">
            <a:avLst>
              <a:gd name="adj" fmla="val 2712"/>
            </a:avLst>
          </a:prstGeom>
          <a:solidFill>
            <a:srgbClr val="16274A"/>
          </a:solidFill>
          <a:ln/>
        </p:spPr>
      </p:sp>
      <p:sp>
        <p:nvSpPr>
          <p:cNvPr id="9" name="Shape 5"/>
          <p:cNvSpPr/>
          <p:nvPr/>
        </p:nvSpPr>
        <p:spPr>
          <a:xfrm>
            <a:off x="694944" y="1581912"/>
            <a:ext cx="82296" cy="82296"/>
          </a:xfrm>
          <a:prstGeom prst="ellipse">
            <a:avLst/>
          </a:prstGeom>
          <a:solidFill>
            <a:srgbClr val="FF5F56"/>
          </a:solidFill>
          <a:ln/>
        </p:spPr>
      </p:sp>
      <p:sp>
        <p:nvSpPr>
          <p:cNvPr id="10" name="Shape 6"/>
          <p:cNvSpPr/>
          <p:nvPr/>
        </p:nvSpPr>
        <p:spPr>
          <a:xfrm>
            <a:off x="841248" y="1581912"/>
            <a:ext cx="82296" cy="82296"/>
          </a:xfrm>
          <a:prstGeom prst="ellipse">
            <a:avLst/>
          </a:prstGeom>
          <a:solidFill>
            <a:srgbClr val="FFBD2E"/>
          </a:solidFill>
          <a:ln/>
        </p:spPr>
      </p:sp>
      <p:sp>
        <p:nvSpPr>
          <p:cNvPr id="11" name="Shape 7"/>
          <p:cNvSpPr/>
          <p:nvPr/>
        </p:nvSpPr>
        <p:spPr>
          <a:xfrm>
            <a:off x="987552" y="1581912"/>
            <a:ext cx="82296" cy="82296"/>
          </a:xfrm>
          <a:prstGeom prst="ellipse">
            <a:avLst/>
          </a:prstGeom>
          <a:solidFill>
            <a:srgbClr val="27C93F"/>
          </a:solidFill>
          <a:ln/>
        </p:spPr>
      </p:sp>
      <p:sp>
        <p:nvSpPr>
          <p:cNvPr id="12" name="Text 8"/>
          <p:cNvSpPr/>
          <p:nvPr/>
        </p:nvSpPr>
        <p:spPr>
          <a:xfrm>
            <a:off x="1188720" y="1517904"/>
            <a:ext cx="4206240" cy="219456"/>
          </a:xfrm>
          <a:prstGeom prst="rect">
            <a:avLst/>
          </a:prstGeom>
          <a:noFill/>
          <a:ln/>
        </p:spPr>
        <p:txBody>
          <a:bodyPr wrap="square" lIns="0" tIns="0" rIns="0" bIns="0" rtlCol="0" anchor="ctr"/>
          <a:lstStyle/>
          <a:p>
            <a:pPr indent="0" marL="0">
              <a:buNone/>
            </a:pPr>
            <a:r>
              <a:rPr lang="en-US" sz="1000" dirty="0">
                <a:solidFill>
                  <a:srgbClr val="9AA8BF"/>
                </a:solidFill>
                <a:latin typeface="Courier New" pitchFamily="34" charset="0"/>
                <a:ea typeface="Courier New" pitchFamily="34" charset="-122"/>
                <a:cs typeface="Courier New" pitchFamily="34" charset="-120"/>
              </a:rPr>
              <a:t>index.html  (excerpt of step-03)</a:t>
            </a:r>
            <a:endParaRPr lang="en-US" sz="1000" dirty="0"/>
          </a:p>
        </p:txBody>
      </p:sp>
      <p:sp>
        <p:nvSpPr>
          <p:cNvPr id="13" name="Text 9"/>
          <p:cNvSpPr/>
          <p:nvPr/>
        </p:nvSpPr>
        <p:spPr>
          <a:xfrm>
            <a:off x="749808" y="1810512"/>
            <a:ext cx="4663440" cy="2240280"/>
          </a:xfrm>
          <a:prstGeom prst="rect">
            <a:avLst/>
          </a:prstGeom>
          <a:noFill/>
          <a:ln/>
        </p:spPr>
        <p:txBody>
          <a:bodyPr wrap="square" lIns="0" tIns="0" rIns="0" bIns="0" rtlCol="0" anchor="t"/>
          <a:lstStyle/>
          <a:p>
            <a:pPr indent="0" marL="0">
              <a:lnSpc>
                <a:spcPts val="1472"/>
              </a:lnSpc>
              <a:buNone/>
            </a:pPr>
            <a:r>
              <a:rPr lang="en-US" sz="1150" dirty="0">
                <a:solidFill>
                  <a:srgbClr val="E8EDF5"/>
                </a:solidFill>
                <a:latin typeface="Courier New" pitchFamily="34" charset="0"/>
                <a:ea typeface="Courier New" pitchFamily="34" charset="-122"/>
                <a:cs typeface="Courier New" pitchFamily="34" charset="-120"/>
              </a:rPr>
              <a:t>&lt;ul&gt;</a:t>
            </a:r>
            <a:endParaRPr lang="en-US" sz="1150" dirty="0"/>
          </a:p>
          <a:p>
            <a:pPr indent="0" marL="0">
              <a:lnSpc>
                <a:spcPts val="1472"/>
              </a:lnSpc>
              <a:buNone/>
            </a:pPr>
            <a:r>
              <a:rPr lang="en-US" sz="1150" dirty="0">
                <a:solidFill>
                  <a:srgbClr val="E8EDF5"/>
                </a:solidFill>
                <a:latin typeface="Courier New" pitchFamily="34" charset="0"/>
                <a:ea typeface="Courier New" pitchFamily="34" charset="-122"/>
                <a:cs typeface="Courier New" pitchFamily="34" charset="-120"/>
              </a:rPr>
              <a:t>  &lt;li&gt;Onion&lt;/li&gt;</a:t>
            </a:r>
            <a:endParaRPr lang="en-US" sz="1150" dirty="0"/>
          </a:p>
          <a:p>
            <a:pPr indent="0" marL="0">
              <a:lnSpc>
                <a:spcPts val="1472"/>
              </a:lnSpc>
              <a:buNone/>
            </a:pPr>
            <a:r>
              <a:rPr lang="en-US" sz="1150" dirty="0">
                <a:solidFill>
                  <a:srgbClr val="E8EDF5"/>
                </a:solidFill>
                <a:latin typeface="Courier New" pitchFamily="34" charset="0"/>
                <a:ea typeface="Courier New" pitchFamily="34" charset="-122"/>
                <a:cs typeface="Courier New" pitchFamily="34" charset="-120"/>
              </a:rPr>
              <a:t>  &lt;li&gt;Spices</a:t>
            </a:r>
            <a:endParaRPr lang="en-US" sz="1150" dirty="0"/>
          </a:p>
          <a:p>
            <a:pPr indent="0" marL="0">
              <a:lnSpc>
                <a:spcPts val="1472"/>
              </a:lnSpc>
              <a:buNone/>
            </a:pPr>
            <a:r>
              <a:rPr lang="en-US" sz="1150" dirty="0">
                <a:solidFill>
                  <a:srgbClr val="E8EDF5"/>
                </a:solidFill>
                <a:latin typeface="Courier New" pitchFamily="34" charset="0"/>
                <a:ea typeface="Courier New" pitchFamily="34" charset="-122"/>
                <a:cs typeface="Courier New" pitchFamily="34" charset="-120"/>
              </a:rPr>
              <a:t>    &lt;ul&gt;</a:t>
            </a:r>
            <a:endParaRPr lang="en-US" sz="1150" dirty="0"/>
          </a:p>
          <a:p>
            <a:pPr indent="0" marL="0">
              <a:lnSpc>
                <a:spcPts val="1472"/>
              </a:lnSpc>
              <a:buNone/>
            </a:pPr>
            <a:r>
              <a:rPr lang="en-US" sz="1150" dirty="0">
                <a:solidFill>
                  <a:srgbClr val="E8EDF5"/>
                </a:solidFill>
                <a:latin typeface="Courier New" pitchFamily="34" charset="0"/>
                <a:ea typeface="Courier New" pitchFamily="34" charset="-122"/>
                <a:cs typeface="Courier New" pitchFamily="34" charset="-120"/>
              </a:rPr>
              <a:t>      &lt;li&gt;Ginger&lt;/li&gt;</a:t>
            </a:r>
            <a:endParaRPr lang="en-US" sz="1150" dirty="0"/>
          </a:p>
          <a:p>
            <a:pPr indent="0" marL="0">
              <a:lnSpc>
                <a:spcPts val="1472"/>
              </a:lnSpc>
              <a:buNone/>
            </a:pPr>
            <a:r>
              <a:rPr lang="en-US" sz="1150" dirty="0">
                <a:solidFill>
                  <a:srgbClr val="E8EDF5"/>
                </a:solidFill>
                <a:latin typeface="Courier New" pitchFamily="34" charset="0"/>
                <a:ea typeface="Courier New" pitchFamily="34" charset="-122"/>
                <a:cs typeface="Courier New" pitchFamily="34" charset="-120"/>
              </a:rPr>
              <a:t>      &lt;li&gt;Garlic&lt;/li&gt;</a:t>
            </a:r>
            <a:endParaRPr lang="en-US" sz="1150" dirty="0"/>
          </a:p>
          <a:p>
            <a:pPr indent="0" marL="0">
              <a:lnSpc>
                <a:spcPts val="1472"/>
              </a:lnSpc>
              <a:buNone/>
            </a:pPr>
            <a:r>
              <a:rPr lang="en-US" sz="1150" dirty="0">
                <a:solidFill>
                  <a:srgbClr val="E8EDF5"/>
                </a:solidFill>
                <a:latin typeface="Courier New" pitchFamily="34" charset="0"/>
                <a:ea typeface="Courier New" pitchFamily="34" charset="-122"/>
                <a:cs typeface="Courier New" pitchFamily="34" charset="-120"/>
              </a:rPr>
              <a:t>    &lt;/ul&gt;</a:t>
            </a:r>
            <a:endParaRPr lang="en-US" sz="1150" dirty="0"/>
          </a:p>
          <a:p>
            <a:pPr indent="0" marL="0">
              <a:lnSpc>
                <a:spcPts val="1472"/>
              </a:lnSpc>
              <a:buNone/>
            </a:pPr>
            <a:r>
              <a:rPr lang="en-US" sz="1150" dirty="0">
                <a:solidFill>
                  <a:srgbClr val="E8EDF5"/>
                </a:solidFill>
                <a:latin typeface="Courier New" pitchFamily="34" charset="0"/>
                <a:ea typeface="Courier New" pitchFamily="34" charset="-122"/>
                <a:cs typeface="Courier New" pitchFamily="34" charset="-120"/>
              </a:rPr>
              <a:t>  &lt;/li&gt;</a:t>
            </a:r>
            <a:endParaRPr lang="en-US" sz="1150" dirty="0"/>
          </a:p>
          <a:p>
            <a:pPr indent="0" marL="0">
              <a:lnSpc>
                <a:spcPts val="1472"/>
              </a:lnSpc>
              <a:buNone/>
            </a:pPr>
            <a:r>
              <a:rPr lang="en-US" sz="1150" dirty="0">
                <a:solidFill>
                  <a:srgbClr val="E8EDF5"/>
                </a:solidFill>
                <a:latin typeface="Courier New" pitchFamily="34" charset="0"/>
                <a:ea typeface="Courier New" pitchFamily="34" charset="-122"/>
                <a:cs typeface="Courier New" pitchFamily="34" charset="-120"/>
              </a:rPr>
              <a:t>&lt;/ul&gt;</a:t>
            </a:r>
            <a:endParaRPr lang="en-US" sz="1150" dirty="0"/>
          </a:p>
          <a:p>
            <a:pPr indent="0" marL="0">
              <a:lnSpc>
                <a:spcPts val="1472"/>
              </a:lnSpc>
              <a:buNone/>
            </a:pPr>
            <a:r>
              <a:rPr lang="en-US" sz="1150" dirty="0">
                <a:solidFill>
                  <a:srgbClr val="E8EDF5"/>
                </a:solidFill>
                <a:latin typeface="Courier New" pitchFamily="34" charset="0"/>
                <a:ea typeface="Courier New" pitchFamily="34" charset="-122"/>
                <a:cs typeface="Courier New" pitchFamily="34" charset="-120"/>
              </a:rPr>
              <a:t>&lt;dl&gt;</a:t>
            </a:r>
            <a:endParaRPr lang="en-US" sz="1150" dirty="0"/>
          </a:p>
          <a:p>
            <a:pPr indent="0" marL="0">
              <a:lnSpc>
                <a:spcPts val="1472"/>
              </a:lnSpc>
              <a:buNone/>
            </a:pPr>
            <a:r>
              <a:rPr lang="en-US" sz="1150" dirty="0">
                <a:solidFill>
                  <a:srgbClr val="E8EDF5"/>
                </a:solidFill>
                <a:latin typeface="Courier New" pitchFamily="34" charset="0"/>
                <a:ea typeface="Courier New" pitchFamily="34" charset="-122"/>
                <a:cs typeface="Courier New" pitchFamily="34" charset="-120"/>
              </a:rPr>
              <a:t>  &lt;dt&gt;Jhol&lt;/dt&gt;</a:t>
            </a:r>
            <a:endParaRPr lang="en-US" sz="1150" dirty="0"/>
          </a:p>
          <a:p>
            <a:pPr indent="0" marL="0">
              <a:lnSpc>
                <a:spcPts val="1472"/>
              </a:lnSpc>
              <a:buNone/>
            </a:pPr>
            <a:r>
              <a:rPr lang="en-US" sz="1150" dirty="0">
                <a:solidFill>
                  <a:srgbClr val="E8EDF5"/>
                </a:solidFill>
                <a:latin typeface="Courier New" pitchFamily="34" charset="0"/>
                <a:ea typeface="Courier New" pitchFamily="34" charset="-122"/>
                <a:cs typeface="Courier New" pitchFamily="34" charset="-120"/>
              </a:rPr>
              <a:t>  &lt;dd&gt;A thin, warm soup poured over momo.&lt;/dd&gt;</a:t>
            </a:r>
            <a:endParaRPr lang="en-US" sz="1150" dirty="0"/>
          </a:p>
        </p:txBody>
      </p:sp>
      <p:sp>
        <p:nvSpPr>
          <p:cNvPr id="14" name="Shape 10"/>
          <p:cNvSpPr/>
          <p:nvPr/>
        </p:nvSpPr>
        <p:spPr>
          <a:xfrm>
            <a:off x="5760720" y="1463040"/>
            <a:ext cx="2834640" cy="2697480"/>
          </a:xfrm>
          <a:prstGeom prst="roundRect">
            <a:avLst>
              <a:gd name="adj" fmla="val 2712"/>
            </a:avLst>
          </a:prstGeom>
          <a:solidFill>
            <a:srgbClr val="FFF3F4"/>
          </a:solidFill>
          <a:ln/>
        </p:spPr>
      </p:sp>
      <p:sp>
        <p:nvSpPr>
          <p:cNvPr id="15" name="Text 11"/>
          <p:cNvSpPr/>
          <p:nvPr/>
        </p:nvSpPr>
        <p:spPr>
          <a:xfrm>
            <a:off x="5943600" y="1591056"/>
            <a:ext cx="2468880" cy="320040"/>
          </a:xfrm>
          <a:prstGeom prst="rect">
            <a:avLst/>
          </a:prstGeom>
          <a:noFill/>
          <a:ln/>
        </p:spPr>
        <p:txBody>
          <a:bodyPr wrap="square" lIns="0" tIns="0" rIns="0" bIns="0" rtlCol="0" anchor="ctr"/>
          <a:lstStyle/>
          <a:p>
            <a:pPr indent="0" marL="0">
              <a:buNone/>
            </a:pPr>
            <a:r>
              <a:rPr lang="en-US" sz="1600" b="1" dirty="0">
                <a:solidFill>
                  <a:srgbClr val="990011"/>
                </a:solidFill>
                <a:latin typeface="Cambria" pitchFamily="34" charset="0"/>
                <a:ea typeface="Cambria" pitchFamily="34" charset="-122"/>
                <a:cs typeface="Cambria" pitchFamily="34" charset="-120"/>
              </a:rPr>
              <a:t>Look at</a:t>
            </a:r>
            <a:endParaRPr lang="en-US" sz="1600" dirty="0"/>
          </a:p>
        </p:txBody>
      </p:sp>
      <p:sp>
        <p:nvSpPr>
          <p:cNvPr id="16" name="Text 12"/>
          <p:cNvSpPr/>
          <p:nvPr/>
        </p:nvSpPr>
        <p:spPr>
          <a:xfrm>
            <a:off x="5943600" y="1965960"/>
            <a:ext cx="2468880" cy="205740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The sub-list goes INSIDE the &lt;li&gt;, before its &lt;/li&gt;.</a:t>
            </a:r>
            <a:endParaRPr lang="en-US" sz="1250" dirty="0"/>
          </a:p>
          <a:p>
            <a:pPr indent="0" marL="0">
              <a:buNone/>
            </a:pP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&lt;dl&gt; = a glossary:</a:t>
            </a: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&lt;dt&gt; the word</a:t>
            </a: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&lt;dd&gt; what it means</a:t>
            </a:r>
            <a:endParaRPr lang="en-US" sz="1250" dirty="0"/>
          </a:p>
        </p:txBody>
      </p:sp>
      <p:sp>
        <p:nvSpPr>
          <p:cNvPr id="17" name="Shape 13"/>
          <p:cNvSpPr/>
          <p:nvPr/>
        </p:nvSpPr>
        <p:spPr>
          <a:xfrm>
            <a:off x="548640" y="4279392"/>
            <a:ext cx="8046720" cy="502920"/>
          </a:xfrm>
          <a:prstGeom prst="roundRect">
            <a:avLst>
              <a:gd name="adj" fmla="val 14545"/>
            </a:avLst>
          </a:prstGeom>
          <a:solidFill>
            <a:srgbClr val="F5EBD8"/>
          </a:solidFill>
          <a:ln/>
        </p:spPr>
      </p:sp>
      <p:sp>
        <p:nvSpPr>
          <p:cNvPr id="18" name="Text 14"/>
          <p:cNvSpPr/>
          <p:nvPr/>
        </p:nvSpPr>
        <p:spPr>
          <a:xfrm>
            <a:off x="749808" y="4279392"/>
            <a:ext cx="7644384" cy="502920"/>
          </a:xfrm>
          <a:prstGeom prst="rect">
            <a:avLst/>
          </a:prstGeom>
          <a:noFill/>
          <a:ln/>
        </p:spPr>
        <p:txBody>
          <a:bodyPr wrap="square" lIns="0" tIns="0" rIns="0" bIns="0" rtlCol="0" anchor="ctr"/>
          <a:lstStyle/>
          <a:p>
            <a:pPr indent="0" marL="0">
              <a:buNone/>
            </a:pPr>
            <a:r>
              <a:rPr lang="en-US" sz="1250" b="1" dirty="0">
                <a:solidFill>
                  <a:srgbClr val="9A701F"/>
                </a:solidFill>
                <a:latin typeface="Calibri" pitchFamily="34" charset="0"/>
                <a:ea typeface="Calibri" pitchFamily="34" charset="-122"/>
                <a:cs typeface="Calibri" pitchFamily="34" charset="-120"/>
              </a:rPr>
              <a:t>A nested list = a sub-list under one item.  </a:t>
            </a:r>
            <a:pPr indent="0" marL="0">
              <a:buNone/>
            </a:pPr>
            <a:r>
              <a:rPr lang="en-US" sz="1250" dirty="0">
                <a:solidFill>
                  <a:srgbClr val="2C3547"/>
                </a:solidFill>
                <a:latin typeface="Calibri" pitchFamily="34" charset="0"/>
                <a:ea typeface="Calibri" pitchFamily="34" charset="-122"/>
                <a:cs typeface="Calibri" pitchFamily="34" charset="-120"/>
              </a:rPr>
              <a:t>Not after &lt;/li&gt;. Inside it.</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wrench-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612648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D1-07 + D1-08  ·  Fix, then build</a:t>
            </a:r>
            <a:endParaRPr lang="en-US" sz="2700" dirty="0"/>
          </a:p>
        </p:txBody>
      </p:sp>
      <p:sp>
        <p:nvSpPr>
          <p:cNvPr id="5" name="Text 2"/>
          <p:cNvSpPr/>
          <p:nvPr/>
        </p:nvSpPr>
        <p:spPr>
          <a:xfrm>
            <a:off x="7315200" y="402336"/>
            <a:ext cx="1417320" cy="310896"/>
          </a:xfrm>
          <a:prstGeom prst="roundRect">
            <a:avLst>
              <a:gd name="adj" fmla="val 50000"/>
            </a:avLst>
          </a:prstGeom>
          <a:solidFill>
            <a:srgbClr val="F5EBD8"/>
          </a:solidFill>
          <a:ln/>
        </p:spPr>
        <p:txBody>
          <a:bodyPr wrap="square" lIns="0" tIns="0" rIns="0" bIns="0" rtlCol="0" anchor="ctr"/>
          <a:lstStyle/>
          <a:p>
            <a:pPr algn="ctr" indent="0" marL="0">
              <a:buNone/>
            </a:pPr>
            <a:r>
              <a:rPr lang="en-US" sz="1100" b="1" spc="200" kern="0" dirty="0">
                <a:solidFill>
                  <a:srgbClr val="9A701F"/>
                </a:solidFill>
                <a:latin typeface="Calibri" pitchFamily="34" charset="0"/>
                <a:ea typeface="Calibri" pitchFamily="34" charset="-122"/>
                <a:cs typeface="Calibri" pitchFamily="34" charset="-120"/>
              </a:rPr>
              <a:t>ACTIVITY</a:t>
            </a:r>
            <a:endParaRPr lang="en-US" sz="1100" dirty="0"/>
          </a:p>
        </p:txBody>
      </p:sp>
      <p:sp>
        <p:nvSpPr>
          <p:cNvPr id="7" name="Text 3"/>
          <p:cNvSpPr/>
          <p:nvPr/>
        </p:nvSpPr>
        <p:spPr>
          <a:xfrm>
            <a:off x="548640" y="1078992"/>
            <a:ext cx="8046720" cy="274320"/>
          </a:xfrm>
          <a:prstGeom prst="rect">
            <a:avLst/>
          </a:prstGeom>
          <a:noFill/>
          <a:ln/>
        </p:spPr>
        <p:txBody>
          <a:bodyPr wrap="square" lIns="0" tIns="0" rIns="0" bIns="0" rtlCol="0" anchor="ctr"/>
          <a:lstStyle/>
          <a:p>
            <a:pPr indent="0" marL="0">
              <a:buNone/>
            </a:pPr>
            <a:r>
              <a:rPr lang="en-US" sz="1300" b="1" dirty="0">
                <a:solidFill>
                  <a:srgbClr val="990011"/>
                </a:solidFill>
                <a:latin typeface="Calibri" pitchFamily="34" charset="0"/>
                <a:ea typeface="Calibri" pitchFamily="34" charset="-122"/>
                <a:cs typeface="Calibri" pitchFamily="34" charset="-120"/>
              </a:rPr>
              <a:t>12 minutes  ·  solo  ·  W2D1/classwork/D1-07-broken-lists  →  D1-08-momo-recipe/</a:t>
            </a:r>
            <a:endParaRPr lang="en-US" sz="1300" dirty="0"/>
          </a:p>
        </p:txBody>
      </p:sp>
      <p:sp>
        <p:nvSpPr>
          <p:cNvPr id="8" name="Text 4"/>
          <p:cNvSpPr/>
          <p:nvPr/>
        </p:nvSpPr>
        <p:spPr>
          <a:xfrm>
            <a:off x="566928" y="15544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5"/>
          <p:cNvSpPr/>
          <p:nvPr/>
        </p:nvSpPr>
        <p:spPr>
          <a:xfrm>
            <a:off x="1005840" y="15270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D1-07 (7 min): open index.html, find 4 list bugs</a:t>
            </a:r>
            <a:endParaRPr lang="en-US" sz="1350" dirty="0"/>
          </a:p>
        </p:txBody>
      </p:sp>
      <p:sp>
        <p:nvSpPr>
          <p:cNvPr id="10" name="Text 6"/>
          <p:cNvSpPr/>
          <p:nvPr/>
        </p:nvSpPr>
        <p:spPr>
          <a:xfrm>
            <a:off x="566928" y="20116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7"/>
          <p:cNvSpPr/>
          <p:nvPr/>
        </p:nvSpPr>
        <p:spPr>
          <a:xfrm>
            <a:off x="1005840" y="19842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Hint: missing indent + missing bullets</a:t>
            </a:r>
            <a:endParaRPr lang="en-US" sz="1350" dirty="0"/>
          </a:p>
        </p:txBody>
      </p:sp>
      <p:sp>
        <p:nvSpPr>
          <p:cNvPr id="12" name="Text 8"/>
          <p:cNvSpPr/>
          <p:nvPr/>
        </p:nvSpPr>
        <p:spPr>
          <a:xfrm>
            <a:off x="566928" y="24688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9"/>
          <p:cNvSpPr/>
          <p:nvPr/>
        </p:nvSpPr>
        <p:spPr>
          <a:xfrm>
            <a:off x="1005840" y="24414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Reveal together (2 min)</a:t>
            </a:r>
            <a:endParaRPr lang="en-US" sz="1350" dirty="0"/>
          </a:p>
        </p:txBody>
      </p:sp>
      <p:sp>
        <p:nvSpPr>
          <p:cNvPr id="14" name="Text 10"/>
          <p:cNvSpPr/>
          <p:nvPr/>
        </p:nvSpPr>
        <p:spPr>
          <a:xfrm>
            <a:off x="566928" y="29260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1"/>
          <p:cNvSpPr/>
          <p:nvPr/>
        </p:nvSpPr>
        <p:spPr>
          <a:xfrm>
            <a:off x="1005840" y="28986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D1-08 (5 min): ingredients &lt;ul&gt; with one sub-list</a:t>
            </a:r>
            <a:endParaRPr lang="en-US" sz="1350" dirty="0"/>
          </a:p>
        </p:txBody>
      </p:sp>
      <p:sp>
        <p:nvSpPr>
          <p:cNvPr id="16" name="Text 12"/>
          <p:cNvSpPr/>
          <p:nvPr/>
        </p:nvSpPr>
        <p:spPr>
          <a:xfrm>
            <a:off x="566928" y="33832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7" name="Text 13"/>
          <p:cNvSpPr/>
          <p:nvPr/>
        </p:nvSpPr>
        <p:spPr>
          <a:xfrm>
            <a:off x="1005840" y="33558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Steps &lt;ol&gt; + one image with alt. Bonus: a &lt;dl&gt;</a:t>
            </a:r>
            <a:endParaRPr lang="en-US" sz="1350" dirty="0"/>
          </a:p>
        </p:txBody>
      </p:sp>
      <p:sp>
        <p:nvSpPr>
          <p:cNvPr id="18" name="Shape 14"/>
          <p:cNvSpPr/>
          <p:nvPr/>
        </p:nvSpPr>
        <p:spPr>
          <a:xfrm>
            <a:off x="5760720" y="1554480"/>
            <a:ext cx="2834640" cy="2331720"/>
          </a:xfrm>
          <a:prstGeom prst="roundRect">
            <a:avLst>
              <a:gd name="adj" fmla="val 3137"/>
            </a:avLst>
          </a:prstGeom>
          <a:solidFill>
            <a:srgbClr val="FFF3F4"/>
          </a:solidFill>
          <a:ln/>
        </p:spPr>
      </p:sp>
      <p:sp>
        <p:nvSpPr>
          <p:cNvPr id="19" name="Text 15"/>
          <p:cNvSpPr/>
          <p:nvPr/>
        </p:nvSpPr>
        <p:spPr>
          <a:xfrm>
            <a:off x="5943600" y="1682496"/>
            <a:ext cx="2468880" cy="320040"/>
          </a:xfrm>
          <a:prstGeom prst="rect">
            <a:avLst/>
          </a:prstGeom>
          <a:noFill/>
          <a:ln/>
        </p:spPr>
        <p:txBody>
          <a:bodyPr wrap="square" lIns="0" tIns="0" rIns="0" bIns="0" rtlCol="0" anchor="ctr"/>
          <a:lstStyle/>
          <a:p>
            <a:pPr indent="0" marL="0">
              <a:buNone/>
            </a:pPr>
            <a:r>
              <a:rPr lang="en-US" sz="1600" b="1" dirty="0">
                <a:solidFill>
                  <a:srgbClr val="990011"/>
                </a:solidFill>
                <a:latin typeface="Cambria" pitchFamily="34" charset="0"/>
                <a:ea typeface="Cambria" pitchFamily="34" charset="-122"/>
                <a:cs typeface="Cambria" pitchFamily="34" charset="-120"/>
              </a:rPr>
              <a:t>DONE looks like</a:t>
            </a:r>
            <a:endParaRPr lang="en-US" sz="1600" dirty="0"/>
          </a:p>
        </p:txBody>
      </p:sp>
      <p:sp>
        <p:nvSpPr>
          <p:cNvPr id="20" name="Text 16"/>
          <p:cNvSpPr/>
          <p:nvPr/>
        </p:nvSpPr>
        <p:spPr>
          <a:xfrm>
            <a:off x="5943600" y="2057400"/>
            <a:ext cx="2468880" cy="169164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D1-07: every &lt;li&gt; is inside a list, the steps are numbered, the glossary uses &lt;dd&gt;.</a:t>
            </a:r>
            <a:endParaRPr lang="en-US" sz="1250" dirty="0"/>
          </a:p>
          <a:p>
            <a:pPr indent="0" marL="0">
              <a:buNone/>
            </a:pP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D1-08: ul + nested ul, ol, img with alt.</a:t>
            </a:r>
            <a:endParaRPr lang="en-US" sz="1250" dirty="0"/>
          </a:p>
        </p:txBody>
      </p:sp>
      <p:sp>
        <p:nvSpPr>
          <p:cNvPr id="21" name="Shape 17"/>
          <p:cNvSpPr/>
          <p:nvPr/>
        </p:nvSpPr>
        <p:spPr>
          <a:xfrm>
            <a:off x="548640" y="4206240"/>
            <a:ext cx="8046720" cy="502920"/>
          </a:xfrm>
          <a:prstGeom prst="roundRect">
            <a:avLst>
              <a:gd name="adj" fmla="val 14545"/>
            </a:avLst>
          </a:prstGeom>
          <a:solidFill>
            <a:srgbClr val="F5EBD8"/>
          </a:solidFill>
          <a:ln/>
        </p:spPr>
      </p:sp>
      <p:sp>
        <p:nvSpPr>
          <p:cNvPr id="22" name="Text 18"/>
          <p:cNvSpPr/>
          <p:nvPr/>
        </p:nvSpPr>
        <p:spPr>
          <a:xfrm>
            <a:off x="749808" y="4206240"/>
            <a:ext cx="7644384" cy="502920"/>
          </a:xfrm>
          <a:prstGeom prst="rect">
            <a:avLst/>
          </a:prstGeom>
          <a:noFill/>
          <a:ln/>
        </p:spPr>
        <p:txBody>
          <a:bodyPr wrap="square" lIns="0" tIns="0" rIns="0" bIns="0" rtlCol="0" anchor="ctr"/>
          <a:lstStyle/>
          <a:p>
            <a:pPr indent="0" marL="0">
              <a:buNone/>
            </a:pPr>
            <a:r>
              <a:rPr lang="en-US" sz="1250" b="1" dirty="0">
                <a:solidFill>
                  <a:srgbClr val="9A701F"/>
                </a:solidFill>
                <a:latin typeface="Calibri" pitchFamily="34" charset="0"/>
                <a:ea typeface="Calibri" pitchFamily="34" charset="-122"/>
                <a:cs typeface="Calibri" pitchFamily="34" charset="-120"/>
              </a:rPr>
              <a:t>D1-07: 4 bugs. Find at least 2.  </a:t>
            </a:r>
            <a:pPr indent="0" marL="0">
              <a:buNone/>
            </a:pPr>
            <a:r>
              <a:rPr lang="en-US" sz="1250" dirty="0">
                <a:solidFill>
                  <a:srgbClr val="2C3547"/>
                </a:solidFill>
                <a:latin typeface="Calibri" pitchFamily="34" charset="0"/>
                <a:ea typeface="Calibri" pitchFamily="34" charset="-122"/>
                <a:cs typeface="Calibri" pitchFamily="34" charset="-120"/>
              </a:rPr>
              <a:t>Then D1-08 Momo recipe (classwork/D1-08-momo-recipe/).</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home-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758952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Links: same house vs postal address</a:t>
            </a:r>
            <a:endParaRPr lang="en-US" sz="2700" dirty="0"/>
          </a:p>
        </p:txBody>
      </p:sp>
      <p:sp>
        <p:nvSpPr>
          <p:cNvPr id="6" name="Shape 2"/>
          <p:cNvSpPr/>
          <p:nvPr/>
        </p:nvSpPr>
        <p:spPr>
          <a:xfrm>
            <a:off x="548640" y="1188720"/>
            <a:ext cx="3931920" cy="1874520"/>
          </a:xfrm>
          <a:prstGeom prst="roundRect">
            <a:avLst>
              <a:gd name="adj" fmla="val 3902"/>
            </a:avLst>
          </a:prstGeom>
          <a:solidFill>
            <a:srgbClr val="F9F6F5"/>
          </a:solidFill>
          <a:ln w="9525">
            <a:solidFill>
              <a:srgbClr val="E8E2E1"/>
            </a:solidFill>
            <a:prstDash val="solid"/>
          </a:ln>
        </p:spPr>
      </p:sp>
      <p:sp>
        <p:nvSpPr>
          <p:cNvPr id="7" name="Text 3"/>
          <p:cNvSpPr/>
          <p:nvPr/>
        </p:nvSpPr>
        <p:spPr>
          <a:xfrm>
            <a:off x="731520" y="1316736"/>
            <a:ext cx="3566160" cy="32004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Relative = "the kitchen"</a:t>
            </a:r>
            <a:endParaRPr lang="en-US" sz="1600" dirty="0"/>
          </a:p>
        </p:txBody>
      </p:sp>
      <p:sp>
        <p:nvSpPr>
          <p:cNvPr id="8" name="Text 4"/>
          <p:cNvSpPr/>
          <p:nvPr/>
        </p:nvSpPr>
        <p:spPr>
          <a:xfrm>
            <a:off x="731520" y="1691640"/>
            <a:ext cx="3566160" cy="123444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A path from where this page is.</a:t>
            </a:r>
            <a:endParaRPr lang="en-US" sz="1250" dirty="0"/>
          </a:p>
          <a:p>
            <a:pPr indent="0" marL="0">
              <a:buNone/>
            </a:pP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about.html</a:t>
            </a: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pages/menu.html</a:t>
            </a: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images/momo.svg</a:t>
            </a:r>
            <a:endParaRPr lang="en-US" sz="1250" dirty="0"/>
          </a:p>
        </p:txBody>
      </p:sp>
      <p:sp>
        <p:nvSpPr>
          <p:cNvPr id="9" name="Shape 5"/>
          <p:cNvSpPr/>
          <p:nvPr/>
        </p:nvSpPr>
        <p:spPr>
          <a:xfrm>
            <a:off x="4663440" y="1188720"/>
            <a:ext cx="3931920" cy="1874520"/>
          </a:xfrm>
          <a:prstGeom prst="roundRect">
            <a:avLst>
              <a:gd name="adj" fmla="val 3902"/>
            </a:avLst>
          </a:prstGeom>
          <a:solidFill>
            <a:srgbClr val="FFF3F4"/>
          </a:solidFill>
          <a:ln/>
        </p:spPr>
      </p:sp>
      <p:sp>
        <p:nvSpPr>
          <p:cNvPr id="10" name="Text 6"/>
          <p:cNvSpPr/>
          <p:nvPr/>
        </p:nvSpPr>
        <p:spPr>
          <a:xfrm>
            <a:off x="4846320" y="1316736"/>
            <a:ext cx="3566160" cy="320040"/>
          </a:xfrm>
          <a:prstGeom prst="rect">
            <a:avLst/>
          </a:prstGeom>
          <a:noFill/>
          <a:ln/>
        </p:spPr>
        <p:txBody>
          <a:bodyPr wrap="square" lIns="0" tIns="0" rIns="0" bIns="0" rtlCol="0" anchor="ctr"/>
          <a:lstStyle/>
          <a:p>
            <a:pPr indent="0" marL="0">
              <a:buNone/>
            </a:pPr>
            <a:r>
              <a:rPr lang="en-US" sz="1600" b="1" dirty="0">
                <a:solidFill>
                  <a:srgbClr val="990011"/>
                </a:solidFill>
                <a:latin typeface="Cambria" pitchFamily="34" charset="0"/>
                <a:ea typeface="Cambria" pitchFamily="34" charset="-122"/>
                <a:cs typeface="Cambria" pitchFamily="34" charset="-120"/>
              </a:rPr>
              <a:t>Absolute = the postal address</a:t>
            </a:r>
            <a:endParaRPr lang="en-US" sz="1600" dirty="0"/>
          </a:p>
        </p:txBody>
      </p:sp>
      <p:sp>
        <p:nvSpPr>
          <p:cNvPr id="11" name="Text 7"/>
          <p:cNvSpPr/>
          <p:nvPr/>
        </p:nvSpPr>
        <p:spPr>
          <a:xfrm>
            <a:off x="4846320" y="1691640"/>
            <a:ext cx="3566160" cy="123444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The full address, from anywhere.</a:t>
            </a:r>
            <a:endParaRPr lang="en-US" sz="1250" dirty="0"/>
          </a:p>
          <a:p>
            <a:pPr indent="0" marL="0">
              <a:buNone/>
            </a:pP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https://www.wikipedia.org</a:t>
            </a: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https://tsi.edu.np</a:t>
            </a:r>
            <a:endParaRPr lang="en-US" sz="1250" dirty="0"/>
          </a:p>
        </p:txBody>
      </p:sp>
      <p:sp>
        <p:nvSpPr>
          <p:cNvPr id="12" name="Shape 8"/>
          <p:cNvSpPr/>
          <p:nvPr/>
        </p:nvSpPr>
        <p:spPr>
          <a:xfrm>
            <a:off x="548640" y="3246120"/>
            <a:ext cx="8046720" cy="914400"/>
          </a:xfrm>
          <a:prstGeom prst="roundRect">
            <a:avLst>
              <a:gd name="adj" fmla="val 8000"/>
            </a:avLst>
          </a:prstGeom>
          <a:solidFill>
            <a:srgbClr val="16274A"/>
          </a:solidFill>
          <a:ln/>
        </p:spPr>
      </p:sp>
      <p:sp>
        <p:nvSpPr>
          <p:cNvPr id="13" name="Shape 9"/>
          <p:cNvSpPr/>
          <p:nvPr/>
        </p:nvSpPr>
        <p:spPr>
          <a:xfrm>
            <a:off x="694944" y="3364992"/>
            <a:ext cx="82296" cy="82296"/>
          </a:xfrm>
          <a:prstGeom prst="ellipse">
            <a:avLst/>
          </a:prstGeom>
          <a:solidFill>
            <a:srgbClr val="FF5F56"/>
          </a:solidFill>
          <a:ln/>
        </p:spPr>
      </p:sp>
      <p:sp>
        <p:nvSpPr>
          <p:cNvPr id="14" name="Shape 10"/>
          <p:cNvSpPr/>
          <p:nvPr/>
        </p:nvSpPr>
        <p:spPr>
          <a:xfrm>
            <a:off x="841248" y="3364992"/>
            <a:ext cx="82296" cy="82296"/>
          </a:xfrm>
          <a:prstGeom prst="ellipse">
            <a:avLst/>
          </a:prstGeom>
          <a:solidFill>
            <a:srgbClr val="FFBD2E"/>
          </a:solidFill>
          <a:ln/>
        </p:spPr>
      </p:sp>
      <p:sp>
        <p:nvSpPr>
          <p:cNvPr id="15" name="Shape 11"/>
          <p:cNvSpPr/>
          <p:nvPr/>
        </p:nvSpPr>
        <p:spPr>
          <a:xfrm>
            <a:off x="987552" y="3364992"/>
            <a:ext cx="82296" cy="82296"/>
          </a:xfrm>
          <a:prstGeom prst="ellipse">
            <a:avLst/>
          </a:prstGeom>
          <a:solidFill>
            <a:srgbClr val="27C93F"/>
          </a:solidFill>
          <a:ln/>
        </p:spPr>
      </p:sp>
      <p:sp>
        <p:nvSpPr>
          <p:cNvPr id="16" name="Text 12"/>
          <p:cNvSpPr/>
          <p:nvPr/>
        </p:nvSpPr>
        <p:spPr>
          <a:xfrm>
            <a:off x="1188720" y="3300984"/>
            <a:ext cx="7223760" cy="219456"/>
          </a:xfrm>
          <a:prstGeom prst="rect">
            <a:avLst/>
          </a:prstGeom>
          <a:noFill/>
          <a:ln/>
        </p:spPr>
        <p:txBody>
          <a:bodyPr wrap="square" lIns="0" tIns="0" rIns="0" bIns="0" rtlCol="0" anchor="ctr"/>
          <a:lstStyle/>
          <a:p>
            <a:pPr indent="0" marL="0">
              <a:buNone/>
            </a:pPr>
            <a:r>
              <a:rPr lang="en-US" sz="1000" dirty="0">
                <a:solidFill>
                  <a:srgbClr val="9AA8BF"/>
                </a:solidFill>
                <a:latin typeface="Courier New" pitchFamily="34" charset="0"/>
                <a:ea typeface="Courier New" pitchFamily="34" charset="-122"/>
                <a:cs typeface="Courier New" pitchFamily="34" charset="-120"/>
              </a:rPr>
              <a:t>relative, then absolute</a:t>
            </a:r>
            <a:endParaRPr lang="en-US" sz="1000" dirty="0"/>
          </a:p>
        </p:txBody>
      </p:sp>
      <p:sp>
        <p:nvSpPr>
          <p:cNvPr id="17" name="Text 13"/>
          <p:cNvSpPr/>
          <p:nvPr/>
        </p:nvSpPr>
        <p:spPr>
          <a:xfrm>
            <a:off x="749808" y="3593592"/>
            <a:ext cx="7680960" cy="457200"/>
          </a:xfrm>
          <a:prstGeom prst="rect">
            <a:avLst/>
          </a:prstGeom>
          <a:noFill/>
          <a:ln/>
        </p:spPr>
        <p:txBody>
          <a:bodyPr wrap="square" lIns="0" tIns="0" rIns="0" bIns="0" rtlCol="0" anchor="t"/>
          <a:lstStyle/>
          <a:p>
            <a:pPr indent="0" marL="0">
              <a:lnSpc>
                <a:spcPts val="1536"/>
              </a:lnSpc>
              <a:buNone/>
            </a:pPr>
            <a:r>
              <a:rPr lang="en-US" sz="1200" dirty="0">
                <a:solidFill>
                  <a:srgbClr val="E8EDF5"/>
                </a:solidFill>
                <a:latin typeface="Courier New" pitchFamily="34" charset="0"/>
                <a:ea typeface="Courier New" pitchFamily="34" charset="-122"/>
                <a:cs typeface="Courier New" pitchFamily="34" charset="-120"/>
              </a:rPr>
              <a:t>&lt;a href="pages/about.html"&gt;About us&lt;/a&gt;</a:t>
            </a:r>
            <a:endParaRPr lang="en-US" sz="1200" dirty="0"/>
          </a:p>
          <a:p>
            <a:pPr indent="0" marL="0">
              <a:lnSpc>
                <a:spcPts val="1536"/>
              </a:lnSpc>
              <a:buNone/>
            </a:pPr>
            <a:r>
              <a:rPr lang="en-US" sz="1200" dirty="0">
                <a:solidFill>
                  <a:srgbClr val="E8EDF5"/>
                </a:solidFill>
                <a:latin typeface="Courier New" pitchFamily="34" charset="0"/>
                <a:ea typeface="Courier New" pitchFamily="34" charset="-122"/>
                <a:cs typeface="Courier New" pitchFamily="34" charset="-120"/>
              </a:rPr>
              <a:t>&lt;a href="https://www.wikipedia.org"&gt;Wikipedia&lt;/a&gt;</a:t>
            </a:r>
            <a:endParaRPr lang="en-US" sz="1200" dirty="0"/>
          </a:p>
        </p:txBody>
      </p:sp>
      <p:sp>
        <p:nvSpPr>
          <p:cNvPr id="18" name="Shape 14"/>
          <p:cNvSpPr/>
          <p:nvPr/>
        </p:nvSpPr>
        <p:spPr>
          <a:xfrm>
            <a:off x="548640" y="4297680"/>
            <a:ext cx="8046720" cy="438912"/>
          </a:xfrm>
          <a:prstGeom prst="roundRect">
            <a:avLst>
              <a:gd name="adj" fmla="val 16667"/>
            </a:avLst>
          </a:prstGeom>
          <a:solidFill>
            <a:srgbClr val="F5EBD8"/>
          </a:solidFill>
          <a:ln/>
        </p:spPr>
      </p:sp>
      <p:sp>
        <p:nvSpPr>
          <p:cNvPr id="19" name="Text 15"/>
          <p:cNvSpPr/>
          <p:nvPr/>
        </p:nvSpPr>
        <p:spPr>
          <a:xfrm>
            <a:off x="749808" y="4297680"/>
            <a:ext cx="7644384" cy="438912"/>
          </a:xfrm>
          <a:prstGeom prst="rect">
            <a:avLst/>
          </a:prstGeom>
          <a:noFill/>
          <a:ln/>
        </p:spPr>
        <p:txBody>
          <a:bodyPr wrap="square" lIns="0" tIns="0" rIns="0" bIns="0" rtlCol="0" anchor="ctr"/>
          <a:lstStyle/>
          <a:p>
            <a:pPr indent="0" marL="0">
              <a:buNone/>
            </a:pPr>
            <a:r>
              <a:rPr lang="en-US" sz="1250" b="1" dirty="0">
                <a:solidFill>
                  <a:srgbClr val="9A701F"/>
                </a:solidFill>
                <a:latin typeface="Calibri" pitchFamily="34" charset="0"/>
                <a:ea typeface="Calibri" pitchFamily="34" charset="-122"/>
                <a:cs typeface="Calibri" pitchFamily="34" charset="-120"/>
              </a:rPr>
              <a:t>No https:// ?  </a:t>
            </a:r>
            <a:pPr indent="0" marL="0">
              <a:buNone/>
            </a:pPr>
            <a:r>
              <a:rPr lang="en-US" sz="1250" dirty="0">
                <a:solidFill>
                  <a:srgbClr val="2C3547"/>
                </a:solidFill>
                <a:latin typeface="Calibri" pitchFamily="34" charset="0"/>
                <a:ea typeface="Calibri" pitchFamily="34" charset="-122"/>
                <a:cs typeface="Calibri" pitchFamily="34" charset="-120"/>
              </a:rPr>
              <a:t>Then "www.wikipedia.org" is treated as a file in your folder → 404.</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layout-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758952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Folders and ../ ("go downstairs one floor")</a:t>
            </a:r>
            <a:endParaRPr lang="en-US" sz="2700" dirty="0"/>
          </a:p>
        </p:txBody>
      </p:sp>
      <p:sp>
        <p:nvSpPr>
          <p:cNvPr id="6" name="Text 2"/>
          <p:cNvSpPr/>
          <p:nvPr/>
        </p:nvSpPr>
        <p:spPr>
          <a:xfrm>
            <a:off x="640080" y="1280160"/>
            <a:ext cx="1737360" cy="411480"/>
          </a:xfrm>
          <a:prstGeom prst="roundRect">
            <a:avLst>
              <a:gd name="adj" fmla="val 13333"/>
            </a:avLst>
          </a:prstGeom>
          <a:solidFill>
            <a:srgbClr val="14213D"/>
          </a:solidFill>
          <a:ln/>
        </p:spPr>
        <p:txBody>
          <a:bodyPr wrap="square" lIns="50800" tIns="50800" rIns="50800" bIns="5080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site/</a:t>
            </a:r>
            <a:endParaRPr lang="en-US" sz="1300" dirty="0"/>
          </a:p>
        </p:txBody>
      </p:sp>
      <p:sp>
        <p:nvSpPr>
          <p:cNvPr id="7" name="Text 3"/>
          <p:cNvSpPr/>
          <p:nvPr/>
        </p:nvSpPr>
        <p:spPr>
          <a:xfrm>
            <a:off x="1097280" y="1828800"/>
            <a:ext cx="1554480" cy="384048"/>
          </a:xfrm>
          <a:prstGeom prst="roundRect">
            <a:avLst>
              <a:gd name="adj" fmla="val 14286"/>
            </a:avLst>
          </a:prstGeom>
          <a:solidFill>
            <a:srgbClr val="F9F6F5"/>
          </a:solidFill>
          <a:ln w="15875">
            <a:solidFill>
              <a:srgbClr val="B9C2CF"/>
            </a:solidFill>
          </a:ln>
        </p:spPr>
        <p:txBody>
          <a:bodyPr wrap="square" lIns="50800" tIns="50800" rIns="50800" bIns="50800" rtlCol="0" anchor="ctr"/>
          <a:lstStyle/>
          <a:p>
            <a:pPr algn="ctr" indent="0" marL="0">
              <a:buNone/>
            </a:pPr>
            <a:r>
              <a:rPr lang="en-US" sz="1250" b="1" dirty="0">
                <a:solidFill>
                  <a:srgbClr val="14213D"/>
                </a:solidFill>
                <a:latin typeface="Courier New" pitchFamily="34" charset="0"/>
                <a:ea typeface="Courier New" pitchFamily="34" charset="-122"/>
                <a:cs typeface="Courier New" pitchFamily="34" charset="-120"/>
              </a:rPr>
              <a:t>index.html</a:t>
            </a:r>
            <a:endParaRPr lang="en-US" sz="1250" dirty="0"/>
          </a:p>
        </p:txBody>
      </p:sp>
      <p:sp>
        <p:nvSpPr>
          <p:cNvPr id="8" name="Text 4"/>
          <p:cNvSpPr/>
          <p:nvPr/>
        </p:nvSpPr>
        <p:spPr>
          <a:xfrm>
            <a:off x="1097280" y="2304288"/>
            <a:ext cx="1554480" cy="384048"/>
          </a:xfrm>
          <a:prstGeom prst="roundRect">
            <a:avLst>
              <a:gd name="adj" fmla="val 14286"/>
            </a:avLst>
          </a:prstGeom>
          <a:solidFill>
            <a:srgbClr val="FFF3F4"/>
          </a:solidFill>
          <a:ln w="15875">
            <a:solidFill>
              <a:srgbClr val="B9C2CF"/>
            </a:solidFill>
          </a:ln>
        </p:spPr>
        <p:txBody>
          <a:bodyPr wrap="square" lIns="50800" tIns="50800" rIns="50800" bIns="50800" rtlCol="0" anchor="ctr"/>
          <a:lstStyle/>
          <a:p>
            <a:pPr algn="ctr" indent="0" marL="0">
              <a:buNone/>
            </a:pPr>
            <a:r>
              <a:rPr lang="en-US" sz="1250" b="1" dirty="0">
                <a:solidFill>
                  <a:srgbClr val="990011"/>
                </a:solidFill>
                <a:latin typeface="Courier New" pitchFamily="34" charset="0"/>
                <a:ea typeface="Courier New" pitchFamily="34" charset="-122"/>
                <a:cs typeface="Courier New" pitchFamily="34" charset="-120"/>
              </a:rPr>
              <a:t>pages/</a:t>
            </a:r>
            <a:endParaRPr lang="en-US" sz="1250" dirty="0"/>
          </a:p>
        </p:txBody>
      </p:sp>
      <p:sp>
        <p:nvSpPr>
          <p:cNvPr id="9" name="Text 5"/>
          <p:cNvSpPr/>
          <p:nvPr/>
        </p:nvSpPr>
        <p:spPr>
          <a:xfrm>
            <a:off x="1097280" y="3584448"/>
            <a:ext cx="1554480" cy="384048"/>
          </a:xfrm>
          <a:prstGeom prst="roundRect">
            <a:avLst>
              <a:gd name="adj" fmla="val 14286"/>
            </a:avLst>
          </a:prstGeom>
          <a:solidFill>
            <a:srgbClr val="FFF3F4"/>
          </a:solidFill>
          <a:ln w="15875">
            <a:solidFill>
              <a:srgbClr val="B9C2CF"/>
            </a:solidFill>
          </a:ln>
        </p:spPr>
        <p:txBody>
          <a:bodyPr wrap="square" lIns="50800" tIns="50800" rIns="50800" bIns="50800" rtlCol="0" anchor="ctr"/>
          <a:lstStyle/>
          <a:p>
            <a:pPr algn="ctr" indent="0" marL="0">
              <a:buNone/>
            </a:pPr>
            <a:r>
              <a:rPr lang="en-US" sz="1250" b="1" dirty="0">
                <a:solidFill>
                  <a:srgbClr val="990011"/>
                </a:solidFill>
                <a:latin typeface="Courier New" pitchFamily="34" charset="0"/>
                <a:ea typeface="Courier New" pitchFamily="34" charset="-122"/>
                <a:cs typeface="Courier New" pitchFamily="34" charset="-120"/>
              </a:rPr>
              <a:t>images/</a:t>
            </a:r>
            <a:endParaRPr lang="en-US" sz="1250" dirty="0"/>
          </a:p>
        </p:txBody>
      </p:sp>
      <p:sp>
        <p:nvSpPr>
          <p:cNvPr id="10" name="Text 6"/>
          <p:cNvSpPr/>
          <p:nvPr/>
        </p:nvSpPr>
        <p:spPr>
          <a:xfrm>
            <a:off x="1554480" y="2761488"/>
            <a:ext cx="1463040" cy="329184"/>
          </a:xfrm>
          <a:prstGeom prst="roundRect">
            <a:avLst>
              <a:gd name="adj" fmla="val 16667"/>
            </a:avLst>
          </a:prstGeom>
          <a:solidFill>
            <a:srgbClr val="F9F6F5"/>
          </a:solidFill>
          <a:ln w="15875">
            <a:solidFill>
              <a:srgbClr val="B9C2CF"/>
            </a:solidFill>
          </a:ln>
        </p:spPr>
        <p:txBody>
          <a:bodyPr wrap="square" lIns="50800" tIns="50800" rIns="50800" bIns="50800" rtlCol="0" anchor="ctr"/>
          <a:lstStyle/>
          <a:p>
            <a:pPr algn="ctr" indent="0" marL="0">
              <a:buNone/>
            </a:pPr>
            <a:r>
              <a:rPr lang="en-US" sz="1200" b="1" dirty="0">
                <a:solidFill>
                  <a:srgbClr val="14213D"/>
                </a:solidFill>
                <a:latin typeface="Courier New" pitchFamily="34" charset="0"/>
                <a:ea typeface="Courier New" pitchFamily="34" charset="-122"/>
                <a:cs typeface="Courier New" pitchFamily="34" charset="-120"/>
              </a:rPr>
              <a:t>about.html</a:t>
            </a:r>
            <a:endParaRPr lang="en-US" sz="1200" dirty="0"/>
          </a:p>
        </p:txBody>
      </p:sp>
      <p:sp>
        <p:nvSpPr>
          <p:cNvPr id="11" name="Text 7"/>
          <p:cNvSpPr/>
          <p:nvPr/>
        </p:nvSpPr>
        <p:spPr>
          <a:xfrm>
            <a:off x="1554480" y="3154680"/>
            <a:ext cx="1463040" cy="329184"/>
          </a:xfrm>
          <a:prstGeom prst="roundRect">
            <a:avLst>
              <a:gd name="adj" fmla="val 16667"/>
            </a:avLst>
          </a:prstGeom>
          <a:solidFill>
            <a:srgbClr val="F9F6F5"/>
          </a:solidFill>
          <a:ln w="15875">
            <a:solidFill>
              <a:srgbClr val="B9C2CF"/>
            </a:solidFill>
          </a:ln>
        </p:spPr>
        <p:txBody>
          <a:bodyPr wrap="square" lIns="50800" tIns="50800" rIns="50800" bIns="50800" rtlCol="0" anchor="ctr"/>
          <a:lstStyle/>
          <a:p>
            <a:pPr algn="ctr" indent="0" marL="0">
              <a:buNone/>
            </a:pPr>
            <a:r>
              <a:rPr lang="en-US" sz="1200" b="1" dirty="0">
                <a:solidFill>
                  <a:srgbClr val="14213D"/>
                </a:solidFill>
                <a:latin typeface="Courier New" pitchFamily="34" charset="0"/>
                <a:ea typeface="Courier New" pitchFamily="34" charset="-122"/>
                <a:cs typeface="Courier New" pitchFamily="34" charset="-120"/>
              </a:rPr>
              <a:t>menu.html</a:t>
            </a:r>
            <a:endParaRPr lang="en-US" sz="1200" dirty="0"/>
          </a:p>
        </p:txBody>
      </p:sp>
      <p:sp>
        <p:nvSpPr>
          <p:cNvPr id="12" name="Text 8"/>
          <p:cNvSpPr/>
          <p:nvPr/>
        </p:nvSpPr>
        <p:spPr>
          <a:xfrm>
            <a:off x="1554480" y="4041648"/>
            <a:ext cx="1463040" cy="329184"/>
          </a:xfrm>
          <a:prstGeom prst="roundRect">
            <a:avLst>
              <a:gd name="adj" fmla="val 16667"/>
            </a:avLst>
          </a:prstGeom>
          <a:solidFill>
            <a:srgbClr val="F9F6F5"/>
          </a:solidFill>
          <a:ln w="15875">
            <a:solidFill>
              <a:srgbClr val="B9C2CF"/>
            </a:solidFill>
          </a:ln>
        </p:spPr>
        <p:txBody>
          <a:bodyPr wrap="square" lIns="50800" tIns="50800" rIns="50800" bIns="50800" rtlCol="0" anchor="ctr"/>
          <a:lstStyle/>
          <a:p>
            <a:pPr algn="ctr" indent="0" marL="0">
              <a:buNone/>
            </a:pPr>
            <a:r>
              <a:rPr lang="en-US" sz="1200" b="1" dirty="0">
                <a:solidFill>
                  <a:srgbClr val="14213D"/>
                </a:solidFill>
                <a:latin typeface="Courier New" pitchFamily="34" charset="0"/>
                <a:ea typeface="Courier New" pitchFamily="34" charset="-122"/>
                <a:cs typeface="Courier New" pitchFamily="34" charset="-120"/>
              </a:rPr>
              <a:t>momo.svg</a:t>
            </a:r>
            <a:endParaRPr lang="en-US" sz="1200" dirty="0"/>
          </a:p>
        </p:txBody>
      </p:sp>
      <p:sp>
        <p:nvSpPr>
          <p:cNvPr id="13" name="Text 9"/>
          <p:cNvSpPr/>
          <p:nvPr/>
        </p:nvSpPr>
        <p:spPr>
          <a:xfrm>
            <a:off x="1554480" y="4434840"/>
            <a:ext cx="1463040" cy="329184"/>
          </a:xfrm>
          <a:prstGeom prst="roundRect">
            <a:avLst>
              <a:gd name="adj" fmla="val 16667"/>
            </a:avLst>
          </a:prstGeom>
          <a:solidFill>
            <a:srgbClr val="F9F6F5"/>
          </a:solidFill>
          <a:ln w="15875">
            <a:solidFill>
              <a:srgbClr val="B9C2CF"/>
            </a:solidFill>
          </a:ln>
        </p:spPr>
        <p:txBody>
          <a:bodyPr wrap="square" lIns="50800" tIns="50800" rIns="50800" bIns="50800" rtlCol="0" anchor="ctr"/>
          <a:lstStyle/>
          <a:p>
            <a:pPr algn="ctr" indent="0" marL="0">
              <a:buNone/>
            </a:pPr>
            <a:r>
              <a:rPr lang="en-US" sz="1200" b="1" dirty="0">
                <a:solidFill>
                  <a:srgbClr val="14213D"/>
                </a:solidFill>
                <a:latin typeface="Courier New" pitchFamily="34" charset="0"/>
                <a:ea typeface="Courier New" pitchFamily="34" charset="-122"/>
                <a:cs typeface="Courier New" pitchFamily="34" charset="-120"/>
              </a:rPr>
              <a:t>thamel.svg</a:t>
            </a:r>
            <a:endParaRPr lang="en-US" sz="1200" dirty="0"/>
          </a:p>
        </p:txBody>
      </p:sp>
      <p:sp>
        <p:nvSpPr>
          <p:cNvPr id="14" name="Shape 10"/>
          <p:cNvSpPr/>
          <p:nvPr/>
        </p:nvSpPr>
        <p:spPr>
          <a:xfrm>
            <a:off x="914400" y="1691640"/>
            <a:ext cx="0" cy="2084832"/>
          </a:xfrm>
          <a:prstGeom prst="line">
            <a:avLst/>
          </a:prstGeom>
          <a:noFill/>
          <a:ln w="19050">
            <a:solidFill>
              <a:srgbClr val="B9C2CF"/>
            </a:solidFill>
            <a:prstDash val="solid"/>
          </a:ln>
        </p:spPr>
      </p:sp>
      <p:sp>
        <p:nvSpPr>
          <p:cNvPr id="15" name="Shape 11"/>
          <p:cNvSpPr/>
          <p:nvPr/>
        </p:nvSpPr>
        <p:spPr>
          <a:xfrm>
            <a:off x="1325880" y="2688336"/>
            <a:ext cx="0" cy="630936"/>
          </a:xfrm>
          <a:prstGeom prst="line">
            <a:avLst/>
          </a:prstGeom>
          <a:noFill/>
          <a:ln w="19050">
            <a:solidFill>
              <a:srgbClr val="B9C2CF"/>
            </a:solidFill>
            <a:prstDash val="solid"/>
          </a:ln>
        </p:spPr>
      </p:sp>
      <p:sp>
        <p:nvSpPr>
          <p:cNvPr id="16" name="Shape 12"/>
          <p:cNvSpPr/>
          <p:nvPr/>
        </p:nvSpPr>
        <p:spPr>
          <a:xfrm>
            <a:off x="1325880" y="3968496"/>
            <a:ext cx="0" cy="630936"/>
          </a:xfrm>
          <a:prstGeom prst="line">
            <a:avLst/>
          </a:prstGeom>
          <a:noFill/>
          <a:ln w="19050">
            <a:solidFill>
              <a:srgbClr val="B9C2CF"/>
            </a:solidFill>
            <a:prstDash val="solid"/>
          </a:ln>
        </p:spPr>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3657600" y="1188720"/>
          <a:ext cx="4983480" cy="914400"/>
        </p:xfrm>
        <a:graphic>
          <a:graphicData uri="http://schemas.openxmlformats.org/drawingml/2006/table">
            <a:tbl>
              <a:tblPr/>
              <a:tblGrid>
                <a:gridCol w="1600200"/>
                <a:gridCol w="1508760"/>
                <a:gridCol w="187452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From</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To</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Write</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14213D"/>
                    </a:solidFill>
                  </a:tcPr>
                </a:tc>
              </a:tr>
              <a:tr h="457200">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index.html</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about.html</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pages/about.html</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r>
              <a:tr h="457200">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index.html</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momo.svg</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images/momo.svg</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pages/about.html</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index.html</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../index.html</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r>
              <a:tr h="457200">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pages/about.html</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thamel.svg</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../images/thamel.svg</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8" name="Shape 13"/>
          <p:cNvSpPr/>
          <p:nvPr/>
        </p:nvSpPr>
        <p:spPr>
          <a:xfrm>
            <a:off x="3657600" y="3703320"/>
            <a:ext cx="4983480" cy="685800"/>
          </a:xfrm>
          <a:prstGeom prst="roundRect">
            <a:avLst>
              <a:gd name="adj" fmla="val 10667"/>
            </a:avLst>
          </a:prstGeom>
          <a:solidFill>
            <a:srgbClr val="F5EBD8"/>
          </a:solidFill>
          <a:ln/>
        </p:spPr>
      </p:sp>
      <p:sp>
        <p:nvSpPr>
          <p:cNvPr id="19" name="Text 14"/>
          <p:cNvSpPr/>
          <p:nvPr/>
        </p:nvSpPr>
        <p:spPr>
          <a:xfrm>
            <a:off x="3858768" y="3703320"/>
            <a:ext cx="4581144" cy="685800"/>
          </a:xfrm>
          <a:prstGeom prst="rect">
            <a:avLst/>
          </a:prstGeom>
          <a:noFill/>
          <a:ln/>
        </p:spPr>
        <p:txBody>
          <a:bodyPr wrap="square" lIns="0" tIns="0" rIns="0" bIns="0" rtlCol="0" anchor="ctr"/>
          <a:lstStyle/>
          <a:p>
            <a:pPr indent="0" marL="0">
              <a:buNone/>
            </a:pPr>
            <a:r>
              <a:rPr lang="en-US" sz="1250" b="1" dirty="0">
                <a:solidFill>
                  <a:srgbClr val="9A701F"/>
                </a:solidFill>
                <a:latin typeface="Calibri" pitchFamily="34" charset="0"/>
                <a:ea typeface="Calibri" pitchFamily="34" charset="-122"/>
                <a:cs typeface="Calibri" pitchFamily="34" charset="-120"/>
              </a:rPr>
              <a:t>../ = go downstairs one floor.  </a:t>
            </a:r>
            <a:pPr indent="0" marL="0">
              <a:buNone/>
            </a:pPr>
            <a:r>
              <a:rPr lang="en-US" sz="1250" dirty="0">
                <a:solidFill>
                  <a:srgbClr val="2C3547"/>
                </a:solidFill>
                <a:latin typeface="Calibri" pitchFamily="34" charset="0"/>
                <a:ea typeface="Calibri" pitchFamily="34" charset="-122"/>
                <a:cs typeface="Calibri" pitchFamily="34" charset="-120"/>
              </a:rPr>
              <a:t>Never C:\Users\Aarav\… — that path lives only on one laptop.</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globe-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612648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Links type-along</a:t>
            </a:r>
            <a:endParaRPr lang="en-US" sz="2700" dirty="0"/>
          </a:p>
        </p:txBody>
      </p:sp>
      <p:sp>
        <p:nvSpPr>
          <p:cNvPr id="5" name="Text 2"/>
          <p:cNvSpPr/>
          <p:nvPr/>
        </p:nvSpPr>
        <p:spPr>
          <a:xfrm>
            <a:off x="7315200" y="402336"/>
            <a:ext cx="1417320" cy="310896"/>
          </a:xfrm>
          <a:prstGeom prst="roundRect">
            <a:avLst>
              <a:gd name="adj" fmla="val 50000"/>
            </a:avLst>
          </a:prstGeom>
          <a:solidFill>
            <a:srgbClr val="F5EBD8"/>
          </a:solidFill>
          <a:ln/>
        </p:spPr>
        <p:txBody>
          <a:bodyPr wrap="square" lIns="0" tIns="0" rIns="0" bIns="0" rtlCol="0" anchor="ctr"/>
          <a:lstStyle/>
          <a:p>
            <a:pPr algn="ctr" indent="0" marL="0">
              <a:buNone/>
            </a:pPr>
            <a:r>
              <a:rPr lang="en-US" sz="1100" b="1" spc="200" kern="0" dirty="0">
                <a:solidFill>
                  <a:srgbClr val="9A701F"/>
                </a:solidFill>
                <a:latin typeface="Calibri" pitchFamily="34" charset="0"/>
                <a:ea typeface="Calibri" pitchFamily="34" charset="-122"/>
                <a:cs typeface="Calibri" pitchFamily="34" charset="-120"/>
              </a:rPr>
              <a:t>ACTIVITY</a:t>
            </a:r>
            <a:endParaRPr lang="en-US" sz="1100" dirty="0"/>
          </a:p>
        </p:txBody>
      </p:sp>
      <p:sp>
        <p:nvSpPr>
          <p:cNvPr id="7" name="Text 3"/>
          <p:cNvSpPr/>
          <p:nvPr/>
        </p:nvSpPr>
        <p:spPr>
          <a:xfrm>
            <a:off x="548640" y="1078992"/>
            <a:ext cx="8046720" cy="274320"/>
          </a:xfrm>
          <a:prstGeom prst="rect">
            <a:avLst/>
          </a:prstGeom>
          <a:noFill/>
          <a:ln/>
        </p:spPr>
        <p:txBody>
          <a:bodyPr wrap="square" lIns="0" tIns="0" rIns="0" bIns="0" rtlCol="0" anchor="ctr"/>
          <a:lstStyle/>
          <a:p>
            <a:pPr indent="0" marL="0">
              <a:buNone/>
            </a:pPr>
            <a:r>
              <a:rPr lang="en-US" sz="1300" b="1" dirty="0">
                <a:solidFill>
                  <a:srgbClr val="990011"/>
                </a:solidFill>
                <a:latin typeface="Calibri" pitchFamily="34" charset="0"/>
                <a:ea typeface="Calibri" pitchFamily="34" charset="-122"/>
                <a:cs typeface="Calibri" pitchFamily="34" charset="-120"/>
              </a:rPr>
              <a:t>Code-along  ·  2 min  ·  type with me  ·  W2D1/instructor-demos/B6-links-images/  (steps 01–05)</a:t>
            </a:r>
            <a:endParaRPr lang="en-US" sz="1300" dirty="0"/>
          </a:p>
        </p:txBody>
      </p:sp>
      <p:sp>
        <p:nvSpPr>
          <p:cNvPr id="8" name="Shape 4"/>
          <p:cNvSpPr/>
          <p:nvPr/>
        </p:nvSpPr>
        <p:spPr>
          <a:xfrm>
            <a:off x="548640" y="1463040"/>
            <a:ext cx="8046720" cy="2127504"/>
          </a:xfrm>
          <a:prstGeom prst="roundRect">
            <a:avLst>
              <a:gd name="adj" fmla="val 3438"/>
            </a:avLst>
          </a:prstGeom>
          <a:solidFill>
            <a:srgbClr val="16274A"/>
          </a:solidFill>
          <a:ln/>
        </p:spPr>
      </p:sp>
      <p:sp>
        <p:nvSpPr>
          <p:cNvPr id="9" name="Shape 5"/>
          <p:cNvSpPr/>
          <p:nvPr/>
        </p:nvSpPr>
        <p:spPr>
          <a:xfrm>
            <a:off x="694944" y="1581912"/>
            <a:ext cx="82296" cy="82296"/>
          </a:xfrm>
          <a:prstGeom prst="ellipse">
            <a:avLst/>
          </a:prstGeom>
          <a:solidFill>
            <a:srgbClr val="FF5F56"/>
          </a:solidFill>
          <a:ln/>
        </p:spPr>
      </p:sp>
      <p:sp>
        <p:nvSpPr>
          <p:cNvPr id="10" name="Shape 6"/>
          <p:cNvSpPr/>
          <p:nvPr/>
        </p:nvSpPr>
        <p:spPr>
          <a:xfrm>
            <a:off x="841248" y="1581912"/>
            <a:ext cx="82296" cy="82296"/>
          </a:xfrm>
          <a:prstGeom prst="ellipse">
            <a:avLst/>
          </a:prstGeom>
          <a:solidFill>
            <a:srgbClr val="FFBD2E"/>
          </a:solidFill>
          <a:ln/>
        </p:spPr>
      </p:sp>
      <p:sp>
        <p:nvSpPr>
          <p:cNvPr id="11" name="Shape 7"/>
          <p:cNvSpPr/>
          <p:nvPr/>
        </p:nvSpPr>
        <p:spPr>
          <a:xfrm>
            <a:off x="987552" y="1581912"/>
            <a:ext cx="82296" cy="82296"/>
          </a:xfrm>
          <a:prstGeom prst="ellipse">
            <a:avLst/>
          </a:prstGeom>
          <a:solidFill>
            <a:srgbClr val="27C93F"/>
          </a:solidFill>
          <a:ln/>
        </p:spPr>
      </p:sp>
      <p:sp>
        <p:nvSpPr>
          <p:cNvPr id="12" name="Text 8"/>
          <p:cNvSpPr/>
          <p:nvPr/>
        </p:nvSpPr>
        <p:spPr>
          <a:xfrm>
            <a:off x="1188720" y="1517904"/>
            <a:ext cx="7223760" cy="219456"/>
          </a:xfrm>
          <a:prstGeom prst="rect">
            <a:avLst/>
          </a:prstGeom>
          <a:noFill/>
          <a:ln/>
        </p:spPr>
        <p:txBody>
          <a:bodyPr wrap="square" lIns="0" tIns="0" rIns="0" bIns="0" rtlCol="0" anchor="ctr"/>
          <a:lstStyle/>
          <a:p>
            <a:pPr indent="0" marL="0">
              <a:buNone/>
            </a:pPr>
            <a:r>
              <a:rPr lang="en-US" sz="1000" dirty="0">
                <a:solidFill>
                  <a:srgbClr val="9AA8BF"/>
                </a:solidFill>
                <a:latin typeface="Courier New" pitchFamily="34" charset="0"/>
                <a:ea typeface="Courier New" pitchFamily="34" charset="-122"/>
                <a:cs typeface="Courier New" pitchFamily="34" charset="-120"/>
              </a:rPr>
              <a:t>index.html  (inside &lt;body&gt;)</a:t>
            </a:r>
            <a:endParaRPr lang="en-US" sz="1000" dirty="0"/>
          </a:p>
        </p:txBody>
      </p:sp>
      <p:sp>
        <p:nvSpPr>
          <p:cNvPr id="13" name="Text 9"/>
          <p:cNvSpPr/>
          <p:nvPr/>
        </p:nvSpPr>
        <p:spPr>
          <a:xfrm>
            <a:off x="749808" y="1810512"/>
            <a:ext cx="7680960" cy="1670304"/>
          </a:xfrm>
          <a:prstGeom prst="rect">
            <a:avLst/>
          </a:prstGeom>
          <a:noFill/>
          <a:ln/>
        </p:spPr>
        <p:txBody>
          <a:bodyPr wrap="square" lIns="0" tIns="0" rIns="0" bIns="0" rtlCol="0" anchor="t"/>
          <a:lstStyle/>
          <a:p>
            <a:pPr indent="0" marL="0">
              <a:lnSpc>
                <a:spcPts val="1536"/>
              </a:lnSpc>
              <a:buNone/>
            </a:pPr>
            <a:r>
              <a:rPr lang="en-US" sz="1200" dirty="0">
                <a:solidFill>
                  <a:srgbClr val="E8EDF5"/>
                </a:solidFill>
                <a:latin typeface="Courier New" pitchFamily="34" charset="0"/>
                <a:ea typeface="Courier New" pitchFamily="34" charset="-122"/>
                <a:cs typeface="Courier New" pitchFamily="34" charset="-120"/>
              </a:rPr>
              <a:t>&lt;a href="https://en.wikipedia.org/wiki/Momo_(food)" target="_blank"&gt;Wikipedia&lt;/a&gt;</a:t>
            </a:r>
            <a:endParaRPr lang="en-US" sz="1200" dirty="0"/>
          </a:p>
          <a:p>
            <a:pPr indent="0" marL="0">
              <a:lnSpc>
                <a:spcPts val="1536"/>
              </a:lnSpc>
              <a:buNone/>
            </a:pPr>
            <a:r>
              <a:rPr lang="en-US" sz="1200" dirty="0">
                <a:solidFill>
                  <a:srgbClr val="E8EDF5"/>
                </a:solidFill>
                <a:latin typeface="Courier New" pitchFamily="34" charset="0"/>
                <a:ea typeface="Courier New" pitchFamily="34" charset="-122"/>
                <a:cs typeface="Courier New" pitchFamily="34" charset="-120"/>
              </a:rPr>
              <a:t>&lt;a href="pages/about.html"&gt;About us&lt;/a&gt;</a:t>
            </a:r>
            <a:endParaRPr lang="en-US" sz="1200" dirty="0"/>
          </a:p>
          <a:p>
            <a:pPr indent="0" marL="0">
              <a:lnSpc>
                <a:spcPts val="1536"/>
              </a:lnSpc>
              <a:buNone/>
            </a:pPr>
            <a:r>
              <a:rPr lang="en-US" sz="1200" dirty="0">
                <a:solidFill>
                  <a:srgbClr val="E8EDF5"/>
                </a:solidFill>
                <a:latin typeface="Courier New" pitchFamily="34" charset="0"/>
                <a:ea typeface="Courier New" pitchFamily="34" charset="-122"/>
                <a:cs typeface="Courier New" pitchFamily="34" charset="-120"/>
              </a:rPr>
              <a:t>&lt;a href="#contact"&gt;Contact&lt;/a&gt;</a:t>
            </a:r>
            <a:endParaRPr lang="en-US" sz="1200" dirty="0"/>
          </a:p>
          <a:p>
            <a:pPr indent="0" marL="0">
              <a:lnSpc>
                <a:spcPts val="1536"/>
              </a:lnSpc>
              <a:buNone/>
            </a:pPr>
            <a:endParaRPr lang="en-US" sz="1200" dirty="0"/>
          </a:p>
          <a:p>
            <a:pPr indent="0" marL="0">
              <a:lnSpc>
                <a:spcPts val="1536"/>
              </a:lnSpc>
              <a:buNone/>
            </a:pPr>
            <a:r>
              <a:rPr lang="en-US" sz="1200" dirty="0">
                <a:solidFill>
                  <a:srgbClr val="E8EDF5"/>
                </a:solidFill>
                <a:latin typeface="Courier New" pitchFamily="34" charset="0"/>
                <a:ea typeface="Courier New" pitchFamily="34" charset="-122"/>
                <a:cs typeface="Courier New" pitchFamily="34" charset="-120"/>
              </a:rPr>
              <a:t>&lt;h2 id="contact"&gt;Contact&lt;/h2&gt;</a:t>
            </a:r>
            <a:endParaRPr lang="en-US" sz="1200" dirty="0"/>
          </a:p>
          <a:p>
            <a:pPr indent="0" marL="0">
              <a:lnSpc>
                <a:spcPts val="1536"/>
              </a:lnSpc>
              <a:buNone/>
            </a:pPr>
            <a:r>
              <a:rPr lang="en-US" sz="1200" dirty="0">
                <a:solidFill>
                  <a:srgbClr val="E8EDF5"/>
                </a:solidFill>
                <a:latin typeface="Courier New" pitchFamily="34" charset="0"/>
                <a:ea typeface="Courier New" pitchFamily="34" charset="-122"/>
                <a:cs typeface="Courier New" pitchFamily="34" charset="-120"/>
              </a:rPr>
              <a:t>&lt;a href="mailto:hello@momohouse.com.np"&gt;hello@momohouse.com.np&lt;/a&gt;</a:t>
            </a:r>
            <a:endParaRPr lang="en-US" sz="1200" dirty="0"/>
          </a:p>
          <a:p>
            <a:pPr indent="0" marL="0">
              <a:lnSpc>
                <a:spcPts val="1536"/>
              </a:lnSpc>
              <a:buNone/>
            </a:pPr>
            <a:r>
              <a:rPr lang="en-US" sz="1200" dirty="0">
                <a:solidFill>
                  <a:srgbClr val="E8EDF5"/>
                </a:solidFill>
                <a:latin typeface="Courier New" pitchFamily="34" charset="0"/>
                <a:ea typeface="Courier New" pitchFamily="34" charset="-122"/>
                <a:cs typeface="Courier New" pitchFamily="34" charset="-120"/>
              </a:rPr>
              <a:t>&lt;a href="tel:+97714400000"&gt;01-4400000&lt;/a&gt;</a:t>
            </a:r>
            <a:endParaRPr lang="en-US" sz="1200" dirty="0"/>
          </a:p>
          <a:p>
            <a:pPr indent="0" marL="0">
              <a:lnSpc>
                <a:spcPts val="1536"/>
              </a:lnSpc>
              <a:buNone/>
            </a:pPr>
            <a:r>
              <a:rPr lang="en-US" sz="1200" dirty="0">
                <a:solidFill>
                  <a:srgbClr val="E8EDF5"/>
                </a:solidFill>
                <a:latin typeface="Courier New" pitchFamily="34" charset="0"/>
                <a:ea typeface="Courier New" pitchFamily="34" charset="-122"/>
                <a:cs typeface="Courier New" pitchFamily="34" charset="-120"/>
              </a:rPr>
              <a:t>&lt;a href="#top"&gt;Back to top&lt;/a&gt;</a:t>
            </a:r>
            <a:endParaRPr lang="en-US" sz="1200" dirty="0"/>
          </a:p>
        </p:txBody>
      </p:sp>
      <p:sp>
        <p:nvSpPr>
          <p:cNvPr id="14" name="Shape 10"/>
          <p:cNvSpPr/>
          <p:nvPr/>
        </p:nvSpPr>
        <p:spPr>
          <a:xfrm>
            <a:off x="548640" y="4279392"/>
            <a:ext cx="8046720" cy="502920"/>
          </a:xfrm>
          <a:prstGeom prst="roundRect">
            <a:avLst>
              <a:gd name="adj" fmla="val 14545"/>
            </a:avLst>
          </a:prstGeom>
          <a:solidFill>
            <a:srgbClr val="F5EBD8"/>
          </a:solidFill>
          <a:ln/>
        </p:spPr>
      </p:sp>
      <p:sp>
        <p:nvSpPr>
          <p:cNvPr id="15" name="Text 11"/>
          <p:cNvSpPr/>
          <p:nvPr/>
        </p:nvSpPr>
        <p:spPr>
          <a:xfrm>
            <a:off x="749808" y="4279392"/>
            <a:ext cx="7644384" cy="502920"/>
          </a:xfrm>
          <a:prstGeom prst="rect">
            <a:avLst/>
          </a:prstGeom>
          <a:noFill/>
          <a:ln/>
        </p:spPr>
        <p:txBody>
          <a:bodyPr wrap="square" lIns="0" tIns="0" rIns="0" bIns="0" rtlCol="0" anchor="ctr"/>
          <a:lstStyle/>
          <a:p>
            <a:pPr indent="0" marL="0">
              <a:buNone/>
            </a:pPr>
            <a:r>
              <a:rPr lang="en-US" sz="1250" b="1" dirty="0">
                <a:solidFill>
                  <a:srgbClr val="9A701F"/>
                </a:solidFill>
                <a:latin typeface="Calibri" pitchFamily="34" charset="0"/>
                <a:ea typeface="Calibri" pitchFamily="34" charset="-122"/>
                <a:cs typeface="Calibri" pitchFamily="34" charset="-120"/>
              </a:rPr>
              <a:t>target="_blank"  </a:t>
            </a:r>
            <a:pPr indent="0" marL="0">
              <a:buNone/>
            </a:pPr>
            <a:r>
              <a:rPr lang="en-US" sz="1250" dirty="0">
                <a:solidFill>
                  <a:srgbClr val="2C3547"/>
                </a:solidFill>
                <a:latin typeface="Calibri" pitchFamily="34" charset="0"/>
                <a:ea typeface="Calibri" pitchFamily="34" charset="-122"/>
                <a:cs typeface="Calibri" pitchFamily="34" charset="-120"/>
              </a:rPr>
              <a:t>opens a new tab. href="#contact" jumps to the element with id="contact" on the same page.</a:t>
            </a:r>
            <a:endParaRPr lang="en-US" sz="12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layout-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612648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Images: a sticker, not an envelope</a:t>
            </a:r>
            <a:endParaRPr lang="en-US" sz="2700" dirty="0"/>
          </a:p>
        </p:txBody>
      </p:sp>
      <p:sp>
        <p:nvSpPr>
          <p:cNvPr id="5" name="Text 2"/>
          <p:cNvSpPr/>
          <p:nvPr/>
        </p:nvSpPr>
        <p:spPr>
          <a:xfrm>
            <a:off x="7315200" y="402336"/>
            <a:ext cx="1417320" cy="310896"/>
          </a:xfrm>
          <a:prstGeom prst="roundRect">
            <a:avLst>
              <a:gd name="adj" fmla="val 50000"/>
            </a:avLst>
          </a:prstGeom>
          <a:solidFill>
            <a:srgbClr val="F5EBD8"/>
          </a:solidFill>
          <a:ln/>
        </p:spPr>
        <p:txBody>
          <a:bodyPr wrap="square" lIns="0" tIns="0" rIns="0" bIns="0" rtlCol="0" anchor="ctr"/>
          <a:lstStyle/>
          <a:p>
            <a:pPr algn="ctr" indent="0" marL="0">
              <a:buNone/>
            </a:pPr>
            <a:r>
              <a:rPr lang="en-US" sz="1100" b="1" spc="200" kern="0" dirty="0">
                <a:solidFill>
                  <a:srgbClr val="9A701F"/>
                </a:solidFill>
                <a:latin typeface="Calibri" pitchFamily="34" charset="0"/>
                <a:ea typeface="Calibri" pitchFamily="34" charset="-122"/>
                <a:cs typeface="Calibri" pitchFamily="34" charset="-120"/>
              </a:rPr>
              <a:t>ACTIVITY</a:t>
            </a:r>
            <a:endParaRPr lang="en-US" sz="1100" dirty="0"/>
          </a:p>
        </p:txBody>
      </p:sp>
      <p:sp>
        <p:nvSpPr>
          <p:cNvPr id="7" name="Text 3"/>
          <p:cNvSpPr/>
          <p:nvPr/>
        </p:nvSpPr>
        <p:spPr>
          <a:xfrm>
            <a:off x="548640" y="1078992"/>
            <a:ext cx="8046720" cy="274320"/>
          </a:xfrm>
          <a:prstGeom prst="rect">
            <a:avLst/>
          </a:prstGeom>
          <a:noFill/>
          <a:ln/>
        </p:spPr>
        <p:txBody>
          <a:bodyPr wrap="square" lIns="0" tIns="0" rIns="0" bIns="0" rtlCol="0" anchor="ctr"/>
          <a:lstStyle/>
          <a:p>
            <a:pPr indent="0" marL="0">
              <a:buNone/>
            </a:pPr>
            <a:r>
              <a:rPr lang="en-US" sz="1300" b="1" dirty="0">
                <a:solidFill>
                  <a:srgbClr val="990011"/>
                </a:solidFill>
                <a:latin typeface="Calibri" pitchFamily="34" charset="0"/>
                <a:ea typeface="Calibri" pitchFamily="34" charset="-122"/>
                <a:cs typeface="Calibri" pitchFamily="34" charset="-120"/>
              </a:rPr>
              <a:t>Code-along  ·  1 min  ·  type with me  ·  W2D1/instructor-demos/B6-links-images/step-04-img-alt-width</a:t>
            </a:r>
            <a:endParaRPr lang="en-US" sz="1300" dirty="0"/>
          </a:p>
        </p:txBody>
      </p:sp>
      <p:sp>
        <p:nvSpPr>
          <p:cNvPr id="8" name="Shape 4"/>
          <p:cNvSpPr/>
          <p:nvPr/>
        </p:nvSpPr>
        <p:spPr>
          <a:xfrm>
            <a:off x="548640" y="1463040"/>
            <a:ext cx="5303520" cy="2127504"/>
          </a:xfrm>
          <a:prstGeom prst="roundRect">
            <a:avLst>
              <a:gd name="adj" fmla="val 3438"/>
            </a:avLst>
          </a:prstGeom>
          <a:solidFill>
            <a:srgbClr val="16274A"/>
          </a:solidFill>
          <a:ln/>
        </p:spPr>
      </p:sp>
      <p:sp>
        <p:nvSpPr>
          <p:cNvPr id="9" name="Shape 5"/>
          <p:cNvSpPr/>
          <p:nvPr/>
        </p:nvSpPr>
        <p:spPr>
          <a:xfrm>
            <a:off x="694944" y="1581912"/>
            <a:ext cx="82296" cy="82296"/>
          </a:xfrm>
          <a:prstGeom prst="ellipse">
            <a:avLst/>
          </a:prstGeom>
          <a:solidFill>
            <a:srgbClr val="FF5F56"/>
          </a:solidFill>
          <a:ln/>
        </p:spPr>
      </p:sp>
      <p:sp>
        <p:nvSpPr>
          <p:cNvPr id="10" name="Shape 6"/>
          <p:cNvSpPr/>
          <p:nvPr/>
        </p:nvSpPr>
        <p:spPr>
          <a:xfrm>
            <a:off x="841248" y="1581912"/>
            <a:ext cx="82296" cy="82296"/>
          </a:xfrm>
          <a:prstGeom prst="ellipse">
            <a:avLst/>
          </a:prstGeom>
          <a:solidFill>
            <a:srgbClr val="FFBD2E"/>
          </a:solidFill>
          <a:ln/>
        </p:spPr>
      </p:sp>
      <p:sp>
        <p:nvSpPr>
          <p:cNvPr id="11" name="Shape 7"/>
          <p:cNvSpPr/>
          <p:nvPr/>
        </p:nvSpPr>
        <p:spPr>
          <a:xfrm>
            <a:off x="987552" y="1581912"/>
            <a:ext cx="82296" cy="82296"/>
          </a:xfrm>
          <a:prstGeom prst="ellipse">
            <a:avLst/>
          </a:prstGeom>
          <a:solidFill>
            <a:srgbClr val="27C93F"/>
          </a:solidFill>
          <a:ln/>
        </p:spPr>
      </p:sp>
      <p:sp>
        <p:nvSpPr>
          <p:cNvPr id="12" name="Text 8"/>
          <p:cNvSpPr/>
          <p:nvPr/>
        </p:nvSpPr>
        <p:spPr>
          <a:xfrm>
            <a:off x="1188720" y="1517904"/>
            <a:ext cx="4480560" cy="219456"/>
          </a:xfrm>
          <a:prstGeom prst="rect">
            <a:avLst/>
          </a:prstGeom>
          <a:noFill/>
          <a:ln/>
        </p:spPr>
        <p:txBody>
          <a:bodyPr wrap="square" lIns="0" tIns="0" rIns="0" bIns="0" rtlCol="0" anchor="ctr"/>
          <a:lstStyle/>
          <a:p>
            <a:pPr indent="0" marL="0">
              <a:buNone/>
            </a:pPr>
            <a:r>
              <a:rPr lang="en-US" sz="1000" dirty="0">
                <a:solidFill>
                  <a:srgbClr val="9AA8BF"/>
                </a:solidFill>
                <a:latin typeface="Courier New" pitchFamily="34" charset="0"/>
                <a:ea typeface="Courier New" pitchFamily="34" charset="-122"/>
                <a:cs typeface="Courier New" pitchFamily="34" charset="-120"/>
              </a:rPr>
              <a:t>index.html  (inside &lt;body&gt;)</a:t>
            </a:r>
            <a:endParaRPr lang="en-US" sz="1000" dirty="0"/>
          </a:p>
        </p:txBody>
      </p:sp>
      <p:sp>
        <p:nvSpPr>
          <p:cNvPr id="13" name="Text 9"/>
          <p:cNvSpPr/>
          <p:nvPr/>
        </p:nvSpPr>
        <p:spPr>
          <a:xfrm>
            <a:off x="749808" y="1810512"/>
            <a:ext cx="4937760" cy="1670304"/>
          </a:xfrm>
          <a:prstGeom prst="rect">
            <a:avLst/>
          </a:prstGeom>
          <a:noFill/>
          <a:ln/>
        </p:spPr>
        <p:txBody>
          <a:bodyPr wrap="square" lIns="0" tIns="0" rIns="0" bIns="0" rtlCol="0" anchor="t"/>
          <a:lstStyle/>
          <a:p>
            <a:pPr indent="0" marL="0">
              <a:lnSpc>
                <a:spcPts val="1536"/>
              </a:lnSpc>
              <a:buNone/>
            </a:pPr>
            <a:r>
              <a:rPr lang="en-US" sz="1200" dirty="0">
                <a:solidFill>
                  <a:srgbClr val="E8EDF5"/>
                </a:solidFill>
                <a:latin typeface="Courier New" pitchFamily="34" charset="0"/>
                <a:ea typeface="Courier New" pitchFamily="34" charset="-122"/>
                <a:cs typeface="Courier New" pitchFamily="34" charset="-120"/>
              </a:rPr>
              <a:t>&lt;img src="images/momo.svg"</a:t>
            </a:r>
            <a:endParaRPr lang="en-US" sz="1200" dirty="0"/>
          </a:p>
          <a:p>
            <a:pPr indent="0" marL="0">
              <a:lnSpc>
                <a:spcPts val="1536"/>
              </a:lnSpc>
              <a:buNone/>
            </a:pPr>
            <a:r>
              <a:rPr lang="en-US" sz="1200" dirty="0">
                <a:solidFill>
                  <a:srgbClr val="E8EDF5"/>
                </a:solidFill>
                <a:latin typeface="Courier New" pitchFamily="34" charset="0"/>
                <a:ea typeface="Courier New" pitchFamily="34" charset="-122"/>
                <a:cs typeface="Courier New" pitchFamily="34" charset="-120"/>
              </a:rPr>
              <a:t>     alt="A steaming plate of momo" width="300"&gt;</a:t>
            </a:r>
            <a:endParaRPr lang="en-US" sz="1200" dirty="0"/>
          </a:p>
          <a:p>
            <a:pPr indent="0" marL="0">
              <a:lnSpc>
                <a:spcPts val="1536"/>
              </a:lnSpc>
              <a:buNone/>
            </a:pPr>
            <a:endParaRPr lang="en-US" sz="1200" dirty="0"/>
          </a:p>
          <a:p>
            <a:pPr indent="0" marL="0">
              <a:lnSpc>
                <a:spcPts val="1536"/>
              </a:lnSpc>
              <a:buNone/>
            </a:pPr>
            <a:r>
              <a:rPr lang="en-US" sz="1200" dirty="0">
                <a:solidFill>
                  <a:srgbClr val="E8EDF5"/>
                </a:solidFill>
                <a:latin typeface="Courier New" pitchFamily="34" charset="0"/>
                <a:ea typeface="Courier New" pitchFamily="34" charset="-122"/>
                <a:cs typeface="Courier New" pitchFamily="34" charset="-120"/>
              </a:rPr>
              <a:t>&lt;figure&gt;</a:t>
            </a:r>
            <a:endParaRPr lang="en-US" sz="1200" dirty="0"/>
          </a:p>
          <a:p>
            <a:pPr indent="0" marL="0">
              <a:lnSpc>
                <a:spcPts val="1536"/>
              </a:lnSpc>
              <a:buNone/>
            </a:pPr>
            <a:r>
              <a:rPr lang="en-US" sz="1200" dirty="0">
                <a:solidFill>
                  <a:srgbClr val="E8EDF5"/>
                </a:solidFill>
                <a:latin typeface="Courier New" pitchFamily="34" charset="0"/>
                <a:ea typeface="Courier New" pitchFamily="34" charset="-122"/>
                <a:cs typeface="Courier New" pitchFamily="34" charset="-120"/>
              </a:rPr>
              <a:t>  &lt;img src="images/momo.svg"</a:t>
            </a:r>
            <a:endParaRPr lang="en-US" sz="1200" dirty="0"/>
          </a:p>
          <a:p>
            <a:pPr indent="0" marL="0">
              <a:lnSpc>
                <a:spcPts val="1536"/>
              </a:lnSpc>
              <a:buNone/>
            </a:pPr>
            <a:r>
              <a:rPr lang="en-US" sz="1200" dirty="0">
                <a:solidFill>
                  <a:srgbClr val="E8EDF5"/>
                </a:solidFill>
                <a:latin typeface="Courier New" pitchFamily="34" charset="0"/>
                <a:ea typeface="Courier New" pitchFamily="34" charset="-122"/>
                <a:cs typeface="Courier New" pitchFamily="34" charset="-120"/>
              </a:rPr>
              <a:t>       alt="A steaming plate of momo" width="300"&gt;</a:t>
            </a:r>
            <a:endParaRPr lang="en-US" sz="1200" dirty="0"/>
          </a:p>
          <a:p>
            <a:pPr indent="0" marL="0">
              <a:lnSpc>
                <a:spcPts val="1536"/>
              </a:lnSpc>
              <a:buNone/>
            </a:pPr>
            <a:r>
              <a:rPr lang="en-US" sz="1200" dirty="0">
                <a:solidFill>
                  <a:srgbClr val="E8EDF5"/>
                </a:solidFill>
                <a:latin typeface="Courier New" pitchFamily="34" charset="0"/>
                <a:ea typeface="Courier New" pitchFamily="34" charset="-122"/>
                <a:cs typeface="Courier New" pitchFamily="34" charset="-120"/>
              </a:rPr>
              <a:t>  &lt;figcaption&gt;Our famous steam momo.&lt;/figcaption&gt;</a:t>
            </a:r>
            <a:endParaRPr lang="en-US" sz="1200" dirty="0"/>
          </a:p>
          <a:p>
            <a:pPr indent="0" marL="0">
              <a:lnSpc>
                <a:spcPts val="1536"/>
              </a:lnSpc>
              <a:buNone/>
            </a:pPr>
            <a:r>
              <a:rPr lang="en-US" sz="1200" dirty="0">
                <a:solidFill>
                  <a:srgbClr val="E8EDF5"/>
                </a:solidFill>
                <a:latin typeface="Courier New" pitchFamily="34" charset="0"/>
                <a:ea typeface="Courier New" pitchFamily="34" charset="-122"/>
                <a:cs typeface="Courier New" pitchFamily="34" charset="-120"/>
              </a:rPr>
              <a:t>&lt;/figure&gt;</a:t>
            </a:r>
            <a:endParaRPr lang="en-US" sz="1200" dirty="0"/>
          </a:p>
        </p:txBody>
      </p:sp>
      <p:sp>
        <p:nvSpPr>
          <p:cNvPr id="14" name="Shape 10"/>
          <p:cNvSpPr/>
          <p:nvPr/>
        </p:nvSpPr>
        <p:spPr>
          <a:xfrm>
            <a:off x="6035040" y="1463040"/>
            <a:ext cx="2560320" cy="2127504"/>
          </a:xfrm>
          <a:prstGeom prst="roundRect">
            <a:avLst>
              <a:gd name="adj" fmla="val 3438"/>
            </a:avLst>
          </a:prstGeom>
          <a:solidFill>
            <a:srgbClr val="FFF3F4"/>
          </a:solidFill>
          <a:ln/>
        </p:spPr>
      </p:sp>
      <p:sp>
        <p:nvSpPr>
          <p:cNvPr id="15" name="Text 11"/>
          <p:cNvSpPr/>
          <p:nvPr/>
        </p:nvSpPr>
        <p:spPr>
          <a:xfrm>
            <a:off x="6217920" y="1591056"/>
            <a:ext cx="2194560" cy="320040"/>
          </a:xfrm>
          <a:prstGeom prst="rect">
            <a:avLst/>
          </a:prstGeom>
          <a:noFill/>
          <a:ln/>
        </p:spPr>
        <p:txBody>
          <a:bodyPr wrap="square" lIns="0" tIns="0" rIns="0" bIns="0" rtlCol="0" anchor="ctr"/>
          <a:lstStyle/>
          <a:p>
            <a:pPr indent="0" marL="0">
              <a:buNone/>
            </a:pPr>
            <a:r>
              <a:rPr lang="en-US" sz="1600" b="1" dirty="0">
                <a:solidFill>
                  <a:srgbClr val="990011"/>
                </a:solidFill>
                <a:latin typeface="Cambria" pitchFamily="34" charset="0"/>
                <a:ea typeface="Cambria" pitchFamily="34" charset="-122"/>
                <a:cs typeface="Cambria" pitchFamily="34" charset="-120"/>
              </a:rPr>
              <a:t>A sticker (void tag)</a:t>
            </a:r>
            <a:endParaRPr lang="en-US" sz="1600" dirty="0"/>
          </a:p>
        </p:txBody>
      </p:sp>
      <p:sp>
        <p:nvSpPr>
          <p:cNvPr id="16" name="Text 12"/>
          <p:cNvSpPr/>
          <p:nvPr/>
        </p:nvSpPr>
        <p:spPr>
          <a:xfrm>
            <a:off x="6217920" y="1965960"/>
            <a:ext cx="2194560" cy="1487424"/>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No closing tag: a sticker on the page, not an envelope with content.</a:t>
            </a:r>
            <a:endParaRPr lang="en-US" sz="1250" dirty="0"/>
          </a:p>
          <a:p>
            <a:pPr indent="0" marL="0">
              <a:buNone/>
            </a:pP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alt = what you would read over the phone to someone who cannot see it.</a:t>
            </a:r>
            <a:endParaRPr lang="en-US" sz="1250" dirty="0"/>
          </a:p>
        </p:txBody>
      </p:sp>
      <p:sp>
        <p:nvSpPr>
          <p:cNvPr id="17" name="Shape 13"/>
          <p:cNvSpPr/>
          <p:nvPr/>
        </p:nvSpPr>
        <p:spPr>
          <a:xfrm>
            <a:off x="548640" y="4279392"/>
            <a:ext cx="8046720" cy="502920"/>
          </a:xfrm>
          <a:prstGeom prst="roundRect">
            <a:avLst>
              <a:gd name="adj" fmla="val 14545"/>
            </a:avLst>
          </a:prstGeom>
          <a:solidFill>
            <a:srgbClr val="F5EBD8"/>
          </a:solidFill>
          <a:ln/>
        </p:spPr>
      </p:sp>
      <p:sp>
        <p:nvSpPr>
          <p:cNvPr id="18" name="Text 14"/>
          <p:cNvSpPr/>
          <p:nvPr/>
        </p:nvSpPr>
        <p:spPr>
          <a:xfrm>
            <a:off x="749808" y="4279392"/>
            <a:ext cx="7644384" cy="502920"/>
          </a:xfrm>
          <a:prstGeom prst="rect">
            <a:avLst/>
          </a:prstGeom>
          <a:noFill/>
          <a:ln/>
        </p:spPr>
        <p:txBody>
          <a:bodyPr wrap="square" lIns="0" tIns="0" rIns="0" bIns="0" rtlCol="0" anchor="ctr"/>
          <a:lstStyle/>
          <a:p>
            <a:pPr indent="0" marL="0">
              <a:buNone/>
            </a:pPr>
            <a:r>
              <a:rPr lang="en-US" sz="1250" b="1" dirty="0">
                <a:solidFill>
                  <a:srgbClr val="9A701F"/>
                </a:solidFill>
                <a:latin typeface="Calibri" pitchFamily="34" charset="0"/>
                <a:ea typeface="Calibri" pitchFamily="34" charset="-122"/>
                <a:cs typeface="Calibri" pitchFamily="34" charset="-120"/>
              </a:rPr>
              <a:t>Case-sensitive names:  </a:t>
            </a:r>
            <a:pPr indent="0" marL="0">
              <a:buNone/>
            </a:pPr>
            <a:r>
              <a:rPr lang="en-US" sz="1250" dirty="0">
                <a:solidFill>
                  <a:srgbClr val="2C3547"/>
                </a:solidFill>
                <a:latin typeface="Calibri" pitchFamily="34" charset="0"/>
                <a:ea typeface="Calibri" pitchFamily="34" charset="-122"/>
                <a:cs typeface="Calibri" pitchFamily="34" charset="-120"/>
              </a:rPr>
              <a:t>Momo.svg ≠ momo.svg. Windows forgives it, a Linux server does not.</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wrench-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612648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D1-09  ·  Broken Paths</a:t>
            </a:r>
            <a:endParaRPr lang="en-US" sz="2700" dirty="0"/>
          </a:p>
        </p:txBody>
      </p:sp>
      <p:sp>
        <p:nvSpPr>
          <p:cNvPr id="5" name="Text 2"/>
          <p:cNvSpPr/>
          <p:nvPr/>
        </p:nvSpPr>
        <p:spPr>
          <a:xfrm>
            <a:off x="7315200" y="402336"/>
            <a:ext cx="1417320" cy="310896"/>
          </a:xfrm>
          <a:prstGeom prst="roundRect">
            <a:avLst>
              <a:gd name="adj" fmla="val 50000"/>
            </a:avLst>
          </a:prstGeom>
          <a:solidFill>
            <a:srgbClr val="F5EBD8"/>
          </a:solidFill>
          <a:ln/>
        </p:spPr>
        <p:txBody>
          <a:bodyPr wrap="square" lIns="0" tIns="0" rIns="0" bIns="0" rtlCol="0" anchor="ctr"/>
          <a:lstStyle/>
          <a:p>
            <a:pPr algn="ctr" indent="0" marL="0">
              <a:buNone/>
            </a:pPr>
            <a:r>
              <a:rPr lang="en-US" sz="1100" b="1" spc="200" kern="0" dirty="0">
                <a:solidFill>
                  <a:srgbClr val="9A701F"/>
                </a:solidFill>
                <a:latin typeface="Calibri" pitchFamily="34" charset="0"/>
                <a:ea typeface="Calibri" pitchFamily="34" charset="-122"/>
                <a:cs typeface="Calibri" pitchFamily="34" charset="-120"/>
              </a:rPr>
              <a:t>ACTIVITY</a:t>
            </a:r>
            <a:endParaRPr lang="en-US" sz="1100" dirty="0"/>
          </a:p>
        </p:txBody>
      </p:sp>
      <p:sp>
        <p:nvSpPr>
          <p:cNvPr id="7" name="Text 3"/>
          <p:cNvSpPr/>
          <p:nvPr/>
        </p:nvSpPr>
        <p:spPr>
          <a:xfrm>
            <a:off x="548640" y="1078992"/>
            <a:ext cx="8046720" cy="274320"/>
          </a:xfrm>
          <a:prstGeom prst="rect">
            <a:avLst/>
          </a:prstGeom>
          <a:noFill/>
          <a:ln/>
        </p:spPr>
        <p:txBody>
          <a:bodyPr wrap="square" lIns="0" tIns="0" rIns="0" bIns="0" rtlCol="0" anchor="ctr"/>
          <a:lstStyle/>
          <a:p>
            <a:pPr indent="0" marL="0">
              <a:buNone/>
            </a:pPr>
            <a:r>
              <a:rPr lang="en-US" sz="1300" b="1" dirty="0">
                <a:solidFill>
                  <a:srgbClr val="990011"/>
                </a:solidFill>
                <a:latin typeface="Calibri" pitchFamily="34" charset="0"/>
                <a:ea typeface="Calibri" pitchFamily="34" charset="-122"/>
                <a:cs typeface="Calibri" pitchFamily="34" charset="-120"/>
              </a:rPr>
              <a:t>9 minutes  ·  solo  ·  W2D1/classwork/D1-09-broken-paths/</a:t>
            </a:r>
            <a:endParaRPr lang="en-US" sz="1300" dirty="0"/>
          </a:p>
        </p:txBody>
      </p:sp>
      <p:sp>
        <p:nvSpPr>
          <p:cNvPr id="8" name="Text 4"/>
          <p:cNvSpPr/>
          <p:nvPr/>
        </p:nvSpPr>
        <p:spPr>
          <a:xfrm>
            <a:off x="566928" y="15544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5"/>
          <p:cNvSpPr/>
          <p:nvPr/>
        </p:nvSpPr>
        <p:spPr>
          <a:xfrm>
            <a:off x="1005840" y="15270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Open index.html with Live Server</a:t>
            </a:r>
            <a:endParaRPr lang="en-US" sz="1350" dirty="0"/>
          </a:p>
        </p:txBody>
      </p:sp>
      <p:sp>
        <p:nvSpPr>
          <p:cNvPr id="10" name="Text 6"/>
          <p:cNvSpPr/>
          <p:nvPr/>
        </p:nvSpPr>
        <p:spPr>
          <a:xfrm>
            <a:off x="566928" y="20116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7"/>
          <p:cNvSpPr/>
          <p:nvPr/>
        </p:nvSpPr>
        <p:spPr>
          <a:xfrm>
            <a:off x="1005840" y="19842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Click EVERY link. Read the address bar on a 404</a:t>
            </a:r>
            <a:endParaRPr lang="en-US" sz="1350" dirty="0"/>
          </a:p>
        </p:txBody>
      </p:sp>
      <p:sp>
        <p:nvSpPr>
          <p:cNvPr id="12" name="Text 8"/>
          <p:cNvSpPr/>
          <p:nvPr/>
        </p:nvSpPr>
        <p:spPr>
          <a:xfrm>
            <a:off x="566928" y="24688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9"/>
          <p:cNvSpPr/>
          <p:nvPr/>
        </p:nvSpPr>
        <p:spPr>
          <a:xfrm>
            <a:off x="1005840" y="24414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Check every picture shows</a:t>
            </a:r>
            <a:endParaRPr lang="en-US" sz="1350" dirty="0"/>
          </a:p>
        </p:txBody>
      </p:sp>
      <p:sp>
        <p:nvSpPr>
          <p:cNvPr id="14" name="Text 10"/>
          <p:cNvSpPr/>
          <p:nvPr/>
        </p:nvSpPr>
        <p:spPr>
          <a:xfrm>
            <a:off x="566928" y="29260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1"/>
          <p:cNvSpPr/>
          <p:nvPr/>
        </p:nvSpPr>
        <p:spPr>
          <a:xfrm>
            <a:off x="1005840" y="28986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Do the same on pages/about.html + pages/menu.html</a:t>
            </a:r>
            <a:endParaRPr lang="en-US" sz="1350" dirty="0"/>
          </a:p>
        </p:txBody>
      </p:sp>
      <p:sp>
        <p:nvSpPr>
          <p:cNvPr id="16" name="Text 12"/>
          <p:cNvSpPr/>
          <p:nvPr/>
        </p:nvSpPr>
        <p:spPr>
          <a:xfrm>
            <a:off x="566928" y="33832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7" name="Text 13"/>
          <p:cNvSpPr/>
          <p:nvPr/>
        </p:nvSpPr>
        <p:spPr>
          <a:xfrm>
            <a:off x="1005840" y="33558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Look at the folder tree in Explorer</a:t>
            </a:r>
            <a:endParaRPr lang="en-US" sz="1350" dirty="0"/>
          </a:p>
        </p:txBody>
      </p:sp>
      <p:sp>
        <p:nvSpPr>
          <p:cNvPr id="18" name="Shape 14"/>
          <p:cNvSpPr/>
          <p:nvPr/>
        </p:nvSpPr>
        <p:spPr>
          <a:xfrm>
            <a:off x="5760720" y="1554480"/>
            <a:ext cx="2834640" cy="2331720"/>
          </a:xfrm>
          <a:prstGeom prst="roundRect">
            <a:avLst>
              <a:gd name="adj" fmla="val 3137"/>
            </a:avLst>
          </a:prstGeom>
          <a:solidFill>
            <a:srgbClr val="FFF3F4"/>
          </a:solidFill>
          <a:ln/>
        </p:spPr>
      </p:sp>
      <p:sp>
        <p:nvSpPr>
          <p:cNvPr id="19" name="Text 15"/>
          <p:cNvSpPr/>
          <p:nvPr/>
        </p:nvSpPr>
        <p:spPr>
          <a:xfrm>
            <a:off x="5943600" y="1682496"/>
            <a:ext cx="2468880" cy="320040"/>
          </a:xfrm>
          <a:prstGeom prst="rect">
            <a:avLst/>
          </a:prstGeom>
          <a:noFill/>
          <a:ln/>
        </p:spPr>
        <p:txBody>
          <a:bodyPr wrap="square" lIns="0" tIns="0" rIns="0" bIns="0" rtlCol="0" anchor="ctr"/>
          <a:lstStyle/>
          <a:p>
            <a:pPr indent="0" marL="0">
              <a:buNone/>
            </a:pPr>
            <a:r>
              <a:rPr lang="en-US" sz="1600" b="1" dirty="0">
                <a:solidFill>
                  <a:srgbClr val="990011"/>
                </a:solidFill>
                <a:latin typeface="Cambria" pitchFamily="34" charset="0"/>
                <a:ea typeface="Cambria" pitchFamily="34" charset="-122"/>
                <a:cs typeface="Cambria" pitchFamily="34" charset="-120"/>
              </a:rPr>
              <a:t>DONE looks like</a:t>
            </a:r>
            <a:endParaRPr lang="en-US" sz="1600" dirty="0"/>
          </a:p>
        </p:txBody>
      </p:sp>
      <p:sp>
        <p:nvSpPr>
          <p:cNvPr id="20" name="Text 16"/>
          <p:cNvSpPr/>
          <p:nvPr/>
        </p:nvSpPr>
        <p:spPr>
          <a:xfrm>
            <a:off x="5943600" y="2057400"/>
            <a:ext cx="2468880" cy="169164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Every link opens the right page.</a:t>
            </a:r>
            <a:endParaRPr lang="en-US" sz="1250" dirty="0"/>
          </a:p>
          <a:p>
            <a:pPr indent="0" marL="0">
              <a:buNone/>
            </a:pP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Every image shows, on every page.</a:t>
            </a:r>
            <a:endParaRPr lang="en-US" sz="1250" dirty="0"/>
          </a:p>
          <a:p>
            <a:pPr indent="0" marL="0">
              <a:buNone/>
            </a:pP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No C:\ paths left.</a:t>
            </a:r>
            <a:endParaRPr lang="en-US" sz="1250" dirty="0"/>
          </a:p>
        </p:txBody>
      </p:sp>
      <p:sp>
        <p:nvSpPr>
          <p:cNvPr id="21" name="Shape 17"/>
          <p:cNvSpPr/>
          <p:nvPr/>
        </p:nvSpPr>
        <p:spPr>
          <a:xfrm>
            <a:off x="548640" y="4206240"/>
            <a:ext cx="8046720" cy="502920"/>
          </a:xfrm>
          <a:prstGeom prst="roundRect">
            <a:avLst>
              <a:gd name="adj" fmla="val 14545"/>
            </a:avLst>
          </a:prstGeom>
          <a:solidFill>
            <a:srgbClr val="F5EBD8"/>
          </a:solidFill>
          <a:ln/>
        </p:spPr>
      </p:sp>
      <p:sp>
        <p:nvSpPr>
          <p:cNvPr id="22" name="Text 18"/>
          <p:cNvSpPr/>
          <p:nvPr/>
        </p:nvSpPr>
        <p:spPr>
          <a:xfrm>
            <a:off x="749808" y="4206240"/>
            <a:ext cx="7644384" cy="502920"/>
          </a:xfrm>
          <a:prstGeom prst="rect">
            <a:avLst/>
          </a:prstGeom>
          <a:noFill/>
          <a:ln/>
        </p:spPr>
        <p:txBody>
          <a:bodyPr wrap="square" lIns="0" tIns="0" rIns="0" bIns="0" rtlCol="0" anchor="ctr"/>
          <a:lstStyle/>
          <a:p>
            <a:pPr indent="0" marL="0">
              <a:buNone/>
            </a:pPr>
            <a:r>
              <a:rPr lang="en-US" sz="1250" b="1" dirty="0">
                <a:solidFill>
                  <a:srgbClr val="9A701F"/>
                </a:solidFill>
                <a:latin typeface="Calibri" pitchFamily="34" charset="0"/>
                <a:ea typeface="Calibri" pitchFamily="34" charset="-122"/>
                <a:cs typeface="Calibri" pitchFamily="34" charset="-120"/>
              </a:rPr>
              <a:t>6 bugs. Find at least 4.  </a:t>
            </a:r>
            <a:pPr indent="0" marL="0">
              <a:buNone/>
            </a:pPr>
            <a:r>
              <a:rPr lang="en-US" sz="1250" dirty="0">
                <a:solidFill>
                  <a:srgbClr val="2C3547"/>
                </a:solidFill>
                <a:latin typeface="Calibri" pitchFamily="34" charset="0"/>
                <a:ea typeface="Calibri" pitchFamily="34" charset="-122"/>
                <a:cs typeface="Calibri" pitchFamily="34" charset="-120"/>
              </a:rPr>
              <a:t>Then the reveal: solution/BUGS.md on the projector. Write your score line in the README.</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layout-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612648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D1-10  ·  Kathmandu gallery</a:t>
            </a:r>
            <a:endParaRPr lang="en-US" sz="2700" dirty="0"/>
          </a:p>
        </p:txBody>
      </p:sp>
      <p:sp>
        <p:nvSpPr>
          <p:cNvPr id="5" name="Text 2"/>
          <p:cNvSpPr/>
          <p:nvPr/>
        </p:nvSpPr>
        <p:spPr>
          <a:xfrm>
            <a:off x="7315200" y="402336"/>
            <a:ext cx="1417320" cy="310896"/>
          </a:xfrm>
          <a:prstGeom prst="roundRect">
            <a:avLst>
              <a:gd name="adj" fmla="val 50000"/>
            </a:avLst>
          </a:prstGeom>
          <a:solidFill>
            <a:srgbClr val="F5EBD8"/>
          </a:solidFill>
          <a:ln/>
        </p:spPr>
        <p:txBody>
          <a:bodyPr wrap="square" lIns="0" tIns="0" rIns="0" bIns="0" rtlCol="0" anchor="ctr"/>
          <a:lstStyle/>
          <a:p>
            <a:pPr algn="ctr" indent="0" marL="0">
              <a:buNone/>
            </a:pPr>
            <a:r>
              <a:rPr lang="en-US" sz="1100" b="1" spc="200" kern="0" dirty="0">
                <a:solidFill>
                  <a:srgbClr val="9A701F"/>
                </a:solidFill>
                <a:latin typeface="Calibri" pitchFamily="34" charset="0"/>
                <a:ea typeface="Calibri" pitchFamily="34" charset="-122"/>
                <a:cs typeface="Calibri" pitchFamily="34" charset="-120"/>
              </a:rPr>
              <a:t>ACTIVITY</a:t>
            </a:r>
            <a:endParaRPr lang="en-US" sz="1100" dirty="0"/>
          </a:p>
        </p:txBody>
      </p:sp>
      <p:sp>
        <p:nvSpPr>
          <p:cNvPr id="7" name="Text 3"/>
          <p:cNvSpPr/>
          <p:nvPr/>
        </p:nvSpPr>
        <p:spPr>
          <a:xfrm>
            <a:off x="548640" y="1078992"/>
            <a:ext cx="8046720" cy="274320"/>
          </a:xfrm>
          <a:prstGeom prst="rect">
            <a:avLst/>
          </a:prstGeom>
          <a:noFill/>
          <a:ln/>
        </p:spPr>
        <p:txBody>
          <a:bodyPr wrap="square" lIns="0" tIns="0" rIns="0" bIns="0" rtlCol="0" anchor="ctr"/>
          <a:lstStyle/>
          <a:p>
            <a:pPr indent="0" marL="0">
              <a:buNone/>
            </a:pPr>
            <a:r>
              <a:rPr lang="en-US" sz="1300" b="1" dirty="0">
                <a:solidFill>
                  <a:srgbClr val="990011"/>
                </a:solidFill>
                <a:latin typeface="Calibri" pitchFamily="34" charset="0"/>
                <a:ea typeface="Calibri" pitchFamily="34" charset="-122"/>
                <a:cs typeface="Calibri" pitchFamily="34" charset="-120"/>
              </a:rPr>
              <a:t>7 minutes  ·  solo  ·  W2D1/classwork/D1-10-kathmandu-gallery/</a:t>
            </a:r>
            <a:endParaRPr lang="en-US" sz="1300" dirty="0"/>
          </a:p>
        </p:txBody>
      </p:sp>
      <p:sp>
        <p:nvSpPr>
          <p:cNvPr id="8" name="Text 4"/>
          <p:cNvSpPr/>
          <p:nvPr/>
        </p:nvSpPr>
        <p:spPr>
          <a:xfrm>
            <a:off x="566928" y="15544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5"/>
          <p:cNvSpPr/>
          <p:nvPr/>
        </p:nvSpPr>
        <p:spPr>
          <a:xfrm>
            <a:off x="1005840" y="15270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Open index.html (skeleton + h1 are there)</a:t>
            </a:r>
            <a:endParaRPr lang="en-US" sz="1350" dirty="0"/>
          </a:p>
        </p:txBody>
      </p:sp>
      <p:sp>
        <p:nvSpPr>
          <p:cNvPr id="10" name="Text 6"/>
          <p:cNvSpPr/>
          <p:nvPr/>
        </p:nvSpPr>
        <p:spPr>
          <a:xfrm>
            <a:off x="566928" y="20116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7"/>
          <p:cNvSpPr/>
          <p:nvPr/>
        </p:nvSpPr>
        <p:spPr>
          <a:xfrm>
            <a:off x="1005840" y="19842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2 × &lt;figure&gt;: img + alt + width + &lt;figcaption&gt;</a:t>
            </a:r>
            <a:endParaRPr lang="en-US" sz="1350" dirty="0"/>
          </a:p>
        </p:txBody>
      </p:sp>
      <p:sp>
        <p:nvSpPr>
          <p:cNvPr id="12" name="Text 8"/>
          <p:cNvSpPr/>
          <p:nvPr/>
        </p:nvSpPr>
        <p:spPr>
          <a:xfrm>
            <a:off x="566928" y="24688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9"/>
          <p:cNvSpPr/>
          <p:nvPr/>
        </p:nvSpPr>
        <p:spPr>
          <a:xfrm>
            <a:off x="1005840" y="24414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Use images/swayambhu.svg and images/patan-durbar.svg</a:t>
            </a:r>
            <a:endParaRPr lang="en-US" sz="1350" dirty="0"/>
          </a:p>
        </p:txBody>
      </p:sp>
      <p:sp>
        <p:nvSpPr>
          <p:cNvPr id="14" name="Text 10"/>
          <p:cNvSpPr/>
          <p:nvPr/>
        </p:nvSpPr>
        <p:spPr>
          <a:xfrm>
            <a:off x="566928" y="29260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1"/>
          <p:cNvSpPr/>
          <p:nvPr/>
        </p:nvSpPr>
        <p:spPr>
          <a:xfrm>
            <a:off x="1005840" y="28986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1 external link with target="_blank"</a:t>
            </a:r>
            <a:endParaRPr lang="en-US" sz="1350" dirty="0"/>
          </a:p>
        </p:txBody>
      </p:sp>
      <p:sp>
        <p:nvSpPr>
          <p:cNvPr id="16" name="Text 12"/>
          <p:cNvSpPr/>
          <p:nvPr/>
        </p:nvSpPr>
        <p:spPr>
          <a:xfrm>
            <a:off x="566928" y="33832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7" name="Text 13"/>
          <p:cNvSpPr/>
          <p:nvPr/>
        </p:nvSpPr>
        <p:spPr>
          <a:xfrm>
            <a:off x="1005840" y="33558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A "Back to top" link to #top</a:t>
            </a:r>
            <a:endParaRPr lang="en-US" sz="1350" dirty="0"/>
          </a:p>
        </p:txBody>
      </p:sp>
      <p:sp>
        <p:nvSpPr>
          <p:cNvPr id="18" name="Shape 14"/>
          <p:cNvSpPr/>
          <p:nvPr/>
        </p:nvSpPr>
        <p:spPr>
          <a:xfrm>
            <a:off x="5760720" y="1554480"/>
            <a:ext cx="2834640" cy="2331720"/>
          </a:xfrm>
          <a:prstGeom prst="roundRect">
            <a:avLst>
              <a:gd name="adj" fmla="val 3137"/>
            </a:avLst>
          </a:prstGeom>
          <a:solidFill>
            <a:srgbClr val="FFF3F4"/>
          </a:solidFill>
          <a:ln/>
        </p:spPr>
      </p:sp>
      <p:sp>
        <p:nvSpPr>
          <p:cNvPr id="19" name="Text 15"/>
          <p:cNvSpPr/>
          <p:nvPr/>
        </p:nvSpPr>
        <p:spPr>
          <a:xfrm>
            <a:off x="5943600" y="1682496"/>
            <a:ext cx="2468880" cy="320040"/>
          </a:xfrm>
          <a:prstGeom prst="rect">
            <a:avLst/>
          </a:prstGeom>
          <a:noFill/>
          <a:ln/>
        </p:spPr>
        <p:txBody>
          <a:bodyPr wrap="square" lIns="0" tIns="0" rIns="0" bIns="0" rtlCol="0" anchor="ctr"/>
          <a:lstStyle/>
          <a:p>
            <a:pPr indent="0" marL="0">
              <a:buNone/>
            </a:pPr>
            <a:r>
              <a:rPr lang="en-US" sz="1600" b="1" dirty="0">
                <a:solidFill>
                  <a:srgbClr val="990011"/>
                </a:solidFill>
                <a:latin typeface="Cambria" pitchFamily="34" charset="0"/>
                <a:ea typeface="Cambria" pitchFamily="34" charset="-122"/>
                <a:cs typeface="Cambria" pitchFamily="34" charset="-120"/>
              </a:rPr>
              <a:t>DONE looks like</a:t>
            </a:r>
            <a:endParaRPr lang="en-US" sz="1600" dirty="0"/>
          </a:p>
        </p:txBody>
      </p:sp>
      <p:sp>
        <p:nvSpPr>
          <p:cNvPr id="20" name="Text 16"/>
          <p:cNvSpPr/>
          <p:nvPr/>
        </p:nvSpPr>
        <p:spPr>
          <a:xfrm>
            <a:off x="5943600" y="2057400"/>
            <a:ext cx="2468880" cy="169164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Two captioned pictures.</a:t>
            </a:r>
            <a:endParaRPr lang="en-US" sz="1250" dirty="0"/>
          </a:p>
          <a:p>
            <a:pPr indent="0" marL="0">
              <a:buNone/>
            </a:pP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The external link opens a new tab.</a:t>
            </a:r>
            <a:endParaRPr lang="en-US" sz="1250" dirty="0"/>
          </a:p>
          <a:p>
            <a:pPr indent="0" marL="0">
              <a:buNone/>
            </a:pP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"Back to top" jumps up.</a:t>
            </a:r>
            <a:endParaRPr lang="en-US" sz="1250" dirty="0"/>
          </a:p>
        </p:txBody>
      </p:sp>
      <p:sp>
        <p:nvSpPr>
          <p:cNvPr id="21" name="Shape 17"/>
          <p:cNvSpPr/>
          <p:nvPr/>
        </p:nvSpPr>
        <p:spPr>
          <a:xfrm>
            <a:off x="548640" y="4206240"/>
            <a:ext cx="8046720" cy="502920"/>
          </a:xfrm>
          <a:prstGeom prst="roundRect">
            <a:avLst>
              <a:gd name="adj" fmla="val 14545"/>
            </a:avLst>
          </a:prstGeom>
          <a:solidFill>
            <a:srgbClr val="F5EBD8"/>
          </a:solidFill>
          <a:ln/>
        </p:spPr>
      </p:sp>
      <p:sp>
        <p:nvSpPr>
          <p:cNvPr id="22" name="Text 18"/>
          <p:cNvSpPr/>
          <p:nvPr/>
        </p:nvSpPr>
        <p:spPr>
          <a:xfrm>
            <a:off x="749808" y="4206240"/>
            <a:ext cx="7644384" cy="502920"/>
          </a:xfrm>
          <a:prstGeom prst="rect">
            <a:avLst/>
          </a:prstGeom>
          <a:noFill/>
          <a:ln/>
        </p:spPr>
        <p:txBody>
          <a:bodyPr wrap="square" lIns="0" tIns="0" rIns="0" bIns="0" rtlCol="0" anchor="ctr"/>
          <a:lstStyle/>
          <a:p>
            <a:pPr indent="0" marL="0">
              <a:buNone/>
            </a:pPr>
            <a:r>
              <a:rPr lang="en-US" sz="1250" b="1" dirty="0">
                <a:solidFill>
                  <a:srgbClr val="9A701F"/>
                </a:solidFill>
                <a:latin typeface="Calibri" pitchFamily="34" charset="0"/>
                <a:ea typeface="Calibri" pitchFamily="34" charset="-122"/>
                <a:cs typeface="Calibri" pitchFamily="34" charset="-120"/>
              </a:rPr>
              <a:t>Show &amp; tell next:  </a:t>
            </a:r>
            <a:pPr indent="0" marL="0">
              <a:buNone/>
            </a:pPr>
            <a:r>
              <a:rPr lang="en-US" sz="1250" dirty="0">
                <a:solidFill>
                  <a:srgbClr val="2C3547"/>
                </a:solidFill>
                <a:latin typeface="Calibri" pitchFamily="34" charset="0"/>
                <a:ea typeface="Calibri" pitchFamily="34" charset="-122"/>
                <a:cs typeface="Calibri" pitchFamily="34" charset="-120"/>
              </a:rPr>
              <a:t>2–3 pages go on the projector. Be ready to explain one line.</a:t>
            </a:r>
            <a:endParaRPr lang="en-US" sz="12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users-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612648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D1-10  ·  Show &amp; tell</a:t>
            </a:r>
            <a:endParaRPr lang="en-US" sz="2700" dirty="0"/>
          </a:p>
        </p:txBody>
      </p:sp>
      <p:sp>
        <p:nvSpPr>
          <p:cNvPr id="5" name="Text 2"/>
          <p:cNvSpPr/>
          <p:nvPr/>
        </p:nvSpPr>
        <p:spPr>
          <a:xfrm>
            <a:off x="7315200" y="402336"/>
            <a:ext cx="1417320" cy="310896"/>
          </a:xfrm>
          <a:prstGeom prst="roundRect">
            <a:avLst>
              <a:gd name="adj" fmla="val 50000"/>
            </a:avLst>
          </a:prstGeom>
          <a:solidFill>
            <a:srgbClr val="F5EBD8"/>
          </a:solidFill>
          <a:ln/>
        </p:spPr>
        <p:txBody>
          <a:bodyPr wrap="square" lIns="0" tIns="0" rIns="0" bIns="0" rtlCol="0" anchor="ctr"/>
          <a:lstStyle/>
          <a:p>
            <a:pPr algn="ctr" indent="0" marL="0">
              <a:buNone/>
            </a:pPr>
            <a:r>
              <a:rPr lang="en-US" sz="1100" b="1" spc="200" kern="0" dirty="0">
                <a:solidFill>
                  <a:srgbClr val="9A701F"/>
                </a:solidFill>
                <a:latin typeface="Calibri" pitchFamily="34" charset="0"/>
                <a:ea typeface="Calibri" pitchFamily="34" charset="-122"/>
                <a:cs typeface="Calibri" pitchFamily="34" charset="-120"/>
              </a:rPr>
              <a:t>ACTIVITY</a:t>
            </a:r>
            <a:endParaRPr lang="en-US" sz="1100" dirty="0"/>
          </a:p>
        </p:txBody>
      </p:sp>
      <p:sp>
        <p:nvSpPr>
          <p:cNvPr id="7" name="Text 3"/>
          <p:cNvSpPr/>
          <p:nvPr/>
        </p:nvSpPr>
        <p:spPr>
          <a:xfrm>
            <a:off x="548640" y="1078992"/>
            <a:ext cx="8046720" cy="274320"/>
          </a:xfrm>
          <a:prstGeom prst="rect">
            <a:avLst/>
          </a:prstGeom>
          <a:noFill/>
          <a:ln/>
        </p:spPr>
        <p:txBody>
          <a:bodyPr wrap="square" lIns="0" tIns="0" rIns="0" bIns="0" rtlCol="0" anchor="ctr"/>
          <a:lstStyle/>
          <a:p>
            <a:pPr indent="0" marL="0">
              <a:buNone/>
            </a:pPr>
            <a:r>
              <a:rPr lang="en-US" sz="1300" b="1" dirty="0">
                <a:solidFill>
                  <a:srgbClr val="990011"/>
                </a:solidFill>
                <a:latin typeface="Calibri" pitchFamily="34" charset="0"/>
                <a:ea typeface="Calibri" pitchFamily="34" charset="-122"/>
                <a:cs typeface="Calibri" pitchFamily="34" charset="-120"/>
              </a:rPr>
              <a:t>3 minutes  ·  2–3 volunteers  ·  your gallery on the projector</a:t>
            </a:r>
            <a:endParaRPr lang="en-US" sz="1300" dirty="0"/>
          </a:p>
        </p:txBody>
      </p:sp>
      <p:sp>
        <p:nvSpPr>
          <p:cNvPr id="8" name="Shape 4"/>
          <p:cNvSpPr/>
          <p:nvPr/>
        </p:nvSpPr>
        <p:spPr>
          <a:xfrm>
            <a:off x="548640" y="1508760"/>
            <a:ext cx="8046720" cy="1188720"/>
          </a:xfrm>
          <a:prstGeom prst="roundRect">
            <a:avLst>
              <a:gd name="adj" fmla="val 6154"/>
            </a:avLst>
          </a:prstGeom>
          <a:solidFill>
            <a:srgbClr val="FFF3F4"/>
          </a:solidFill>
          <a:ln/>
        </p:spPr>
      </p:sp>
      <p:sp>
        <p:nvSpPr>
          <p:cNvPr id="9" name="Text 5"/>
          <p:cNvSpPr/>
          <p:nvPr/>
        </p:nvSpPr>
        <p:spPr>
          <a:xfrm>
            <a:off x="868680" y="1645920"/>
            <a:ext cx="7406640" cy="914400"/>
          </a:xfrm>
          <a:prstGeom prst="rect">
            <a:avLst/>
          </a:prstGeom>
          <a:noFill/>
          <a:ln/>
        </p:spPr>
        <p:txBody>
          <a:bodyPr wrap="square" lIns="0" tIns="0" rIns="0" bIns="0" rtlCol="0" anchor="ctr"/>
          <a:lstStyle/>
          <a:p>
            <a:pPr algn="ctr" indent="0" marL="0">
              <a:buNone/>
            </a:pPr>
            <a:r>
              <a:rPr lang="en-US" sz="2400" b="1" dirty="0">
                <a:solidFill>
                  <a:srgbClr val="14213D"/>
                </a:solidFill>
                <a:latin typeface="Cambria" pitchFamily="34" charset="0"/>
                <a:ea typeface="Cambria" pitchFamily="34" charset="-122"/>
                <a:cs typeface="Cambria" pitchFamily="34" charset="-120"/>
              </a:rPr>
              <a:t>Code gets shown, not hidden.</a:t>
            </a:r>
            <a:endParaRPr lang="en-US" sz="2400" dirty="0"/>
          </a:p>
        </p:txBody>
      </p:sp>
      <p:sp>
        <p:nvSpPr>
          <p:cNvPr id="10" name="Shape 6"/>
          <p:cNvSpPr/>
          <p:nvPr/>
        </p:nvSpPr>
        <p:spPr>
          <a:xfrm>
            <a:off x="548640" y="2880360"/>
            <a:ext cx="2560320" cy="1234440"/>
          </a:xfrm>
          <a:prstGeom prst="roundRect">
            <a:avLst>
              <a:gd name="adj" fmla="val 5926"/>
            </a:avLst>
          </a:prstGeom>
          <a:solidFill>
            <a:srgbClr val="F9F6F5"/>
          </a:solidFill>
          <a:ln w="9525">
            <a:solidFill>
              <a:srgbClr val="E8E2E1"/>
            </a:solidFill>
            <a:prstDash val="solid"/>
          </a:ln>
        </p:spPr>
      </p:sp>
      <p:sp>
        <p:nvSpPr>
          <p:cNvPr id="11" name="Text 7"/>
          <p:cNvSpPr/>
          <p:nvPr/>
        </p:nvSpPr>
        <p:spPr>
          <a:xfrm>
            <a:off x="731520" y="3008376"/>
            <a:ext cx="2194560" cy="32004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Show</a:t>
            </a:r>
            <a:endParaRPr lang="en-US" sz="1600" dirty="0"/>
          </a:p>
        </p:txBody>
      </p:sp>
      <p:sp>
        <p:nvSpPr>
          <p:cNvPr id="12" name="Text 8"/>
          <p:cNvSpPr/>
          <p:nvPr/>
        </p:nvSpPr>
        <p:spPr>
          <a:xfrm>
            <a:off x="731520" y="3383280"/>
            <a:ext cx="2194560" cy="59436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Your gallery in Live Server on the big screen.</a:t>
            </a:r>
            <a:endParaRPr lang="en-US" sz="1250" dirty="0"/>
          </a:p>
        </p:txBody>
      </p:sp>
      <p:sp>
        <p:nvSpPr>
          <p:cNvPr id="13" name="Shape 9"/>
          <p:cNvSpPr/>
          <p:nvPr/>
        </p:nvSpPr>
        <p:spPr>
          <a:xfrm>
            <a:off x="3291840" y="2880360"/>
            <a:ext cx="2560320" cy="1234440"/>
          </a:xfrm>
          <a:prstGeom prst="roundRect">
            <a:avLst>
              <a:gd name="adj" fmla="val 5926"/>
            </a:avLst>
          </a:prstGeom>
          <a:solidFill>
            <a:srgbClr val="FFF3F4"/>
          </a:solidFill>
          <a:ln/>
        </p:spPr>
      </p:sp>
      <p:sp>
        <p:nvSpPr>
          <p:cNvPr id="14" name="Text 10"/>
          <p:cNvSpPr/>
          <p:nvPr/>
        </p:nvSpPr>
        <p:spPr>
          <a:xfrm>
            <a:off x="3474720" y="3008376"/>
            <a:ext cx="2194560" cy="320040"/>
          </a:xfrm>
          <a:prstGeom prst="rect">
            <a:avLst/>
          </a:prstGeom>
          <a:noFill/>
          <a:ln/>
        </p:spPr>
        <p:txBody>
          <a:bodyPr wrap="square" lIns="0" tIns="0" rIns="0" bIns="0" rtlCol="0" anchor="ctr"/>
          <a:lstStyle/>
          <a:p>
            <a:pPr indent="0" marL="0">
              <a:buNone/>
            </a:pPr>
            <a:r>
              <a:rPr lang="en-US" sz="1600" b="1" dirty="0">
                <a:solidFill>
                  <a:srgbClr val="990011"/>
                </a:solidFill>
                <a:latin typeface="Cambria" pitchFamily="34" charset="0"/>
                <a:ea typeface="Cambria" pitchFamily="34" charset="-122"/>
                <a:cs typeface="Cambria" pitchFamily="34" charset="-120"/>
              </a:rPr>
              <a:t>Read</a:t>
            </a:r>
            <a:endParaRPr lang="en-US" sz="1600" dirty="0"/>
          </a:p>
        </p:txBody>
      </p:sp>
      <p:sp>
        <p:nvSpPr>
          <p:cNvPr id="15" name="Text 11"/>
          <p:cNvSpPr/>
          <p:nvPr/>
        </p:nvSpPr>
        <p:spPr>
          <a:xfrm>
            <a:off x="3474720" y="3383280"/>
            <a:ext cx="2194560" cy="59436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Read one alt text aloud, like on the phone.</a:t>
            </a:r>
            <a:endParaRPr lang="en-US" sz="1250" dirty="0"/>
          </a:p>
        </p:txBody>
      </p:sp>
      <p:sp>
        <p:nvSpPr>
          <p:cNvPr id="16" name="Shape 12"/>
          <p:cNvSpPr/>
          <p:nvPr/>
        </p:nvSpPr>
        <p:spPr>
          <a:xfrm>
            <a:off x="6035040" y="2880360"/>
            <a:ext cx="2560320" cy="1234440"/>
          </a:xfrm>
          <a:prstGeom prst="roundRect">
            <a:avLst>
              <a:gd name="adj" fmla="val 5926"/>
            </a:avLst>
          </a:prstGeom>
          <a:solidFill>
            <a:srgbClr val="F9F6F5"/>
          </a:solidFill>
          <a:ln w="9525">
            <a:solidFill>
              <a:srgbClr val="E8E2E1"/>
            </a:solidFill>
            <a:prstDash val="solid"/>
          </a:ln>
        </p:spPr>
      </p:sp>
      <p:sp>
        <p:nvSpPr>
          <p:cNvPr id="17" name="Text 13"/>
          <p:cNvSpPr/>
          <p:nvPr/>
        </p:nvSpPr>
        <p:spPr>
          <a:xfrm>
            <a:off x="6217920" y="3008376"/>
            <a:ext cx="2194560" cy="32004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Explain</a:t>
            </a:r>
            <a:endParaRPr lang="en-US" sz="1600" dirty="0"/>
          </a:p>
        </p:txBody>
      </p:sp>
      <p:sp>
        <p:nvSpPr>
          <p:cNvPr id="18" name="Text 14"/>
          <p:cNvSpPr/>
          <p:nvPr/>
        </p:nvSpPr>
        <p:spPr>
          <a:xfrm>
            <a:off x="6217920" y="3383280"/>
            <a:ext cx="2194560" cy="59436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Point at the line that opens a new tab.</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list-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612648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Tables: four tags, one team</a:t>
            </a:r>
            <a:endParaRPr lang="en-US" sz="2700" dirty="0"/>
          </a:p>
        </p:txBody>
      </p:sp>
      <p:sp>
        <p:nvSpPr>
          <p:cNvPr id="5" name="Text 2"/>
          <p:cNvSpPr/>
          <p:nvPr/>
        </p:nvSpPr>
        <p:spPr>
          <a:xfrm>
            <a:off x="7315200" y="402336"/>
            <a:ext cx="1417320" cy="310896"/>
          </a:xfrm>
          <a:prstGeom prst="roundRect">
            <a:avLst>
              <a:gd name="adj" fmla="val 50000"/>
            </a:avLst>
          </a:prstGeom>
          <a:solidFill>
            <a:srgbClr val="F5EBD8"/>
          </a:solidFill>
          <a:ln/>
        </p:spPr>
        <p:txBody>
          <a:bodyPr wrap="square" lIns="0" tIns="0" rIns="0" bIns="0" rtlCol="0" anchor="ctr"/>
          <a:lstStyle/>
          <a:p>
            <a:pPr algn="ctr" indent="0" marL="0">
              <a:buNone/>
            </a:pPr>
            <a:r>
              <a:rPr lang="en-US" sz="1100" b="1" spc="200" kern="0" dirty="0">
                <a:solidFill>
                  <a:srgbClr val="9A701F"/>
                </a:solidFill>
                <a:latin typeface="Calibri" pitchFamily="34" charset="0"/>
                <a:ea typeface="Calibri" pitchFamily="34" charset="-122"/>
                <a:cs typeface="Calibri" pitchFamily="34" charset="-120"/>
              </a:rPr>
              <a:t>ACTIVITY</a:t>
            </a:r>
            <a:endParaRPr lang="en-US" sz="1100" dirty="0"/>
          </a:p>
        </p:txBody>
      </p:sp>
      <p:sp>
        <p:nvSpPr>
          <p:cNvPr id="7" name="Text 3"/>
          <p:cNvSpPr/>
          <p:nvPr/>
        </p:nvSpPr>
        <p:spPr>
          <a:xfrm>
            <a:off x="548640" y="1078992"/>
            <a:ext cx="8046720" cy="274320"/>
          </a:xfrm>
          <a:prstGeom prst="rect">
            <a:avLst/>
          </a:prstGeom>
          <a:noFill/>
          <a:ln/>
        </p:spPr>
        <p:txBody>
          <a:bodyPr wrap="square" lIns="0" tIns="0" rIns="0" bIns="0" rtlCol="0" anchor="ctr"/>
          <a:lstStyle/>
          <a:p>
            <a:pPr indent="0" marL="0">
              <a:buNone/>
            </a:pPr>
            <a:r>
              <a:rPr lang="en-US" sz="1300" b="1" dirty="0">
                <a:solidFill>
                  <a:srgbClr val="990011"/>
                </a:solidFill>
                <a:latin typeface="Calibri" pitchFamily="34" charset="0"/>
                <a:ea typeface="Calibri" pitchFamily="34" charset="-122"/>
                <a:cs typeface="Calibri" pitchFamily="34" charset="-120"/>
              </a:rPr>
              <a:t>Code-along  ·  2 min  ·  type with me  ·  W2D1/instructor-demos/B7-tables/step-01-basic-price-board</a:t>
            </a:r>
            <a:endParaRPr lang="en-US" sz="1300" dirty="0"/>
          </a:p>
        </p:txBody>
      </p:sp>
      <p:sp>
        <p:nvSpPr>
          <p:cNvPr id="8" name="Shape 4"/>
          <p:cNvSpPr/>
          <p:nvPr/>
        </p:nvSpPr>
        <p:spPr>
          <a:xfrm>
            <a:off x="548640" y="1463040"/>
            <a:ext cx="5212080" cy="1737360"/>
          </a:xfrm>
          <a:prstGeom prst="roundRect">
            <a:avLst>
              <a:gd name="adj" fmla="val 4211"/>
            </a:avLst>
          </a:prstGeom>
          <a:solidFill>
            <a:srgbClr val="16274A"/>
          </a:solidFill>
          <a:ln/>
        </p:spPr>
      </p:sp>
      <p:sp>
        <p:nvSpPr>
          <p:cNvPr id="9" name="Shape 5"/>
          <p:cNvSpPr/>
          <p:nvPr/>
        </p:nvSpPr>
        <p:spPr>
          <a:xfrm>
            <a:off x="694944" y="1581912"/>
            <a:ext cx="82296" cy="82296"/>
          </a:xfrm>
          <a:prstGeom prst="ellipse">
            <a:avLst/>
          </a:prstGeom>
          <a:solidFill>
            <a:srgbClr val="FF5F56"/>
          </a:solidFill>
          <a:ln/>
        </p:spPr>
      </p:sp>
      <p:sp>
        <p:nvSpPr>
          <p:cNvPr id="10" name="Shape 6"/>
          <p:cNvSpPr/>
          <p:nvPr/>
        </p:nvSpPr>
        <p:spPr>
          <a:xfrm>
            <a:off x="841248" y="1581912"/>
            <a:ext cx="82296" cy="82296"/>
          </a:xfrm>
          <a:prstGeom prst="ellipse">
            <a:avLst/>
          </a:prstGeom>
          <a:solidFill>
            <a:srgbClr val="FFBD2E"/>
          </a:solidFill>
          <a:ln/>
        </p:spPr>
      </p:sp>
      <p:sp>
        <p:nvSpPr>
          <p:cNvPr id="11" name="Shape 7"/>
          <p:cNvSpPr/>
          <p:nvPr/>
        </p:nvSpPr>
        <p:spPr>
          <a:xfrm>
            <a:off x="987552" y="1581912"/>
            <a:ext cx="82296" cy="82296"/>
          </a:xfrm>
          <a:prstGeom prst="ellipse">
            <a:avLst/>
          </a:prstGeom>
          <a:solidFill>
            <a:srgbClr val="27C93F"/>
          </a:solidFill>
          <a:ln/>
        </p:spPr>
      </p:sp>
      <p:sp>
        <p:nvSpPr>
          <p:cNvPr id="12" name="Text 8"/>
          <p:cNvSpPr/>
          <p:nvPr/>
        </p:nvSpPr>
        <p:spPr>
          <a:xfrm>
            <a:off x="1188720" y="1517904"/>
            <a:ext cx="4389120" cy="219456"/>
          </a:xfrm>
          <a:prstGeom prst="rect">
            <a:avLst/>
          </a:prstGeom>
          <a:noFill/>
          <a:ln/>
        </p:spPr>
        <p:txBody>
          <a:bodyPr wrap="square" lIns="0" tIns="0" rIns="0" bIns="0" rtlCol="0" anchor="ctr"/>
          <a:lstStyle/>
          <a:p>
            <a:pPr indent="0" marL="0">
              <a:buNone/>
            </a:pPr>
            <a:r>
              <a:rPr lang="en-US" sz="1000" dirty="0">
                <a:solidFill>
                  <a:srgbClr val="9AA8BF"/>
                </a:solidFill>
                <a:latin typeface="Courier New" pitchFamily="34" charset="0"/>
                <a:ea typeface="Courier New" pitchFamily="34" charset="-122"/>
                <a:cs typeface="Courier New" pitchFamily="34" charset="-120"/>
              </a:rPr>
              <a:t>index.html  (inside &lt;body&gt;)</a:t>
            </a:r>
            <a:endParaRPr lang="en-US" sz="1000" dirty="0"/>
          </a:p>
        </p:txBody>
      </p:sp>
      <p:sp>
        <p:nvSpPr>
          <p:cNvPr id="13" name="Text 9"/>
          <p:cNvSpPr/>
          <p:nvPr/>
        </p:nvSpPr>
        <p:spPr>
          <a:xfrm>
            <a:off x="749808" y="1810512"/>
            <a:ext cx="4846320" cy="1280160"/>
          </a:xfrm>
          <a:prstGeom prst="rect">
            <a:avLst/>
          </a:prstGeom>
          <a:noFill/>
          <a:ln/>
        </p:spPr>
        <p:txBody>
          <a:bodyPr wrap="square" lIns="0" tIns="0" rIns="0" bIns="0" rtlCol="0" anchor="t"/>
          <a:lstStyle/>
          <a:p>
            <a:pPr indent="0" marL="0">
              <a:lnSpc>
                <a:spcPts val="1536"/>
              </a:lnSpc>
              <a:buNone/>
            </a:pPr>
            <a:r>
              <a:rPr lang="en-US" sz="1200" dirty="0">
                <a:solidFill>
                  <a:srgbClr val="E8EDF5"/>
                </a:solidFill>
                <a:latin typeface="Courier New" pitchFamily="34" charset="0"/>
                <a:ea typeface="Courier New" pitchFamily="34" charset="-122"/>
                <a:cs typeface="Courier New" pitchFamily="34" charset="-120"/>
              </a:rPr>
              <a:t>&lt;table&gt;</a:t>
            </a:r>
            <a:endParaRPr lang="en-US" sz="1200" dirty="0"/>
          </a:p>
          <a:p>
            <a:pPr indent="0" marL="0">
              <a:lnSpc>
                <a:spcPts val="1536"/>
              </a:lnSpc>
              <a:buNone/>
            </a:pPr>
            <a:r>
              <a:rPr lang="en-US" sz="1200" dirty="0">
                <a:solidFill>
                  <a:srgbClr val="E8EDF5"/>
                </a:solidFill>
                <a:latin typeface="Courier New" pitchFamily="34" charset="0"/>
                <a:ea typeface="Courier New" pitchFamily="34" charset="-122"/>
                <a:cs typeface="Courier New" pitchFamily="34" charset="-120"/>
              </a:rPr>
              <a:t>  &lt;tr&gt;&lt;th&gt;Item&lt;/th&gt;&lt;th&gt;Price&lt;/th&gt;&lt;/tr&gt;</a:t>
            </a:r>
            <a:endParaRPr lang="en-US" sz="1200" dirty="0"/>
          </a:p>
          <a:p>
            <a:pPr indent="0" marL="0">
              <a:lnSpc>
                <a:spcPts val="1536"/>
              </a:lnSpc>
              <a:buNone/>
            </a:pPr>
            <a:r>
              <a:rPr lang="en-US" sz="1200" dirty="0">
                <a:solidFill>
                  <a:srgbClr val="E8EDF5"/>
                </a:solidFill>
                <a:latin typeface="Courier New" pitchFamily="34" charset="0"/>
                <a:ea typeface="Courier New" pitchFamily="34" charset="-122"/>
                <a:cs typeface="Courier New" pitchFamily="34" charset="-120"/>
              </a:rPr>
              <a:t>  &lt;tr&gt;&lt;td&gt;Veg momo&lt;/td&gt;&lt;td&gt;Rs. 120&lt;/td&gt;&lt;/tr&gt;</a:t>
            </a:r>
            <a:endParaRPr lang="en-US" sz="1200" dirty="0"/>
          </a:p>
          <a:p>
            <a:pPr indent="0" marL="0">
              <a:lnSpc>
                <a:spcPts val="1536"/>
              </a:lnSpc>
              <a:buNone/>
            </a:pPr>
            <a:r>
              <a:rPr lang="en-US" sz="1200" dirty="0">
                <a:solidFill>
                  <a:srgbClr val="E8EDF5"/>
                </a:solidFill>
                <a:latin typeface="Courier New" pitchFamily="34" charset="0"/>
                <a:ea typeface="Courier New" pitchFamily="34" charset="-122"/>
                <a:cs typeface="Courier New" pitchFamily="34" charset="-120"/>
              </a:rPr>
              <a:t>  &lt;tr&gt;&lt;td&gt;Chicken momo&lt;/td&gt;&lt;td&gt;Rs. 150&lt;/td&gt;&lt;/tr&gt;</a:t>
            </a:r>
            <a:endParaRPr lang="en-US" sz="1200" dirty="0"/>
          </a:p>
          <a:p>
            <a:pPr indent="0" marL="0">
              <a:lnSpc>
                <a:spcPts val="1536"/>
              </a:lnSpc>
              <a:buNone/>
            </a:pPr>
            <a:r>
              <a:rPr lang="en-US" sz="1200" dirty="0">
                <a:solidFill>
                  <a:srgbClr val="E8EDF5"/>
                </a:solidFill>
                <a:latin typeface="Courier New" pitchFamily="34" charset="0"/>
                <a:ea typeface="Courier New" pitchFamily="34" charset="-122"/>
                <a:cs typeface="Courier New" pitchFamily="34" charset="-120"/>
              </a:rPr>
              <a:t>  &lt;tr&gt;&lt;td&gt;Milk tea&lt;/td&gt;&lt;td&gt;Rs. 25&lt;/td&gt;&lt;/tr&gt;</a:t>
            </a:r>
            <a:endParaRPr lang="en-US" sz="1200" dirty="0"/>
          </a:p>
          <a:p>
            <a:pPr indent="0" marL="0">
              <a:lnSpc>
                <a:spcPts val="1536"/>
              </a:lnSpc>
              <a:buNone/>
            </a:pPr>
            <a:r>
              <a:rPr lang="en-US" sz="1200" dirty="0">
                <a:solidFill>
                  <a:srgbClr val="E8EDF5"/>
                </a:solidFill>
                <a:latin typeface="Courier New" pitchFamily="34" charset="0"/>
                <a:ea typeface="Courier New" pitchFamily="34" charset="-122"/>
                <a:cs typeface="Courier New" pitchFamily="34" charset="-120"/>
              </a:rPr>
              <a:t>&lt;/table&gt;</a:t>
            </a:r>
            <a:endParaRPr lang="en-US" sz="1200" dirty="0"/>
          </a:p>
        </p:txBody>
      </p:sp>
      <p:sp>
        <p:nvSpPr>
          <p:cNvPr id="14" name="Shape 10"/>
          <p:cNvSpPr/>
          <p:nvPr/>
        </p:nvSpPr>
        <p:spPr>
          <a:xfrm>
            <a:off x="5943600" y="1463040"/>
            <a:ext cx="2651760" cy="2011680"/>
          </a:xfrm>
          <a:prstGeom prst="roundRect">
            <a:avLst>
              <a:gd name="adj" fmla="val 3636"/>
            </a:avLst>
          </a:prstGeom>
          <a:solidFill>
            <a:srgbClr val="FFF3F4"/>
          </a:solidFill>
          <a:ln/>
        </p:spPr>
      </p:sp>
      <p:sp>
        <p:nvSpPr>
          <p:cNvPr id="15" name="Text 11"/>
          <p:cNvSpPr/>
          <p:nvPr/>
        </p:nvSpPr>
        <p:spPr>
          <a:xfrm>
            <a:off x="6126480" y="1591056"/>
            <a:ext cx="2286000" cy="320040"/>
          </a:xfrm>
          <a:prstGeom prst="rect">
            <a:avLst/>
          </a:prstGeom>
          <a:noFill/>
          <a:ln/>
        </p:spPr>
        <p:txBody>
          <a:bodyPr wrap="square" lIns="0" tIns="0" rIns="0" bIns="0" rtlCol="0" anchor="ctr"/>
          <a:lstStyle/>
          <a:p>
            <a:pPr indent="0" marL="0">
              <a:buNone/>
            </a:pPr>
            <a:r>
              <a:rPr lang="en-US" sz="1600" b="1" dirty="0">
                <a:solidFill>
                  <a:srgbClr val="990011"/>
                </a:solidFill>
                <a:latin typeface="Cambria" pitchFamily="34" charset="0"/>
                <a:ea typeface="Cambria" pitchFamily="34" charset="-122"/>
                <a:cs typeface="Cambria" pitchFamily="34" charset="-120"/>
              </a:rPr>
              <a:t>Four tags, one team</a:t>
            </a:r>
            <a:endParaRPr lang="en-US" sz="1600" dirty="0"/>
          </a:p>
        </p:txBody>
      </p:sp>
      <p:sp>
        <p:nvSpPr>
          <p:cNvPr id="16" name="Text 12"/>
          <p:cNvSpPr/>
          <p:nvPr/>
        </p:nvSpPr>
        <p:spPr>
          <a:xfrm>
            <a:off x="6126480" y="1965960"/>
            <a:ext cx="2286000" cy="137160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&lt;table&gt; the board</a:t>
            </a: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&lt;tr&gt; one row</a:t>
            </a: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&lt;th&gt; a heading cell</a:t>
            </a: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&lt;td&gt; a data cell</a:t>
            </a:r>
            <a:endParaRPr lang="en-US" sz="1250" dirty="0"/>
          </a:p>
          <a:p>
            <a:pPr indent="0" marL="0">
              <a:buNone/>
            </a:pP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The canteen price board: data in rows and columns.</a:t>
            </a:r>
            <a:endParaRPr lang="en-US" sz="1250" dirty="0"/>
          </a:p>
        </p:txBody>
      </p:sp>
      <p:sp>
        <p:nvSpPr>
          <p:cNvPr id="17" name="Shape 13"/>
          <p:cNvSpPr/>
          <p:nvPr/>
        </p:nvSpPr>
        <p:spPr>
          <a:xfrm>
            <a:off x="548640" y="4279392"/>
            <a:ext cx="8046720" cy="502920"/>
          </a:xfrm>
          <a:prstGeom prst="roundRect">
            <a:avLst>
              <a:gd name="adj" fmla="val 14545"/>
            </a:avLst>
          </a:prstGeom>
          <a:solidFill>
            <a:srgbClr val="F5EBD8"/>
          </a:solidFill>
          <a:ln/>
        </p:spPr>
      </p:sp>
      <p:sp>
        <p:nvSpPr>
          <p:cNvPr id="18" name="Text 14"/>
          <p:cNvSpPr/>
          <p:nvPr/>
        </p:nvSpPr>
        <p:spPr>
          <a:xfrm>
            <a:off x="749808" y="4279392"/>
            <a:ext cx="7644384" cy="502920"/>
          </a:xfrm>
          <a:prstGeom prst="rect">
            <a:avLst/>
          </a:prstGeom>
          <a:noFill/>
          <a:ln/>
        </p:spPr>
        <p:txBody>
          <a:bodyPr wrap="square" lIns="0" tIns="0" rIns="0" bIns="0" rtlCol="0" anchor="ctr"/>
          <a:lstStyle/>
          <a:p>
            <a:pPr indent="0" marL="0">
              <a:buNone/>
            </a:pPr>
            <a:r>
              <a:rPr lang="en-US" sz="1250" b="1" dirty="0">
                <a:solidFill>
                  <a:srgbClr val="9A701F"/>
                </a:solidFill>
                <a:latin typeface="Calibri" pitchFamily="34" charset="0"/>
                <a:ea typeface="Calibri" pitchFamily="34" charset="-122"/>
                <a:cs typeface="Calibri" pitchFamily="34" charset="-120"/>
              </a:rPr>
              <a:t>Rows first, then cells.  </a:t>
            </a:r>
            <a:pPr indent="0" marL="0">
              <a:buNone/>
            </a:pPr>
            <a:r>
              <a:rPr lang="en-US" sz="1250" dirty="0">
                <a:solidFill>
                  <a:srgbClr val="2C3547"/>
                </a:solidFill>
                <a:latin typeface="Calibri" pitchFamily="34" charset="0"/>
                <a:ea typeface="Calibri" pitchFamily="34" charset="-122"/>
                <a:cs typeface="Calibri" pitchFamily="34" charset="-120"/>
              </a:rPr>
              <a:t>A cell (th or td) always lives inside a &lt;tr&gt;. Every row has the same number of cells.</a:t>
            </a:r>
            <a:endParaRPr lang="en-US" sz="12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layout-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758952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caption, thead / tbody / tfoot, colspan, rowspan</a:t>
            </a:r>
            <a:endParaRPr lang="en-US" sz="2700" dirty="0"/>
          </a:p>
        </p:txBody>
      </p:sp>
      <p:sp>
        <p:nvSpPr>
          <p:cNvPr id="6" name="Text 2"/>
          <p:cNvSpPr/>
          <p:nvPr/>
        </p:nvSpPr>
        <p:spPr>
          <a:xfrm>
            <a:off x="548640" y="1143000"/>
            <a:ext cx="4572000" cy="274320"/>
          </a:xfrm>
          <a:prstGeom prst="rect">
            <a:avLst/>
          </a:prstGeom>
          <a:noFill/>
          <a:ln/>
        </p:spPr>
        <p:txBody>
          <a:bodyPr wrap="square" lIns="0" tIns="0" rIns="0" bIns="0" rtlCol="0" anchor="ctr"/>
          <a:lstStyle/>
          <a:p>
            <a:pPr algn="ctr" indent="0" marL="0">
              <a:buNone/>
            </a:pPr>
            <a:r>
              <a:rPr lang="en-US" sz="1250" b="1" i="1" dirty="0">
                <a:solidFill>
                  <a:srgbClr val="14213D"/>
                </a:solidFill>
                <a:latin typeface="Calibri" pitchFamily="34" charset="0"/>
                <a:ea typeface="Calibri" pitchFamily="34" charset="-122"/>
                <a:cs typeface="Calibri" pitchFamily="34" charset="-120"/>
              </a:rPr>
              <a:t>Today's prices  (caption)</a:t>
            </a:r>
            <a:endParaRPr lang="en-US" sz="125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4572000" cy="914400"/>
        </p:xfrm>
        <a:graphic>
          <a:graphicData uri="http://schemas.openxmlformats.org/drawingml/2006/table">
            <a:tbl>
              <a:tblPr/>
              <a:tblGrid>
                <a:gridCol w="1645920"/>
                <a:gridCol w="1463040"/>
                <a:gridCol w="1463040"/>
              </a:tblGrid>
              <a:tr h="502920">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Item</a:t>
                      </a:r>
                      <a:endParaRPr lang="en-US" sz="1350" dirty="0">
                        <a:latin typeface="Calibri" charset="0"/>
                        <a:ea typeface="Calibri" charset="0"/>
                        <a:cs typeface="Calibri" charset="0"/>
                      </a:endParaRPr>
                    </a:p>
                  </a:txBody>
                  <a:tcPr marL="91440" marR="91440" marT="45720" marB="45720" anchor="ctr">
                    <a:lnL w="12700" cap="flat" cmpd="sng" algn="ctr">
                      <a:solidFill>
                        <a:srgbClr val="B9C2CF"/>
                      </a:solidFill>
                      <a:prstDash val="solid"/>
                      <a:round/>
                      <a:headEnd type="none" w="med" len="med"/>
                      <a:tailEnd type="none" w="med" len="med"/>
                    </a:lnL>
                    <a:lnR w="12700" cap="flat" cmpd="sng" algn="ctr">
                      <a:solidFill>
                        <a:srgbClr val="B9C2CF"/>
                      </a:solidFill>
                      <a:prstDash val="solid"/>
                      <a:round/>
                      <a:headEnd type="none" w="med" len="med"/>
                      <a:tailEnd type="none" w="med" len="med"/>
                    </a:lnR>
                    <a:lnT w="12700" cap="flat" cmpd="sng" algn="ctr">
                      <a:solidFill>
                        <a:srgbClr val="B9C2CF"/>
                      </a:solidFill>
                      <a:prstDash val="solid"/>
                      <a:round/>
                      <a:headEnd type="none" w="med" len="med"/>
                      <a:tailEnd type="none" w="med" len="med"/>
                    </a:lnT>
                    <a:lnB w="12700" cap="flat" cmpd="sng" algn="ctr">
                      <a:solidFill>
                        <a:srgbClr val="B9C2CF"/>
                      </a:solidFill>
                      <a:prstDash val="solid"/>
                      <a:round/>
                      <a:headEnd type="none" w="med" len="med"/>
                      <a:tailEnd type="none" w="med" len="med"/>
                    </a:lnB>
                    <a:solidFill>
                      <a:srgbClr val="14213D"/>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Size</a:t>
                      </a:r>
                      <a:endParaRPr lang="en-US" sz="1350" dirty="0">
                        <a:latin typeface="Calibri" charset="0"/>
                        <a:ea typeface="Calibri" charset="0"/>
                        <a:cs typeface="Calibri" charset="0"/>
                      </a:endParaRPr>
                    </a:p>
                  </a:txBody>
                  <a:tcPr marL="91440" marR="91440" marT="45720" marB="45720" anchor="ctr">
                    <a:lnL w="12700" cap="flat" cmpd="sng" algn="ctr">
                      <a:solidFill>
                        <a:srgbClr val="B9C2CF"/>
                      </a:solidFill>
                      <a:prstDash val="solid"/>
                      <a:round/>
                      <a:headEnd type="none" w="med" len="med"/>
                      <a:tailEnd type="none" w="med" len="med"/>
                    </a:lnL>
                    <a:lnR w="12700" cap="flat" cmpd="sng" algn="ctr">
                      <a:solidFill>
                        <a:srgbClr val="B9C2CF"/>
                      </a:solidFill>
                      <a:prstDash val="solid"/>
                      <a:round/>
                      <a:headEnd type="none" w="med" len="med"/>
                      <a:tailEnd type="none" w="med" len="med"/>
                    </a:lnR>
                    <a:lnT w="12700" cap="flat" cmpd="sng" algn="ctr">
                      <a:solidFill>
                        <a:srgbClr val="B9C2CF"/>
                      </a:solidFill>
                      <a:prstDash val="solid"/>
                      <a:round/>
                      <a:headEnd type="none" w="med" len="med"/>
                      <a:tailEnd type="none" w="med" len="med"/>
                    </a:lnT>
                    <a:lnB w="12700" cap="flat" cmpd="sng" algn="ctr">
                      <a:solidFill>
                        <a:srgbClr val="B9C2CF"/>
                      </a:solidFill>
                      <a:prstDash val="solid"/>
                      <a:round/>
                      <a:headEnd type="none" w="med" len="med"/>
                      <a:tailEnd type="none" w="med" len="med"/>
                    </a:lnB>
                    <a:solidFill>
                      <a:srgbClr val="14213D"/>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Price</a:t>
                      </a:r>
                      <a:endParaRPr lang="en-US" sz="1350" dirty="0">
                        <a:latin typeface="Calibri" charset="0"/>
                        <a:ea typeface="Calibri" charset="0"/>
                        <a:cs typeface="Calibri" charset="0"/>
                      </a:endParaRPr>
                    </a:p>
                  </a:txBody>
                  <a:tcPr marL="91440" marR="91440" marT="45720" marB="45720" anchor="ctr">
                    <a:lnL w="12700" cap="flat" cmpd="sng" algn="ctr">
                      <a:solidFill>
                        <a:srgbClr val="B9C2CF"/>
                      </a:solidFill>
                      <a:prstDash val="solid"/>
                      <a:round/>
                      <a:headEnd type="none" w="med" len="med"/>
                      <a:tailEnd type="none" w="med" len="med"/>
                    </a:lnL>
                    <a:lnR w="12700" cap="flat" cmpd="sng" algn="ctr">
                      <a:solidFill>
                        <a:srgbClr val="B9C2CF"/>
                      </a:solidFill>
                      <a:prstDash val="solid"/>
                      <a:round/>
                      <a:headEnd type="none" w="med" len="med"/>
                      <a:tailEnd type="none" w="med" len="med"/>
                    </a:lnR>
                    <a:lnT w="12700" cap="flat" cmpd="sng" algn="ctr">
                      <a:solidFill>
                        <a:srgbClr val="B9C2CF"/>
                      </a:solidFill>
                      <a:prstDash val="solid"/>
                      <a:round/>
                      <a:headEnd type="none" w="med" len="med"/>
                      <a:tailEnd type="none" w="med" len="med"/>
                    </a:lnT>
                    <a:lnB w="12700" cap="flat" cmpd="sng" algn="ctr">
                      <a:solidFill>
                        <a:srgbClr val="B9C2CF"/>
                      </a:solidFill>
                      <a:prstDash val="solid"/>
                      <a:round/>
                      <a:headEnd type="none" w="med" len="med"/>
                      <a:tailEnd type="none" w="med" len="med"/>
                    </a:lnB>
                    <a:solidFill>
                      <a:srgbClr val="14213D"/>
                    </a:solidFill>
                  </a:tcPr>
                </a:tc>
              </a:tr>
              <a:tr h="502920">
                <a:tc rowSpan="2">
                  <a:txBody>
                    <a:bodyPr/>
                    <a:lstStyle/>
                    <a:p>
                      <a:pPr algn="ctr" indent="0" marL="0">
                        <a:buNone/>
                      </a:pPr>
                      <a:r>
                        <a:rPr lang="en-US" sz="1350" b="1" dirty="0">
                          <a:solidFill>
                            <a:srgbClr val="990011"/>
                          </a:solidFill>
                          <a:latin typeface="Calibri" pitchFamily="34" charset="0"/>
                          <a:ea typeface="Calibri" pitchFamily="34" charset="-122"/>
                          <a:cs typeface="Calibri" pitchFamily="34" charset="-120"/>
                        </a:rPr>
                        <a:t>Chicken momo</a:t>
                      </a:r>
                      <a:endParaRPr lang="en-US" sz="1350" dirty="0">
                        <a:latin typeface="Calibri" charset="0"/>
                        <a:ea typeface="Calibri" charset="0"/>
                        <a:cs typeface="Calibri" charset="0"/>
                      </a:endParaRPr>
                    </a:p>
                    <a:p>
                      <a:pPr algn="ctr" indent="0" marL="0">
                        <a:buNone/>
                      </a:pPr>
                      <a:r>
                        <a:rPr lang="en-US" sz="1350" b="1" dirty="0">
                          <a:solidFill>
                            <a:srgbClr val="990011"/>
                          </a:solidFill>
                          <a:latin typeface="Calibri" pitchFamily="34" charset="0"/>
                          <a:ea typeface="Calibri" pitchFamily="34" charset="-122"/>
                          <a:cs typeface="Calibri" pitchFamily="34" charset="-120"/>
                        </a:rPr>
                        <a:t>rowspan="2"</a:t>
                      </a:r>
                      <a:endParaRPr lang="en-US" sz="1350" dirty="0">
                        <a:latin typeface="Calibri" charset="0"/>
                        <a:ea typeface="Calibri" charset="0"/>
                        <a:cs typeface="Calibri" charset="0"/>
                      </a:endParaRPr>
                    </a:p>
                  </a:txBody>
                  <a:tcPr marL="91440" marR="91440" marT="45720" marB="45720" anchor="ctr">
                    <a:lnL w="12700" cap="flat" cmpd="sng" algn="ctr">
                      <a:solidFill>
                        <a:srgbClr val="B9C2CF"/>
                      </a:solidFill>
                      <a:prstDash val="solid"/>
                      <a:round/>
                      <a:headEnd type="none" w="med" len="med"/>
                      <a:tailEnd type="none" w="med" len="med"/>
                    </a:lnL>
                    <a:lnR w="12700" cap="flat" cmpd="sng" algn="ctr">
                      <a:solidFill>
                        <a:srgbClr val="B9C2CF"/>
                      </a:solidFill>
                      <a:prstDash val="solid"/>
                      <a:round/>
                      <a:headEnd type="none" w="med" len="med"/>
                      <a:tailEnd type="none" w="med" len="med"/>
                    </a:lnR>
                    <a:lnT w="12700" cap="flat" cmpd="sng" algn="ctr">
                      <a:solidFill>
                        <a:srgbClr val="B9C2CF"/>
                      </a:solidFill>
                      <a:prstDash val="solid"/>
                      <a:round/>
                      <a:headEnd type="none" w="med" len="med"/>
                      <a:tailEnd type="none" w="med" len="med"/>
                    </a:lnT>
                    <a:lnB w="12700" cap="flat" cmpd="sng" algn="ctr">
                      <a:solidFill>
                        <a:srgbClr val="B9C2CF"/>
                      </a:solidFill>
                      <a:prstDash val="solid"/>
                      <a:round/>
                      <a:headEnd type="none" w="med" len="med"/>
                      <a:tailEnd type="none" w="med" len="med"/>
                    </a:lnB>
                    <a:solidFill>
                      <a:srgbClr val="FFF3F4"/>
                    </a:solidFill>
                  </a:tcPr>
                </a:tc>
                <a:tc>
                  <a:txBody>
                    <a:bodyPr/>
                    <a:lstStyle/>
                    <a:p>
                      <a:pPr algn="ctr" indent="0" marL="0">
                        <a:buNone/>
                      </a:pPr>
                      <a:r>
                        <a:rPr lang="en-US" sz="1350" dirty="0">
                          <a:solidFill>
                            <a:srgbClr val="2C3547"/>
                          </a:solidFill>
                          <a:latin typeface="Calibri" pitchFamily="34" charset="0"/>
                          <a:ea typeface="Calibri" pitchFamily="34" charset="-122"/>
                          <a:cs typeface="Calibri" pitchFamily="34" charset="-120"/>
                        </a:rPr>
                        <a:t>Half plate</a:t>
                      </a:r>
                      <a:endParaRPr lang="en-US" sz="1350" dirty="0">
                        <a:latin typeface="Calibri" charset="0"/>
                        <a:ea typeface="Calibri" charset="0"/>
                        <a:cs typeface="Calibri" charset="0"/>
                      </a:endParaRPr>
                    </a:p>
                  </a:txBody>
                  <a:tcPr marL="91440" marR="91440" marT="45720" marB="45720" anchor="ctr">
                    <a:lnL w="12700" cap="flat" cmpd="sng" algn="ctr">
                      <a:solidFill>
                        <a:srgbClr val="B9C2CF"/>
                      </a:solidFill>
                      <a:prstDash val="solid"/>
                      <a:round/>
                      <a:headEnd type="none" w="med" len="med"/>
                      <a:tailEnd type="none" w="med" len="med"/>
                    </a:lnL>
                    <a:lnR w="12700" cap="flat" cmpd="sng" algn="ctr">
                      <a:solidFill>
                        <a:srgbClr val="B9C2CF"/>
                      </a:solidFill>
                      <a:prstDash val="solid"/>
                      <a:round/>
                      <a:headEnd type="none" w="med" len="med"/>
                      <a:tailEnd type="none" w="med" len="med"/>
                    </a:lnR>
                    <a:lnT w="12700" cap="flat" cmpd="sng" algn="ctr">
                      <a:solidFill>
                        <a:srgbClr val="B9C2CF"/>
                      </a:solidFill>
                      <a:prstDash val="solid"/>
                      <a:round/>
                      <a:headEnd type="none" w="med" len="med"/>
                      <a:tailEnd type="none" w="med" len="med"/>
                    </a:lnT>
                    <a:lnB w="12700" cap="flat" cmpd="sng" algn="ctr">
                      <a:solidFill>
                        <a:srgbClr val="B9C2CF"/>
                      </a:solidFill>
                      <a:prstDash val="solid"/>
                      <a:round/>
                      <a:headEnd type="none" w="med" len="med"/>
                      <a:tailEnd type="none" w="med" len="med"/>
                    </a:lnB>
                    <a:solidFill>
                      <a:srgbClr val="F9F6F5"/>
                    </a:solidFill>
                  </a:tcPr>
                </a:tc>
                <a:tc>
                  <a:txBody>
                    <a:bodyPr/>
                    <a:lstStyle/>
                    <a:p>
                      <a:pPr algn="ctr" indent="0" marL="0">
                        <a:buNone/>
                      </a:pPr>
                      <a:r>
                        <a:rPr lang="en-US" sz="1350" dirty="0">
                          <a:solidFill>
                            <a:srgbClr val="2C3547"/>
                          </a:solidFill>
                          <a:latin typeface="Calibri" pitchFamily="34" charset="0"/>
                          <a:ea typeface="Calibri" pitchFamily="34" charset="-122"/>
                          <a:cs typeface="Calibri" pitchFamily="34" charset="-120"/>
                        </a:rPr>
                        <a:t>Rs. 80</a:t>
                      </a:r>
                      <a:endParaRPr lang="en-US" sz="1350" dirty="0">
                        <a:latin typeface="Calibri" charset="0"/>
                        <a:ea typeface="Calibri" charset="0"/>
                        <a:cs typeface="Calibri" charset="0"/>
                      </a:endParaRPr>
                    </a:p>
                  </a:txBody>
                  <a:tcPr marL="91440" marR="91440" marT="45720" marB="45720" anchor="ctr">
                    <a:lnL w="12700" cap="flat" cmpd="sng" algn="ctr">
                      <a:solidFill>
                        <a:srgbClr val="B9C2CF"/>
                      </a:solidFill>
                      <a:prstDash val="solid"/>
                      <a:round/>
                      <a:headEnd type="none" w="med" len="med"/>
                      <a:tailEnd type="none" w="med" len="med"/>
                    </a:lnL>
                    <a:lnR w="12700" cap="flat" cmpd="sng" algn="ctr">
                      <a:solidFill>
                        <a:srgbClr val="B9C2CF"/>
                      </a:solidFill>
                      <a:prstDash val="solid"/>
                      <a:round/>
                      <a:headEnd type="none" w="med" len="med"/>
                      <a:tailEnd type="none" w="med" len="med"/>
                    </a:lnR>
                    <a:lnT w="12700" cap="flat" cmpd="sng" algn="ctr">
                      <a:solidFill>
                        <a:srgbClr val="B9C2CF"/>
                      </a:solidFill>
                      <a:prstDash val="solid"/>
                      <a:round/>
                      <a:headEnd type="none" w="med" len="med"/>
                      <a:tailEnd type="none" w="med" len="med"/>
                    </a:lnT>
                    <a:lnB w="12700" cap="flat" cmpd="sng" algn="ctr">
                      <a:solidFill>
                        <a:srgbClr val="B9C2CF"/>
                      </a:solidFill>
                      <a:prstDash val="solid"/>
                      <a:round/>
                      <a:headEnd type="none" w="med" len="med"/>
                      <a:tailEnd type="none" w="med" len="med"/>
                    </a:lnB>
                    <a:solidFill>
                      <a:srgbClr val="F9F6F5"/>
                    </a:solidFill>
                  </a:tcPr>
                </a:tc>
              </a:tr>
              <a:tr h="502920">
                <a:tc vMerge="1">
                  <a:tcPr/>
                </a:tc>
                <a:tc>
                  <a:txBody>
                    <a:bodyPr/>
                    <a:lstStyle/>
                    <a:p>
                      <a:pPr algn="ctr" indent="0" marL="0">
                        <a:buNone/>
                      </a:pPr>
                      <a:r>
                        <a:rPr lang="en-US" sz="1350" dirty="0">
                          <a:solidFill>
                            <a:srgbClr val="2C3547"/>
                          </a:solidFill>
                          <a:latin typeface="Calibri" pitchFamily="34" charset="0"/>
                          <a:ea typeface="Calibri" pitchFamily="34" charset="-122"/>
                          <a:cs typeface="Calibri" pitchFamily="34" charset="-120"/>
                        </a:rPr>
                        <a:t>Full plate</a:t>
                      </a:r>
                      <a:endParaRPr lang="en-US" sz="1350" dirty="0">
                        <a:latin typeface="Calibri" charset="0"/>
                        <a:ea typeface="Calibri" charset="0"/>
                        <a:cs typeface="Calibri" charset="0"/>
                      </a:endParaRPr>
                    </a:p>
                  </a:txBody>
                  <a:tcPr marL="91440" marR="91440" marT="45720" marB="45720" anchor="ctr">
                    <a:lnL w="12700" cap="flat" cmpd="sng" algn="ctr">
                      <a:solidFill>
                        <a:srgbClr val="B9C2CF"/>
                      </a:solidFill>
                      <a:prstDash val="solid"/>
                      <a:round/>
                      <a:headEnd type="none" w="med" len="med"/>
                      <a:tailEnd type="none" w="med" len="med"/>
                    </a:lnL>
                    <a:lnR w="12700" cap="flat" cmpd="sng" algn="ctr">
                      <a:solidFill>
                        <a:srgbClr val="B9C2CF"/>
                      </a:solidFill>
                      <a:prstDash val="solid"/>
                      <a:round/>
                      <a:headEnd type="none" w="med" len="med"/>
                      <a:tailEnd type="none" w="med" len="med"/>
                    </a:lnR>
                    <a:lnT w="12700" cap="flat" cmpd="sng" algn="ctr">
                      <a:solidFill>
                        <a:srgbClr val="B9C2CF"/>
                      </a:solidFill>
                      <a:prstDash val="solid"/>
                      <a:round/>
                      <a:headEnd type="none" w="med" len="med"/>
                      <a:tailEnd type="none" w="med" len="med"/>
                    </a:lnT>
                    <a:lnB w="12700" cap="flat" cmpd="sng" algn="ctr">
                      <a:solidFill>
                        <a:srgbClr val="B9C2CF"/>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2C3547"/>
                          </a:solidFill>
                          <a:latin typeface="Calibri" pitchFamily="34" charset="0"/>
                          <a:ea typeface="Calibri" pitchFamily="34" charset="-122"/>
                          <a:cs typeface="Calibri" pitchFamily="34" charset="-120"/>
                        </a:rPr>
                        <a:t>Rs. 150</a:t>
                      </a:r>
                      <a:endParaRPr lang="en-US" sz="1350" dirty="0">
                        <a:latin typeface="Calibri" charset="0"/>
                        <a:ea typeface="Calibri" charset="0"/>
                        <a:cs typeface="Calibri" charset="0"/>
                      </a:endParaRPr>
                    </a:p>
                  </a:txBody>
                  <a:tcPr marL="91440" marR="91440" marT="45720" marB="45720" anchor="ctr">
                    <a:lnL w="12700" cap="flat" cmpd="sng" algn="ctr">
                      <a:solidFill>
                        <a:srgbClr val="B9C2CF"/>
                      </a:solidFill>
                      <a:prstDash val="solid"/>
                      <a:round/>
                      <a:headEnd type="none" w="med" len="med"/>
                      <a:tailEnd type="none" w="med" len="med"/>
                    </a:lnL>
                    <a:lnR w="12700" cap="flat" cmpd="sng" algn="ctr">
                      <a:solidFill>
                        <a:srgbClr val="B9C2CF"/>
                      </a:solidFill>
                      <a:prstDash val="solid"/>
                      <a:round/>
                      <a:headEnd type="none" w="med" len="med"/>
                      <a:tailEnd type="none" w="med" len="med"/>
                    </a:lnR>
                    <a:lnT w="12700" cap="flat" cmpd="sng" algn="ctr">
                      <a:solidFill>
                        <a:srgbClr val="B9C2CF"/>
                      </a:solidFill>
                      <a:prstDash val="solid"/>
                      <a:round/>
                      <a:headEnd type="none" w="med" len="med"/>
                      <a:tailEnd type="none" w="med" len="med"/>
                    </a:lnT>
                    <a:lnB w="12700" cap="flat" cmpd="sng" algn="ctr">
                      <a:solidFill>
                        <a:srgbClr val="B9C2CF"/>
                      </a:solidFill>
                      <a:prstDash val="solid"/>
                      <a:round/>
                      <a:headEnd type="none" w="med" len="med"/>
                      <a:tailEnd type="none" w="med" len="med"/>
                    </a:lnB>
                    <a:solidFill>
                      <a:srgbClr val="FFFFFF"/>
                    </a:solidFill>
                  </a:tcPr>
                </a:tc>
              </a:tr>
              <a:tr h="502920">
                <a:tc>
                  <a:txBody>
                    <a:bodyPr/>
                    <a:lstStyle/>
                    <a:p>
                      <a:pPr algn="ctr" indent="0" marL="0">
                        <a:buNone/>
                      </a:pPr>
                      <a:r>
                        <a:rPr lang="en-US" sz="1350" dirty="0">
                          <a:solidFill>
                            <a:srgbClr val="2C3547"/>
                          </a:solidFill>
                          <a:latin typeface="Calibri" pitchFamily="34" charset="0"/>
                          <a:ea typeface="Calibri" pitchFamily="34" charset="-122"/>
                          <a:cs typeface="Calibri" pitchFamily="34" charset="-120"/>
                        </a:rPr>
                        <a:t>Milk tea</a:t>
                      </a:r>
                      <a:endParaRPr lang="en-US" sz="1350" dirty="0">
                        <a:latin typeface="Calibri" charset="0"/>
                        <a:ea typeface="Calibri" charset="0"/>
                        <a:cs typeface="Calibri" charset="0"/>
                      </a:endParaRPr>
                    </a:p>
                  </a:txBody>
                  <a:tcPr marL="91440" marR="91440" marT="45720" marB="45720" anchor="ctr">
                    <a:lnL w="12700" cap="flat" cmpd="sng" algn="ctr">
                      <a:solidFill>
                        <a:srgbClr val="B9C2CF"/>
                      </a:solidFill>
                      <a:prstDash val="solid"/>
                      <a:round/>
                      <a:headEnd type="none" w="med" len="med"/>
                      <a:tailEnd type="none" w="med" len="med"/>
                    </a:lnL>
                    <a:lnR w="12700" cap="flat" cmpd="sng" algn="ctr">
                      <a:solidFill>
                        <a:srgbClr val="B9C2CF"/>
                      </a:solidFill>
                      <a:prstDash val="solid"/>
                      <a:round/>
                      <a:headEnd type="none" w="med" len="med"/>
                      <a:tailEnd type="none" w="med" len="med"/>
                    </a:lnR>
                    <a:lnT w="12700" cap="flat" cmpd="sng" algn="ctr">
                      <a:solidFill>
                        <a:srgbClr val="B9C2CF"/>
                      </a:solidFill>
                      <a:prstDash val="solid"/>
                      <a:round/>
                      <a:headEnd type="none" w="med" len="med"/>
                      <a:tailEnd type="none" w="med" len="med"/>
                    </a:lnT>
                    <a:lnB w="12700" cap="flat" cmpd="sng" algn="ctr">
                      <a:solidFill>
                        <a:srgbClr val="B9C2CF"/>
                      </a:solidFill>
                      <a:prstDash val="solid"/>
                      <a:round/>
                      <a:headEnd type="none" w="med" len="med"/>
                      <a:tailEnd type="none" w="med" len="med"/>
                    </a:lnB>
                    <a:solidFill>
                      <a:srgbClr val="F9F6F5"/>
                    </a:solidFill>
                  </a:tcPr>
                </a:tc>
                <a:tc>
                  <a:txBody>
                    <a:bodyPr/>
                    <a:lstStyle/>
                    <a:p>
                      <a:pPr algn="ctr" indent="0" marL="0">
                        <a:buNone/>
                      </a:pPr>
                      <a:r>
                        <a:rPr lang="en-US" sz="1350" dirty="0">
                          <a:solidFill>
                            <a:srgbClr val="2C3547"/>
                          </a:solidFill>
                          <a:latin typeface="Calibri" pitchFamily="34" charset="0"/>
                          <a:ea typeface="Calibri" pitchFamily="34" charset="-122"/>
                          <a:cs typeface="Calibri" pitchFamily="34" charset="-120"/>
                        </a:rPr>
                        <a:t>Cup</a:t>
                      </a:r>
                      <a:endParaRPr lang="en-US" sz="1350" dirty="0">
                        <a:latin typeface="Calibri" charset="0"/>
                        <a:ea typeface="Calibri" charset="0"/>
                        <a:cs typeface="Calibri" charset="0"/>
                      </a:endParaRPr>
                    </a:p>
                  </a:txBody>
                  <a:tcPr marL="91440" marR="91440" marT="45720" marB="45720" anchor="ctr">
                    <a:lnL w="12700" cap="flat" cmpd="sng" algn="ctr">
                      <a:solidFill>
                        <a:srgbClr val="B9C2CF"/>
                      </a:solidFill>
                      <a:prstDash val="solid"/>
                      <a:round/>
                      <a:headEnd type="none" w="med" len="med"/>
                      <a:tailEnd type="none" w="med" len="med"/>
                    </a:lnL>
                    <a:lnR w="12700" cap="flat" cmpd="sng" algn="ctr">
                      <a:solidFill>
                        <a:srgbClr val="B9C2CF"/>
                      </a:solidFill>
                      <a:prstDash val="solid"/>
                      <a:round/>
                      <a:headEnd type="none" w="med" len="med"/>
                      <a:tailEnd type="none" w="med" len="med"/>
                    </a:lnR>
                    <a:lnT w="12700" cap="flat" cmpd="sng" algn="ctr">
                      <a:solidFill>
                        <a:srgbClr val="B9C2CF"/>
                      </a:solidFill>
                      <a:prstDash val="solid"/>
                      <a:round/>
                      <a:headEnd type="none" w="med" len="med"/>
                      <a:tailEnd type="none" w="med" len="med"/>
                    </a:lnT>
                    <a:lnB w="12700" cap="flat" cmpd="sng" algn="ctr">
                      <a:solidFill>
                        <a:srgbClr val="B9C2CF"/>
                      </a:solidFill>
                      <a:prstDash val="solid"/>
                      <a:round/>
                      <a:headEnd type="none" w="med" len="med"/>
                      <a:tailEnd type="none" w="med" len="med"/>
                    </a:lnB>
                    <a:solidFill>
                      <a:srgbClr val="F9F6F5"/>
                    </a:solidFill>
                  </a:tcPr>
                </a:tc>
                <a:tc>
                  <a:txBody>
                    <a:bodyPr/>
                    <a:lstStyle/>
                    <a:p>
                      <a:pPr algn="ctr" indent="0" marL="0">
                        <a:buNone/>
                      </a:pPr>
                      <a:r>
                        <a:rPr lang="en-US" sz="1350" dirty="0">
                          <a:solidFill>
                            <a:srgbClr val="2C3547"/>
                          </a:solidFill>
                          <a:latin typeface="Calibri" pitchFamily="34" charset="0"/>
                          <a:ea typeface="Calibri" pitchFamily="34" charset="-122"/>
                          <a:cs typeface="Calibri" pitchFamily="34" charset="-120"/>
                        </a:rPr>
                        <a:t>Rs. 25</a:t>
                      </a:r>
                      <a:endParaRPr lang="en-US" sz="1350" dirty="0">
                        <a:latin typeface="Calibri" charset="0"/>
                        <a:ea typeface="Calibri" charset="0"/>
                        <a:cs typeface="Calibri" charset="0"/>
                      </a:endParaRPr>
                    </a:p>
                  </a:txBody>
                  <a:tcPr marL="91440" marR="91440" marT="45720" marB="45720" anchor="ctr">
                    <a:lnL w="12700" cap="flat" cmpd="sng" algn="ctr">
                      <a:solidFill>
                        <a:srgbClr val="B9C2CF"/>
                      </a:solidFill>
                      <a:prstDash val="solid"/>
                      <a:round/>
                      <a:headEnd type="none" w="med" len="med"/>
                      <a:tailEnd type="none" w="med" len="med"/>
                    </a:lnL>
                    <a:lnR w="12700" cap="flat" cmpd="sng" algn="ctr">
                      <a:solidFill>
                        <a:srgbClr val="B9C2CF"/>
                      </a:solidFill>
                      <a:prstDash val="solid"/>
                      <a:round/>
                      <a:headEnd type="none" w="med" len="med"/>
                      <a:tailEnd type="none" w="med" len="med"/>
                    </a:lnR>
                    <a:lnT w="12700" cap="flat" cmpd="sng" algn="ctr">
                      <a:solidFill>
                        <a:srgbClr val="B9C2CF"/>
                      </a:solidFill>
                      <a:prstDash val="solid"/>
                      <a:round/>
                      <a:headEnd type="none" w="med" len="med"/>
                      <a:tailEnd type="none" w="med" len="med"/>
                    </a:lnT>
                    <a:lnB w="12700" cap="flat" cmpd="sng" algn="ctr">
                      <a:solidFill>
                        <a:srgbClr val="B9C2CF"/>
                      </a:solidFill>
                      <a:prstDash val="solid"/>
                      <a:round/>
                      <a:headEnd type="none" w="med" len="med"/>
                      <a:tailEnd type="none" w="med" len="med"/>
                    </a:lnB>
                    <a:solidFill>
                      <a:srgbClr val="F9F6F5"/>
                    </a:solidFill>
                  </a:tcPr>
                </a:tc>
              </a:tr>
              <a:tr h="502920">
                <a:tc gridSpan="3">
                  <a:txBody>
                    <a:bodyPr/>
                    <a:lstStyle/>
                    <a:p>
                      <a:pPr algn="ctr" indent="0" marL="0">
                        <a:buNone/>
                      </a:pPr>
                      <a:r>
                        <a:rPr lang="en-US" sz="1350" b="1" dirty="0">
                          <a:solidFill>
                            <a:srgbClr val="990011"/>
                          </a:solidFill>
                          <a:latin typeface="Calibri" pitchFamily="34" charset="0"/>
                          <a:ea typeface="Calibri" pitchFamily="34" charset="-122"/>
                          <a:cs typeface="Calibri" pitchFamily="34" charset="-120"/>
                        </a:rPr>
                        <a:t>All prices include achar.  (tfoot · colspan="3")</a:t>
                      </a:r>
                      <a:endParaRPr lang="en-US" sz="1350" dirty="0">
                        <a:latin typeface="Calibri" charset="0"/>
                        <a:ea typeface="Calibri" charset="0"/>
                        <a:cs typeface="Calibri" charset="0"/>
                      </a:endParaRPr>
                    </a:p>
                  </a:txBody>
                  <a:tcPr marL="91440" marR="91440" marT="45720" marB="45720" anchor="ctr">
                    <a:lnL w="12700" cap="flat" cmpd="sng" algn="ctr">
                      <a:solidFill>
                        <a:srgbClr val="B9C2CF"/>
                      </a:solidFill>
                      <a:prstDash val="solid"/>
                      <a:round/>
                      <a:headEnd type="none" w="med" len="med"/>
                      <a:tailEnd type="none" w="med" len="med"/>
                    </a:lnL>
                    <a:lnR w="12700" cap="flat" cmpd="sng" algn="ctr">
                      <a:solidFill>
                        <a:srgbClr val="B9C2CF"/>
                      </a:solidFill>
                      <a:prstDash val="solid"/>
                      <a:round/>
                      <a:headEnd type="none" w="med" len="med"/>
                      <a:tailEnd type="none" w="med" len="med"/>
                    </a:lnR>
                    <a:lnT w="12700" cap="flat" cmpd="sng" algn="ctr">
                      <a:solidFill>
                        <a:srgbClr val="B9C2CF"/>
                      </a:solidFill>
                      <a:prstDash val="solid"/>
                      <a:round/>
                      <a:headEnd type="none" w="med" len="med"/>
                      <a:tailEnd type="none" w="med" len="med"/>
                    </a:lnT>
                    <a:lnB w="12700" cap="flat" cmpd="sng" algn="ctr">
                      <a:solidFill>
                        <a:srgbClr val="B9C2CF"/>
                      </a:solidFill>
                      <a:prstDash val="solid"/>
                      <a:round/>
                      <a:headEnd type="none" w="med" len="med"/>
                      <a:tailEnd type="none" w="med" len="med"/>
                    </a:lnB>
                    <a:solidFill>
                      <a:srgbClr val="FFF3F4"/>
                    </a:solidFill>
                  </a:tcPr>
                </a:tc>
                <a:tc hMerge="1">
                  <a:tcPr/>
                </a:tc>
                <a:tc hMerge="1">
                  <a:tcPr/>
                </a:tc>
              </a:tr>
            </a:tbl>
          </a:graphicData>
        </a:graphic>
      </p:graphicFrame>
      <p:sp>
        <p:nvSpPr>
          <p:cNvPr id="8" name="Shape 3"/>
          <p:cNvSpPr/>
          <p:nvPr/>
        </p:nvSpPr>
        <p:spPr>
          <a:xfrm>
            <a:off x="5349240" y="1143000"/>
            <a:ext cx="3246120" cy="1417320"/>
          </a:xfrm>
          <a:prstGeom prst="roundRect">
            <a:avLst>
              <a:gd name="adj" fmla="val 5161"/>
            </a:avLst>
          </a:prstGeom>
          <a:solidFill>
            <a:srgbClr val="F9F6F5"/>
          </a:solidFill>
          <a:ln w="9525">
            <a:solidFill>
              <a:srgbClr val="E8E2E1"/>
            </a:solidFill>
            <a:prstDash val="solid"/>
          </a:ln>
        </p:spPr>
      </p:sp>
      <p:sp>
        <p:nvSpPr>
          <p:cNvPr id="9" name="Text 4"/>
          <p:cNvSpPr/>
          <p:nvPr/>
        </p:nvSpPr>
        <p:spPr>
          <a:xfrm>
            <a:off x="5532120" y="1271016"/>
            <a:ext cx="2880360" cy="32004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The parts</a:t>
            </a:r>
            <a:endParaRPr lang="en-US" sz="1600" dirty="0"/>
          </a:p>
        </p:txBody>
      </p:sp>
      <p:sp>
        <p:nvSpPr>
          <p:cNvPr id="10" name="Text 5"/>
          <p:cNvSpPr/>
          <p:nvPr/>
        </p:nvSpPr>
        <p:spPr>
          <a:xfrm>
            <a:off x="5532120" y="1645920"/>
            <a:ext cx="2880360" cy="77724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&lt;caption&gt; title of the table</a:t>
            </a: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&lt;thead&gt; heading rows</a:t>
            </a: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&lt;tbody&gt; the data</a:t>
            </a: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&lt;tfoot&gt; the totals</a:t>
            </a:r>
            <a:endParaRPr lang="en-US" sz="1250" dirty="0"/>
          </a:p>
        </p:txBody>
      </p:sp>
      <p:sp>
        <p:nvSpPr>
          <p:cNvPr id="11" name="Shape 6"/>
          <p:cNvSpPr/>
          <p:nvPr/>
        </p:nvSpPr>
        <p:spPr>
          <a:xfrm>
            <a:off x="5349240" y="2697480"/>
            <a:ext cx="3246120" cy="1325880"/>
          </a:xfrm>
          <a:prstGeom prst="roundRect">
            <a:avLst>
              <a:gd name="adj" fmla="val 5517"/>
            </a:avLst>
          </a:prstGeom>
          <a:solidFill>
            <a:srgbClr val="FFF3F4"/>
          </a:solidFill>
          <a:ln/>
        </p:spPr>
      </p:sp>
      <p:sp>
        <p:nvSpPr>
          <p:cNvPr id="12" name="Text 7"/>
          <p:cNvSpPr/>
          <p:nvPr/>
        </p:nvSpPr>
        <p:spPr>
          <a:xfrm>
            <a:off x="5532120" y="2825496"/>
            <a:ext cx="2880360" cy="320040"/>
          </a:xfrm>
          <a:prstGeom prst="rect">
            <a:avLst/>
          </a:prstGeom>
          <a:noFill/>
          <a:ln/>
        </p:spPr>
        <p:txBody>
          <a:bodyPr wrap="square" lIns="0" tIns="0" rIns="0" bIns="0" rtlCol="0" anchor="ctr"/>
          <a:lstStyle/>
          <a:p>
            <a:pPr indent="0" marL="0">
              <a:buNone/>
            </a:pPr>
            <a:r>
              <a:rPr lang="en-US" sz="1600" b="1" dirty="0">
                <a:solidFill>
                  <a:srgbClr val="990011"/>
                </a:solidFill>
                <a:latin typeface="Cambria" pitchFamily="34" charset="0"/>
                <a:ea typeface="Cambria" pitchFamily="34" charset="-122"/>
                <a:cs typeface="Cambria" pitchFamily="34" charset="-120"/>
              </a:rPr>
              <a:t>Count the cells</a:t>
            </a:r>
            <a:endParaRPr lang="en-US" sz="1600" dirty="0"/>
          </a:p>
        </p:txBody>
      </p:sp>
      <p:sp>
        <p:nvSpPr>
          <p:cNvPr id="13" name="Text 8"/>
          <p:cNvSpPr/>
          <p:nvPr/>
        </p:nvSpPr>
        <p:spPr>
          <a:xfrm>
            <a:off x="5532120" y="3200400"/>
            <a:ext cx="2880360" cy="68580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colspan="3" counts as 3.</a:t>
            </a: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Under rowspan="2", the next row has one cell less (Full plate row: 2 cells).</a:t>
            </a:r>
            <a:endParaRPr lang="en-US" sz="1250" dirty="0"/>
          </a:p>
        </p:txBody>
      </p:sp>
      <p:sp>
        <p:nvSpPr>
          <p:cNvPr id="14" name="Shape 9"/>
          <p:cNvSpPr/>
          <p:nvPr/>
        </p:nvSpPr>
        <p:spPr>
          <a:xfrm>
            <a:off x="548640" y="4251960"/>
            <a:ext cx="8046720" cy="457200"/>
          </a:xfrm>
          <a:prstGeom prst="roundRect">
            <a:avLst>
              <a:gd name="adj" fmla="val 16000"/>
            </a:avLst>
          </a:prstGeom>
          <a:solidFill>
            <a:srgbClr val="F5EBD8"/>
          </a:solidFill>
          <a:ln/>
        </p:spPr>
      </p:sp>
      <p:sp>
        <p:nvSpPr>
          <p:cNvPr id="15" name="Text 10"/>
          <p:cNvSpPr/>
          <p:nvPr/>
        </p:nvSpPr>
        <p:spPr>
          <a:xfrm>
            <a:off x="749808" y="4251960"/>
            <a:ext cx="7644384" cy="457200"/>
          </a:xfrm>
          <a:prstGeom prst="rect">
            <a:avLst/>
          </a:prstGeom>
          <a:noFill/>
          <a:ln/>
        </p:spPr>
        <p:txBody>
          <a:bodyPr wrap="square" lIns="0" tIns="0" rIns="0" bIns="0" rtlCol="0" anchor="ctr"/>
          <a:lstStyle/>
          <a:p>
            <a:pPr indent="0" marL="0">
              <a:buNone/>
            </a:pPr>
            <a:r>
              <a:rPr lang="en-US" sz="1250" b="1" dirty="0">
                <a:solidFill>
                  <a:srgbClr val="9A701F"/>
                </a:solidFill>
                <a:latin typeface="Calibri" pitchFamily="34" charset="0"/>
                <a:ea typeface="Calibri" pitchFamily="34" charset="-122"/>
                <a:cs typeface="Calibri" pitchFamily="34" charset="-120"/>
              </a:rPr>
              <a:t>th scope="col"  </a:t>
            </a:r>
            <a:pPr indent="0" marL="0">
              <a:buNone/>
            </a:pPr>
            <a:r>
              <a:rPr lang="en-US" sz="1250" dirty="0">
                <a:solidFill>
                  <a:srgbClr val="2C3547"/>
                </a:solidFill>
                <a:latin typeface="Calibri" pitchFamily="34" charset="0"/>
                <a:ea typeface="Calibri" pitchFamily="34" charset="-122"/>
                <a:cs typeface="Calibri" pitchFamily="34" charset="-120"/>
              </a:rPr>
              <a:t>tells a screen reader "I am the heading for this column".</a:t>
            </a:r>
            <a:endParaRPr lang="en-US" sz="12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check-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758952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Tables are for data, not layout</a:t>
            </a:r>
            <a:endParaRPr lang="en-US" sz="2700" dirty="0"/>
          </a:p>
        </p:txBody>
      </p:sp>
      <p:sp>
        <p:nvSpPr>
          <p:cNvPr id="6" name="Shape 2"/>
          <p:cNvSpPr/>
          <p:nvPr/>
        </p:nvSpPr>
        <p:spPr>
          <a:xfrm>
            <a:off x="548640" y="1188720"/>
            <a:ext cx="3931920" cy="2377440"/>
          </a:xfrm>
          <a:prstGeom prst="roundRect">
            <a:avLst>
              <a:gd name="adj" fmla="val 3077"/>
            </a:avLst>
          </a:prstGeom>
          <a:solidFill>
            <a:srgbClr val="FBE9EA"/>
          </a:solidFill>
          <a:ln/>
        </p:spPr>
      </p:sp>
      <p:sp>
        <p:nvSpPr>
          <p:cNvPr id="7" name="Text 3"/>
          <p:cNvSpPr/>
          <p:nvPr/>
        </p:nvSpPr>
        <p:spPr>
          <a:xfrm>
            <a:off x="731520" y="1316736"/>
            <a:ext cx="3566160" cy="320040"/>
          </a:xfrm>
          <a:prstGeom prst="rect">
            <a:avLst/>
          </a:prstGeom>
          <a:noFill/>
          <a:ln/>
        </p:spPr>
        <p:txBody>
          <a:bodyPr wrap="square" lIns="0" tIns="0" rIns="0" bIns="0" rtlCol="0" anchor="ctr"/>
          <a:lstStyle/>
          <a:p>
            <a:pPr indent="0" marL="0">
              <a:buNone/>
            </a:pPr>
            <a:r>
              <a:rPr lang="en-US" sz="1500" b="1" dirty="0">
                <a:solidFill>
                  <a:srgbClr val="990011"/>
                </a:solidFill>
                <a:latin typeface="Cambria" pitchFamily="34" charset="0"/>
                <a:ea typeface="Cambria" pitchFamily="34" charset="-122"/>
                <a:cs typeface="Cambria" pitchFamily="34" charset="-120"/>
              </a:rPr>
              <a:t>Layout table (do not)</a:t>
            </a:r>
            <a:endParaRPr lang="en-US" sz="1500" dirty="0"/>
          </a:p>
        </p:txBody>
      </p:sp>
      <p:sp>
        <p:nvSpPr>
          <p:cNvPr id="8" name="Text 4"/>
          <p:cNvSpPr/>
          <p:nvPr/>
        </p:nvSpPr>
        <p:spPr>
          <a:xfrm>
            <a:off x="731520" y="1737360"/>
            <a:ext cx="3566160" cy="1691640"/>
          </a:xfrm>
          <a:prstGeom prst="rect">
            <a:avLst/>
          </a:prstGeom>
          <a:noFill/>
          <a:ln/>
        </p:spPr>
        <p:txBody>
          <a:bodyPr wrap="square" lIns="0" tIns="0" rIns="0" bIns="0" rtlCol="0" anchor="t"/>
          <a:lstStyle/>
          <a:p>
            <a:pPr indent="0" marL="0">
              <a:lnSpc>
                <a:spcPts val="1700"/>
              </a:lnSpc>
              <a:buNone/>
            </a:pPr>
            <a:r>
              <a:rPr lang="en-US" sz="1250" dirty="0">
                <a:solidFill>
                  <a:srgbClr val="2C3547"/>
                </a:solidFill>
                <a:latin typeface="Calibri" pitchFamily="34" charset="0"/>
                <a:ea typeface="Calibri" pitchFamily="34" charset="-122"/>
                <a:cs typeface="Calibri" pitchFamily="34" charset="-120"/>
              </a:rPr>
              <a:t>A table that puts the logo left and the menu right</a:t>
            </a:r>
            <a:endParaRPr lang="en-US" sz="1250" dirty="0"/>
          </a:p>
          <a:p>
            <a:pPr indent="0" marL="0">
              <a:lnSpc>
                <a:spcPts val="1700"/>
              </a:lnSpc>
              <a:buNone/>
            </a:pPr>
            <a:r>
              <a:rPr lang="en-US" sz="1250" dirty="0">
                <a:solidFill>
                  <a:srgbClr val="2C3547"/>
                </a:solidFill>
                <a:latin typeface="Calibri" pitchFamily="34" charset="0"/>
                <a:ea typeface="Calibri" pitchFamily="34" charset="-122"/>
                <a:cs typeface="Calibri" pitchFamily="34" charset="-120"/>
              </a:rPr>
              <a:t>Screen reader: "table, 1 row, 2 columns…" — nonsense</a:t>
            </a:r>
            <a:endParaRPr lang="en-US" sz="1250" dirty="0"/>
          </a:p>
          <a:p>
            <a:pPr indent="0" marL="0">
              <a:lnSpc>
                <a:spcPts val="1700"/>
              </a:lnSpc>
              <a:buNone/>
            </a:pPr>
            <a:r>
              <a:rPr lang="en-US" sz="1250" dirty="0">
                <a:solidFill>
                  <a:srgbClr val="2C3547"/>
                </a:solidFill>
                <a:latin typeface="Calibri" pitchFamily="34" charset="0"/>
                <a:ea typeface="Calibri" pitchFamily="34" charset="-122"/>
                <a:cs typeface="Calibri" pitchFamily="34" charset="-120"/>
              </a:rPr>
              <a:t>Hard to change later</a:t>
            </a:r>
            <a:endParaRPr lang="en-US" sz="1250" dirty="0"/>
          </a:p>
        </p:txBody>
      </p:sp>
      <p:sp>
        <p:nvSpPr>
          <p:cNvPr id="9" name="Shape 5"/>
          <p:cNvSpPr/>
          <p:nvPr/>
        </p:nvSpPr>
        <p:spPr>
          <a:xfrm>
            <a:off x="4663440" y="1188720"/>
            <a:ext cx="3931920" cy="2377440"/>
          </a:xfrm>
          <a:prstGeom prst="roundRect">
            <a:avLst>
              <a:gd name="adj" fmla="val 3077"/>
            </a:avLst>
          </a:prstGeom>
          <a:solidFill>
            <a:srgbClr val="E8F3EA"/>
          </a:solidFill>
          <a:ln/>
        </p:spPr>
      </p:sp>
      <p:sp>
        <p:nvSpPr>
          <p:cNvPr id="10" name="Text 6"/>
          <p:cNvSpPr/>
          <p:nvPr/>
        </p:nvSpPr>
        <p:spPr>
          <a:xfrm>
            <a:off x="4846320" y="1316736"/>
            <a:ext cx="3566160" cy="320040"/>
          </a:xfrm>
          <a:prstGeom prst="rect">
            <a:avLst/>
          </a:prstGeom>
          <a:noFill/>
          <a:ln/>
        </p:spPr>
        <p:txBody>
          <a:bodyPr wrap="square" lIns="0" tIns="0" rIns="0" bIns="0" rtlCol="0" anchor="ctr"/>
          <a:lstStyle/>
          <a:p>
            <a:pPr indent="0" marL="0">
              <a:buNone/>
            </a:pPr>
            <a:r>
              <a:rPr lang="en-US" sz="1500" b="1" dirty="0">
                <a:solidFill>
                  <a:srgbClr val="1E6B34"/>
                </a:solidFill>
                <a:latin typeface="Cambria" pitchFamily="34" charset="0"/>
                <a:ea typeface="Cambria" pitchFamily="34" charset="-122"/>
                <a:cs typeface="Cambria" pitchFamily="34" charset="-120"/>
              </a:rPr>
              <a:t>Data table (yes)</a:t>
            </a:r>
            <a:endParaRPr lang="en-US" sz="1500" dirty="0"/>
          </a:p>
        </p:txBody>
      </p:sp>
      <p:sp>
        <p:nvSpPr>
          <p:cNvPr id="11" name="Text 7"/>
          <p:cNvSpPr/>
          <p:nvPr/>
        </p:nvSpPr>
        <p:spPr>
          <a:xfrm>
            <a:off x="4846320" y="1737360"/>
            <a:ext cx="3566160" cy="1691640"/>
          </a:xfrm>
          <a:prstGeom prst="rect">
            <a:avLst/>
          </a:prstGeom>
          <a:noFill/>
          <a:ln/>
        </p:spPr>
        <p:txBody>
          <a:bodyPr wrap="square" lIns="0" tIns="0" rIns="0" bIns="0" rtlCol="0" anchor="t"/>
          <a:lstStyle/>
          <a:p>
            <a:pPr indent="0" marL="0">
              <a:lnSpc>
                <a:spcPts val="1700"/>
              </a:lnSpc>
              <a:buNone/>
            </a:pPr>
            <a:r>
              <a:rPr lang="en-US" sz="1250" dirty="0">
                <a:solidFill>
                  <a:srgbClr val="2C3547"/>
                </a:solidFill>
                <a:latin typeface="Calibri" pitchFamily="34" charset="0"/>
                <a:ea typeface="Calibri" pitchFamily="34" charset="-122"/>
                <a:cs typeface="Calibri" pitchFamily="34" charset="-120"/>
              </a:rPr>
              <a:t>The canteen price board: item | price</a:t>
            </a:r>
            <a:endParaRPr lang="en-US" sz="1250" dirty="0"/>
          </a:p>
          <a:p>
            <a:pPr indent="0" marL="0">
              <a:lnSpc>
                <a:spcPts val="1700"/>
              </a:lnSpc>
              <a:buNone/>
            </a:pPr>
            <a:r>
              <a:rPr lang="en-US" sz="1250" dirty="0">
                <a:solidFill>
                  <a:srgbClr val="2C3547"/>
                </a:solidFill>
                <a:latin typeface="Calibri" pitchFamily="34" charset="0"/>
                <a:ea typeface="Calibri" pitchFamily="34" charset="-122"/>
                <a:cs typeface="Calibri" pitchFamily="34" charset="-120"/>
              </a:rPr>
              <a:t>Exam results: name | subject | marks</a:t>
            </a:r>
            <a:endParaRPr lang="en-US" sz="1250" dirty="0"/>
          </a:p>
          <a:p>
            <a:pPr indent="0" marL="0">
              <a:lnSpc>
                <a:spcPts val="1700"/>
              </a:lnSpc>
              <a:buNone/>
            </a:pPr>
            <a:r>
              <a:rPr lang="en-US" sz="1250" dirty="0">
                <a:solidFill>
                  <a:srgbClr val="2C3547"/>
                </a:solidFill>
                <a:latin typeface="Calibri" pitchFamily="34" charset="0"/>
                <a:ea typeface="Calibri" pitchFamily="34" charset="-122"/>
                <a:cs typeface="Calibri" pitchFamily="34" charset="-120"/>
              </a:rPr>
              <a:t>The TSI timetable: time | Sun … Thu</a:t>
            </a:r>
            <a:endParaRPr lang="en-US" sz="1250" dirty="0"/>
          </a:p>
        </p:txBody>
      </p:sp>
      <p:sp>
        <p:nvSpPr>
          <p:cNvPr id="12" name="Shape 8"/>
          <p:cNvSpPr/>
          <p:nvPr/>
        </p:nvSpPr>
        <p:spPr>
          <a:xfrm>
            <a:off x="548640" y="3840480"/>
            <a:ext cx="8046720" cy="548640"/>
          </a:xfrm>
          <a:prstGeom prst="roundRect">
            <a:avLst>
              <a:gd name="adj" fmla="val 13333"/>
            </a:avLst>
          </a:prstGeom>
          <a:solidFill>
            <a:srgbClr val="14213D"/>
          </a:solidFill>
          <a:ln/>
        </p:spPr>
      </p:sp>
      <p:sp>
        <p:nvSpPr>
          <p:cNvPr id="13" name="Text 9"/>
          <p:cNvSpPr/>
          <p:nvPr/>
        </p:nvSpPr>
        <p:spPr>
          <a:xfrm>
            <a:off x="749808" y="3840480"/>
            <a:ext cx="7644384"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If it has rows and columns that MEAN something, it is a table.</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clock-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612648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D1-11  ·  Broken Timetable</a:t>
            </a:r>
            <a:endParaRPr lang="en-US" sz="2700" dirty="0"/>
          </a:p>
        </p:txBody>
      </p:sp>
      <p:sp>
        <p:nvSpPr>
          <p:cNvPr id="5" name="Text 2"/>
          <p:cNvSpPr/>
          <p:nvPr/>
        </p:nvSpPr>
        <p:spPr>
          <a:xfrm>
            <a:off x="7315200" y="402336"/>
            <a:ext cx="1417320" cy="310896"/>
          </a:xfrm>
          <a:prstGeom prst="roundRect">
            <a:avLst>
              <a:gd name="adj" fmla="val 50000"/>
            </a:avLst>
          </a:prstGeom>
          <a:solidFill>
            <a:srgbClr val="F5EBD8"/>
          </a:solidFill>
          <a:ln/>
        </p:spPr>
        <p:txBody>
          <a:bodyPr wrap="square" lIns="0" tIns="0" rIns="0" bIns="0" rtlCol="0" anchor="ctr"/>
          <a:lstStyle/>
          <a:p>
            <a:pPr algn="ctr" indent="0" marL="0">
              <a:buNone/>
            </a:pPr>
            <a:r>
              <a:rPr lang="en-US" sz="1100" b="1" spc="200" kern="0" dirty="0">
                <a:solidFill>
                  <a:srgbClr val="9A701F"/>
                </a:solidFill>
                <a:latin typeface="Calibri" pitchFamily="34" charset="0"/>
                <a:ea typeface="Calibri" pitchFamily="34" charset="-122"/>
                <a:cs typeface="Calibri" pitchFamily="34" charset="-120"/>
              </a:rPr>
              <a:t>ACTIVITY</a:t>
            </a:r>
            <a:endParaRPr lang="en-US" sz="1100" dirty="0"/>
          </a:p>
        </p:txBody>
      </p:sp>
      <p:sp>
        <p:nvSpPr>
          <p:cNvPr id="7" name="Text 3"/>
          <p:cNvSpPr/>
          <p:nvPr/>
        </p:nvSpPr>
        <p:spPr>
          <a:xfrm>
            <a:off x="548640" y="1078992"/>
            <a:ext cx="8046720" cy="274320"/>
          </a:xfrm>
          <a:prstGeom prst="rect">
            <a:avLst/>
          </a:prstGeom>
          <a:noFill/>
          <a:ln/>
        </p:spPr>
        <p:txBody>
          <a:bodyPr wrap="square" lIns="0" tIns="0" rIns="0" bIns="0" rtlCol="0" anchor="ctr"/>
          <a:lstStyle/>
          <a:p>
            <a:pPr indent="0" marL="0">
              <a:buNone/>
            </a:pPr>
            <a:r>
              <a:rPr lang="en-US" sz="1300" b="1" dirty="0">
                <a:solidFill>
                  <a:srgbClr val="990011"/>
                </a:solidFill>
                <a:latin typeface="Calibri" pitchFamily="34" charset="0"/>
                <a:ea typeface="Calibri" pitchFamily="34" charset="-122"/>
                <a:cs typeface="Calibri" pitchFamily="34" charset="-120"/>
              </a:rPr>
              <a:t>8 minutes  ·  solo  ·  W2D1/classwork/D1-11-broken-timetable/</a:t>
            </a:r>
            <a:endParaRPr lang="en-US" sz="1300" dirty="0"/>
          </a:p>
        </p:txBody>
      </p:sp>
      <p:sp>
        <p:nvSpPr>
          <p:cNvPr id="8" name="Text 4"/>
          <p:cNvSpPr/>
          <p:nvPr/>
        </p:nvSpPr>
        <p:spPr>
          <a:xfrm>
            <a:off x="566928" y="15544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5"/>
          <p:cNvSpPr/>
          <p:nvPr/>
        </p:nvSpPr>
        <p:spPr>
          <a:xfrm>
            <a:off x="1005840" y="15270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Open index.html: TSI Week 2 timetable</a:t>
            </a:r>
            <a:endParaRPr lang="en-US" sz="1350" dirty="0"/>
          </a:p>
        </p:txBody>
      </p:sp>
      <p:sp>
        <p:nvSpPr>
          <p:cNvPr id="10" name="Text 6"/>
          <p:cNvSpPr/>
          <p:nvPr/>
        </p:nvSpPr>
        <p:spPr>
          <a:xfrm>
            <a:off x="566928" y="20116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7"/>
          <p:cNvSpPr/>
          <p:nvPr/>
        </p:nvSpPr>
        <p:spPr>
          <a:xfrm>
            <a:off x="1005840" y="19842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6 columns: Time + Sun – Thu</a:t>
            </a:r>
            <a:endParaRPr lang="en-US" sz="1350" dirty="0"/>
          </a:p>
        </p:txBody>
      </p:sp>
      <p:sp>
        <p:nvSpPr>
          <p:cNvPr id="12" name="Text 8"/>
          <p:cNvSpPr/>
          <p:nvPr/>
        </p:nvSpPr>
        <p:spPr>
          <a:xfrm>
            <a:off x="566928" y="24688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9"/>
          <p:cNvSpPr/>
          <p:nvPr/>
        </p:nvSpPr>
        <p:spPr>
          <a:xfrm>
            <a:off x="1005840" y="24414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Count the cells in EVERY row</a:t>
            </a:r>
            <a:endParaRPr lang="en-US" sz="1350" dirty="0"/>
          </a:p>
        </p:txBody>
      </p:sp>
      <p:sp>
        <p:nvSpPr>
          <p:cNvPr id="14" name="Text 10"/>
          <p:cNvSpPr/>
          <p:nvPr/>
        </p:nvSpPr>
        <p:spPr>
          <a:xfrm>
            <a:off x="566928" y="29260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1"/>
          <p:cNvSpPr/>
          <p:nvPr/>
        </p:nvSpPr>
        <p:spPr>
          <a:xfrm>
            <a:off x="1005840" y="28986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Check the header row and the "Lunch" row</a:t>
            </a:r>
            <a:endParaRPr lang="en-US" sz="1350" dirty="0"/>
          </a:p>
        </p:txBody>
      </p:sp>
      <p:sp>
        <p:nvSpPr>
          <p:cNvPr id="16" name="Text 12"/>
          <p:cNvSpPr/>
          <p:nvPr/>
        </p:nvSpPr>
        <p:spPr>
          <a:xfrm>
            <a:off x="566928" y="33832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7" name="Text 13"/>
          <p:cNvSpPr/>
          <p:nvPr/>
        </p:nvSpPr>
        <p:spPr>
          <a:xfrm>
            <a:off x="1005840" y="33558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Look above the table too</a:t>
            </a:r>
            <a:endParaRPr lang="en-US" sz="1350" dirty="0"/>
          </a:p>
        </p:txBody>
      </p:sp>
      <p:sp>
        <p:nvSpPr>
          <p:cNvPr id="18" name="Shape 14"/>
          <p:cNvSpPr/>
          <p:nvPr/>
        </p:nvSpPr>
        <p:spPr>
          <a:xfrm>
            <a:off x="5760720" y="1554480"/>
            <a:ext cx="2834640" cy="2331720"/>
          </a:xfrm>
          <a:prstGeom prst="roundRect">
            <a:avLst>
              <a:gd name="adj" fmla="val 3137"/>
            </a:avLst>
          </a:prstGeom>
          <a:solidFill>
            <a:srgbClr val="FFF3F4"/>
          </a:solidFill>
          <a:ln/>
        </p:spPr>
      </p:sp>
      <p:sp>
        <p:nvSpPr>
          <p:cNvPr id="19" name="Text 15"/>
          <p:cNvSpPr/>
          <p:nvPr/>
        </p:nvSpPr>
        <p:spPr>
          <a:xfrm>
            <a:off x="5943600" y="1682496"/>
            <a:ext cx="2468880" cy="320040"/>
          </a:xfrm>
          <a:prstGeom prst="rect">
            <a:avLst/>
          </a:prstGeom>
          <a:noFill/>
          <a:ln/>
        </p:spPr>
        <p:txBody>
          <a:bodyPr wrap="square" lIns="0" tIns="0" rIns="0" bIns="0" rtlCol="0" anchor="ctr"/>
          <a:lstStyle/>
          <a:p>
            <a:pPr indent="0" marL="0">
              <a:buNone/>
            </a:pPr>
            <a:r>
              <a:rPr lang="en-US" sz="1600" b="1" dirty="0">
                <a:solidFill>
                  <a:srgbClr val="990011"/>
                </a:solidFill>
                <a:latin typeface="Cambria" pitchFamily="34" charset="0"/>
                <a:ea typeface="Cambria" pitchFamily="34" charset="-122"/>
                <a:cs typeface="Cambria" pitchFamily="34" charset="-120"/>
              </a:rPr>
              <a:t>DONE looks like</a:t>
            </a:r>
            <a:endParaRPr lang="en-US" sz="1600" dirty="0"/>
          </a:p>
        </p:txBody>
      </p:sp>
      <p:sp>
        <p:nvSpPr>
          <p:cNvPr id="20" name="Text 16"/>
          <p:cNvSpPr/>
          <p:nvPr/>
        </p:nvSpPr>
        <p:spPr>
          <a:xfrm>
            <a:off x="5943600" y="2057400"/>
            <a:ext cx="2468880" cy="169164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Header row bold.</a:t>
            </a: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Every row = 6 columns.</a:t>
            </a: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"Lunch" spans the whole week.</a:t>
            </a: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No cell sticks out.</a:t>
            </a: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No stray text above the table.</a:t>
            </a:r>
            <a:endParaRPr lang="en-US" sz="1250" dirty="0"/>
          </a:p>
        </p:txBody>
      </p:sp>
      <p:sp>
        <p:nvSpPr>
          <p:cNvPr id="21" name="Shape 17"/>
          <p:cNvSpPr/>
          <p:nvPr/>
        </p:nvSpPr>
        <p:spPr>
          <a:xfrm>
            <a:off x="548640" y="4206240"/>
            <a:ext cx="8046720" cy="502920"/>
          </a:xfrm>
          <a:prstGeom prst="roundRect">
            <a:avLst>
              <a:gd name="adj" fmla="val 14545"/>
            </a:avLst>
          </a:prstGeom>
          <a:solidFill>
            <a:srgbClr val="F5EBD8"/>
          </a:solidFill>
          <a:ln/>
        </p:spPr>
      </p:sp>
      <p:sp>
        <p:nvSpPr>
          <p:cNvPr id="22" name="Text 18"/>
          <p:cNvSpPr/>
          <p:nvPr/>
        </p:nvSpPr>
        <p:spPr>
          <a:xfrm>
            <a:off x="749808" y="4206240"/>
            <a:ext cx="7644384" cy="502920"/>
          </a:xfrm>
          <a:prstGeom prst="rect">
            <a:avLst/>
          </a:prstGeom>
          <a:noFill/>
          <a:ln/>
        </p:spPr>
        <p:txBody>
          <a:bodyPr wrap="square" lIns="0" tIns="0" rIns="0" bIns="0" rtlCol="0" anchor="ctr"/>
          <a:lstStyle/>
          <a:p>
            <a:pPr indent="0" marL="0">
              <a:buNone/>
            </a:pPr>
            <a:r>
              <a:rPr lang="en-US" sz="1250" b="1" dirty="0">
                <a:solidFill>
                  <a:srgbClr val="9A701F"/>
                </a:solidFill>
                <a:latin typeface="Calibri" pitchFamily="34" charset="0"/>
                <a:ea typeface="Calibri" pitchFamily="34" charset="-122"/>
                <a:cs typeface="Calibri" pitchFamily="34" charset="-120"/>
              </a:rPr>
              <a:t>5 bugs. Find at least 3.  </a:t>
            </a:r>
            <a:pPr indent="0" marL="0">
              <a:buNone/>
            </a:pPr>
            <a:r>
              <a:rPr lang="en-US" sz="1250" dirty="0">
                <a:solidFill>
                  <a:srgbClr val="2C3547"/>
                </a:solidFill>
                <a:latin typeface="Calibri" pitchFamily="34" charset="0"/>
                <a:ea typeface="Calibri" pitchFamily="34" charset="-122"/>
                <a:cs typeface="Calibri" pitchFamily="34" charset="-120"/>
              </a:rPr>
              <a:t>Then the reveal: solution/BUGS.md on the projector. Write your score line in the README.</a:t>
            </a:r>
            <a:endParaRPr lang="en-US" sz="12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award-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612648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D1-12  ·  Exam results table</a:t>
            </a:r>
            <a:endParaRPr lang="en-US" sz="2700" dirty="0"/>
          </a:p>
        </p:txBody>
      </p:sp>
      <p:sp>
        <p:nvSpPr>
          <p:cNvPr id="5" name="Text 2"/>
          <p:cNvSpPr/>
          <p:nvPr/>
        </p:nvSpPr>
        <p:spPr>
          <a:xfrm>
            <a:off x="7315200" y="402336"/>
            <a:ext cx="1417320" cy="310896"/>
          </a:xfrm>
          <a:prstGeom prst="roundRect">
            <a:avLst>
              <a:gd name="adj" fmla="val 50000"/>
            </a:avLst>
          </a:prstGeom>
          <a:solidFill>
            <a:srgbClr val="F5EBD8"/>
          </a:solidFill>
          <a:ln/>
        </p:spPr>
        <p:txBody>
          <a:bodyPr wrap="square" lIns="0" tIns="0" rIns="0" bIns="0" rtlCol="0" anchor="ctr"/>
          <a:lstStyle/>
          <a:p>
            <a:pPr algn="ctr" indent="0" marL="0">
              <a:buNone/>
            </a:pPr>
            <a:r>
              <a:rPr lang="en-US" sz="1100" b="1" spc="200" kern="0" dirty="0">
                <a:solidFill>
                  <a:srgbClr val="9A701F"/>
                </a:solidFill>
                <a:latin typeface="Calibri" pitchFamily="34" charset="0"/>
                <a:ea typeface="Calibri" pitchFamily="34" charset="-122"/>
                <a:cs typeface="Calibri" pitchFamily="34" charset="-120"/>
              </a:rPr>
              <a:t>ACTIVITY</a:t>
            </a:r>
            <a:endParaRPr lang="en-US" sz="1100" dirty="0"/>
          </a:p>
        </p:txBody>
      </p:sp>
      <p:sp>
        <p:nvSpPr>
          <p:cNvPr id="7" name="Text 3"/>
          <p:cNvSpPr/>
          <p:nvPr/>
        </p:nvSpPr>
        <p:spPr>
          <a:xfrm>
            <a:off x="548640" y="1078992"/>
            <a:ext cx="8046720" cy="274320"/>
          </a:xfrm>
          <a:prstGeom prst="rect">
            <a:avLst/>
          </a:prstGeom>
          <a:noFill/>
          <a:ln/>
        </p:spPr>
        <p:txBody>
          <a:bodyPr wrap="square" lIns="0" tIns="0" rIns="0" bIns="0" rtlCol="0" anchor="ctr"/>
          <a:lstStyle/>
          <a:p>
            <a:pPr indent="0" marL="0">
              <a:buNone/>
            </a:pPr>
            <a:r>
              <a:rPr lang="en-US" sz="1300" b="1" dirty="0">
                <a:solidFill>
                  <a:srgbClr val="990011"/>
                </a:solidFill>
                <a:latin typeface="Calibri" pitchFamily="34" charset="0"/>
                <a:ea typeface="Calibri" pitchFamily="34" charset="-122"/>
                <a:cs typeface="Calibri" pitchFamily="34" charset="-120"/>
              </a:rPr>
              <a:t>6 minutes  ·  solo  ·  W2D1/classwork/D1-12-exam-results-table/</a:t>
            </a:r>
            <a:endParaRPr lang="en-US" sz="1300" dirty="0"/>
          </a:p>
        </p:txBody>
      </p:sp>
      <p:sp>
        <p:nvSpPr>
          <p:cNvPr id="8" name="Text 4"/>
          <p:cNvSpPr/>
          <p:nvPr/>
        </p:nvSpPr>
        <p:spPr>
          <a:xfrm>
            <a:off x="566928" y="15544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5"/>
          <p:cNvSpPr/>
          <p:nvPr/>
        </p:nvSpPr>
        <p:spPr>
          <a:xfrm>
            <a:off x="1005840" y="15270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Open index.html: a plain table of results</a:t>
            </a:r>
            <a:endParaRPr lang="en-US" sz="1350" dirty="0"/>
          </a:p>
        </p:txBody>
      </p:sp>
      <p:sp>
        <p:nvSpPr>
          <p:cNvPr id="10" name="Text 6"/>
          <p:cNvSpPr/>
          <p:nvPr/>
        </p:nvSpPr>
        <p:spPr>
          <a:xfrm>
            <a:off x="566928" y="20116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7"/>
          <p:cNvSpPr/>
          <p:nvPr/>
        </p:nvSpPr>
        <p:spPr>
          <a:xfrm>
            <a:off x="1005840" y="19842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Add a &lt;caption&gt;</a:t>
            </a:r>
            <a:endParaRPr lang="en-US" sz="1350" dirty="0"/>
          </a:p>
        </p:txBody>
      </p:sp>
      <p:sp>
        <p:nvSpPr>
          <p:cNvPr id="12" name="Text 8"/>
          <p:cNvSpPr/>
          <p:nvPr/>
        </p:nvSpPr>
        <p:spPr>
          <a:xfrm>
            <a:off x="566928" y="24688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9"/>
          <p:cNvSpPr/>
          <p:nvPr/>
        </p:nvSpPr>
        <p:spPr>
          <a:xfrm>
            <a:off x="1005840" y="24414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Wrap rows in &lt;thead&gt; and &lt;tbody&gt;</a:t>
            </a:r>
            <a:endParaRPr lang="en-US" sz="1350" dirty="0"/>
          </a:p>
        </p:txBody>
      </p:sp>
      <p:sp>
        <p:nvSpPr>
          <p:cNvPr id="14" name="Text 10"/>
          <p:cNvSpPr/>
          <p:nvPr/>
        </p:nvSpPr>
        <p:spPr>
          <a:xfrm>
            <a:off x="566928" y="29260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1"/>
          <p:cNvSpPr/>
          <p:nvPr/>
        </p:nvSpPr>
        <p:spPr>
          <a:xfrm>
            <a:off x="1005840" y="28986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Heading cells: &lt;th scope="col"&gt;</a:t>
            </a:r>
            <a:endParaRPr lang="en-US" sz="1350" dirty="0"/>
          </a:p>
        </p:txBody>
      </p:sp>
      <p:sp>
        <p:nvSpPr>
          <p:cNvPr id="16" name="Text 12"/>
          <p:cNvSpPr/>
          <p:nvPr/>
        </p:nvSpPr>
        <p:spPr>
          <a:xfrm>
            <a:off x="566928" y="33832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7" name="Text 13"/>
          <p:cNvSpPr/>
          <p:nvPr/>
        </p:nvSpPr>
        <p:spPr>
          <a:xfrm>
            <a:off x="1005840" y="33558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Add a "Total" row using colspan. Bonus: &lt;tfoot&gt;</a:t>
            </a:r>
            <a:endParaRPr lang="en-US" sz="1350" dirty="0"/>
          </a:p>
        </p:txBody>
      </p:sp>
      <p:sp>
        <p:nvSpPr>
          <p:cNvPr id="18" name="Shape 14"/>
          <p:cNvSpPr/>
          <p:nvPr/>
        </p:nvSpPr>
        <p:spPr>
          <a:xfrm>
            <a:off x="5760720" y="1554480"/>
            <a:ext cx="2834640" cy="2331720"/>
          </a:xfrm>
          <a:prstGeom prst="roundRect">
            <a:avLst>
              <a:gd name="adj" fmla="val 3137"/>
            </a:avLst>
          </a:prstGeom>
          <a:solidFill>
            <a:srgbClr val="FFF3F4"/>
          </a:solidFill>
          <a:ln/>
        </p:spPr>
      </p:sp>
      <p:sp>
        <p:nvSpPr>
          <p:cNvPr id="19" name="Text 15"/>
          <p:cNvSpPr/>
          <p:nvPr/>
        </p:nvSpPr>
        <p:spPr>
          <a:xfrm>
            <a:off x="5943600" y="1682496"/>
            <a:ext cx="2468880" cy="320040"/>
          </a:xfrm>
          <a:prstGeom prst="rect">
            <a:avLst/>
          </a:prstGeom>
          <a:noFill/>
          <a:ln/>
        </p:spPr>
        <p:txBody>
          <a:bodyPr wrap="square" lIns="0" tIns="0" rIns="0" bIns="0" rtlCol="0" anchor="ctr"/>
          <a:lstStyle/>
          <a:p>
            <a:pPr indent="0" marL="0">
              <a:buNone/>
            </a:pPr>
            <a:r>
              <a:rPr lang="en-US" sz="1600" b="1" dirty="0">
                <a:solidFill>
                  <a:srgbClr val="990011"/>
                </a:solidFill>
                <a:latin typeface="Cambria" pitchFamily="34" charset="0"/>
                <a:ea typeface="Cambria" pitchFamily="34" charset="-122"/>
                <a:cs typeface="Cambria" pitchFamily="34" charset="-120"/>
              </a:rPr>
              <a:t>DONE looks like</a:t>
            </a:r>
            <a:endParaRPr lang="en-US" sz="1600" dirty="0"/>
          </a:p>
        </p:txBody>
      </p:sp>
      <p:sp>
        <p:nvSpPr>
          <p:cNvPr id="20" name="Text 16"/>
          <p:cNvSpPr/>
          <p:nvPr/>
        </p:nvSpPr>
        <p:spPr>
          <a:xfrm>
            <a:off x="5943600" y="2057400"/>
            <a:ext cx="2468880" cy="169164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The table has a title, bold column headings, and a Total row that spans the right columns.</a:t>
            </a:r>
            <a:endParaRPr lang="en-US" sz="1250" dirty="0"/>
          </a:p>
        </p:txBody>
      </p:sp>
      <p:sp>
        <p:nvSpPr>
          <p:cNvPr id="21" name="Shape 17"/>
          <p:cNvSpPr/>
          <p:nvPr/>
        </p:nvSpPr>
        <p:spPr>
          <a:xfrm>
            <a:off x="548640" y="4206240"/>
            <a:ext cx="8046720" cy="502920"/>
          </a:xfrm>
          <a:prstGeom prst="roundRect">
            <a:avLst>
              <a:gd name="adj" fmla="val 14545"/>
            </a:avLst>
          </a:prstGeom>
          <a:solidFill>
            <a:srgbClr val="F5EBD8"/>
          </a:solidFill>
          <a:ln/>
        </p:spPr>
      </p:sp>
      <p:sp>
        <p:nvSpPr>
          <p:cNvPr id="22" name="Text 18"/>
          <p:cNvSpPr/>
          <p:nvPr/>
        </p:nvSpPr>
        <p:spPr>
          <a:xfrm>
            <a:off x="749808" y="4206240"/>
            <a:ext cx="7644384" cy="502920"/>
          </a:xfrm>
          <a:prstGeom prst="rect">
            <a:avLst/>
          </a:prstGeom>
          <a:noFill/>
          <a:ln/>
        </p:spPr>
        <p:txBody>
          <a:bodyPr wrap="square" lIns="0" tIns="0" rIns="0" bIns="0" rtlCol="0" anchor="ctr"/>
          <a:lstStyle/>
          <a:p>
            <a:pPr indent="0" marL="0">
              <a:buNone/>
            </a:pPr>
            <a:r>
              <a:rPr lang="en-US" sz="1250" b="1" dirty="0">
                <a:solidFill>
                  <a:srgbClr val="9A701F"/>
                </a:solidFill>
                <a:latin typeface="Calibri" pitchFamily="34" charset="0"/>
                <a:ea typeface="Calibri" pitchFamily="34" charset="-122"/>
                <a:cs typeface="Calibri" pitchFamily="34" charset="-120"/>
              </a:rPr>
              <a:t>No rowspan here.  </a:t>
            </a:r>
            <a:pPr indent="0" marL="0">
              <a:buNone/>
            </a:pPr>
            <a:r>
              <a:rPr lang="en-US" sz="1250" dirty="0">
                <a:solidFill>
                  <a:srgbClr val="2C3547"/>
                </a:solidFill>
                <a:latin typeface="Calibri" pitchFamily="34" charset="0"/>
                <a:ea typeface="Calibri" pitchFamily="34" charset="-122"/>
                <a:cs typeface="Calibri" pitchFamily="34" charset="-120"/>
              </a:rPr>
              <a:t>You practised it in D1-11. Today: caption, thead/tbody, scope, colspan.</a:t>
            </a:r>
            <a:endParaRPr lang="en-US" sz="12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7498080" y="-1463040"/>
            <a:ext cx="3291840" cy="3291840"/>
          </a:xfrm>
          <a:prstGeom prst="ellipse">
            <a:avLst/>
          </a:prstGeom>
          <a:solidFill>
            <a:srgbClr val="2A3F63">
              <a:alpha val="60000"/>
            </a:srgbClr>
          </a:solidFill>
          <a:ln/>
        </p:spPr>
      </p:sp>
      <p:sp>
        <p:nvSpPr>
          <p:cNvPr id="3" name="Shape 1"/>
          <p:cNvSpPr/>
          <p:nvPr/>
        </p:nvSpPr>
        <p:spPr>
          <a:xfrm>
            <a:off x="-1097280" y="3657600"/>
            <a:ext cx="2743200" cy="2743200"/>
          </a:xfrm>
          <a:prstGeom prst="ellipse">
            <a:avLst/>
          </a:prstGeom>
          <a:solidFill>
            <a:srgbClr val="2A3F63">
              <a:alpha val="45000"/>
            </a:srgbClr>
          </a:solidFill>
          <a:ln/>
        </p:spPr>
      </p:sp>
      <p:sp>
        <p:nvSpPr>
          <p:cNvPr id="4" name="Text 2"/>
          <p:cNvSpPr/>
          <p:nvPr/>
        </p:nvSpPr>
        <p:spPr>
          <a:xfrm>
            <a:off x="640080" y="1051560"/>
            <a:ext cx="7863840" cy="365760"/>
          </a:xfrm>
          <a:prstGeom prst="rect">
            <a:avLst/>
          </a:prstGeom>
          <a:noFill/>
          <a:ln/>
        </p:spPr>
        <p:txBody>
          <a:bodyPr wrap="square" lIns="0" tIns="0" rIns="0" bIns="0" rtlCol="0" anchor="ctr"/>
          <a:lstStyle/>
          <a:p>
            <a:pPr indent="0" marL="0">
              <a:buNone/>
            </a:pPr>
            <a:r>
              <a:rPr lang="en-US" sz="1500" b="1" spc="200" kern="0" dirty="0">
                <a:solidFill>
                  <a:srgbClr val="9FB3D1"/>
                </a:solidFill>
                <a:latin typeface="Calibri" pitchFamily="34" charset="0"/>
                <a:ea typeface="Calibri" pitchFamily="34" charset="-122"/>
                <a:cs typeface="Calibri" pitchFamily="34" charset="-120"/>
              </a:rPr>
              <a:t>BREAK</a:t>
            </a:r>
            <a:endParaRPr lang="en-US" sz="1500" dirty="0"/>
          </a:p>
        </p:txBody>
      </p:sp>
      <p:sp>
        <p:nvSpPr>
          <p:cNvPr id="5" name="Text 3"/>
          <p:cNvSpPr/>
          <p:nvPr/>
        </p:nvSpPr>
        <p:spPr>
          <a:xfrm>
            <a:off x="640080" y="1463040"/>
            <a:ext cx="7863840" cy="155448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10 minutes</a:t>
            </a:r>
            <a:endParaRPr lang="en-US" sz="4000" dirty="0"/>
          </a:p>
        </p:txBody>
      </p:sp>
      <p:sp>
        <p:nvSpPr>
          <p:cNvPr id="6" name="Text 4"/>
          <p:cNvSpPr/>
          <p:nvPr/>
        </p:nvSpPr>
        <p:spPr>
          <a:xfrm>
            <a:off x="640080" y="3063240"/>
            <a:ext cx="7680960" cy="685800"/>
          </a:xfrm>
          <a:prstGeom prst="rect">
            <a:avLst/>
          </a:prstGeom>
          <a:noFill/>
          <a:ln/>
        </p:spPr>
        <p:txBody>
          <a:bodyPr wrap="square" lIns="0" tIns="0" rIns="0" bIns="0" rtlCol="0" anchor="t"/>
          <a:lstStyle/>
          <a:p>
            <a:pPr indent="0" marL="0">
              <a:buNone/>
            </a:pPr>
            <a:r>
              <a:rPr lang="en-US" sz="1700" dirty="0">
                <a:solidFill>
                  <a:srgbClr val="CADCFC"/>
                </a:solidFill>
                <a:latin typeface="Calibri" pitchFamily="34" charset="0"/>
                <a:ea typeface="Calibri" pitchFamily="34" charset="-122"/>
                <a:cs typeface="Calibri" pitchFamily="34" charset="-120"/>
              </a:rPr>
              <a:t>Teaser: forms let the visitor talk back.</a:t>
            </a:r>
            <a:endParaRPr lang="en-US" sz="1700" dirty="0"/>
          </a:p>
        </p:txBody>
      </p:sp>
      <p:sp>
        <p:nvSpPr>
          <p:cNvPr id="7" name="Text 5"/>
          <p:cNvSpPr/>
          <p:nvPr/>
        </p:nvSpPr>
        <p:spPr>
          <a:xfrm>
            <a:off x="640080" y="4526280"/>
            <a:ext cx="7863840" cy="320040"/>
          </a:xfrm>
          <a:prstGeom prst="rect">
            <a:avLst/>
          </a:prstGeom>
          <a:noFill/>
          <a:ln/>
        </p:spPr>
        <p:txBody>
          <a:bodyPr wrap="square" lIns="0" tIns="0" rIns="0" bIns="0" rtlCol="0" anchor="ctr"/>
          <a:lstStyle/>
          <a:p>
            <a:pPr indent="0" marL="0">
              <a:buNone/>
            </a:pPr>
            <a:r>
              <a:rPr lang="en-US" sz="1200" dirty="0">
                <a:solidFill>
                  <a:srgbClr val="B9C2CF"/>
                </a:solidFill>
                <a:latin typeface="Calibri" pitchFamily="34" charset="0"/>
                <a:ea typeface="Calibri" pitchFamily="34" charset="-122"/>
                <a:cs typeface="Calibri" pitchFamily="34" charset="-120"/>
              </a:rPr>
              <a:t>AI-Powered Full Stack Developer  ·  Tech Skills Institute Nepal</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edit-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758952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Forms = the order slip</a:t>
            </a:r>
            <a:endParaRPr lang="en-US" sz="27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8138160" cy="914400"/>
        </p:xfrm>
        <a:graphic>
          <a:graphicData uri="http://schemas.openxmlformats.org/drawingml/2006/table">
            <a:tbl>
              <a:tblPr/>
              <a:tblGrid>
                <a:gridCol w="4023360"/>
                <a:gridCol w="411480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On the order slip</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In HTML</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14213D"/>
                    </a:solidFill>
                  </a:tcPr>
                </a:tc>
              </a:tr>
              <a:tr h="420624">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a box to write in</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&lt;input type="text"&gt;</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r>
              <a:tr h="420624">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a tick box</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&lt;input type="checkbox"&gt;</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420624">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"choose one" circles</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&lt;input type="radio" name="batch"&gt;</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r>
              <a:tr h="420624">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a list to pick from</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&lt;select&gt; + &lt;option&gt;</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420624">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the printed word next to a box</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&lt;label for="…"&gt;</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r>
              <a:tr h="420624">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the column the kitchen files it under</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name="…"</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7" name="Shape 2"/>
          <p:cNvSpPr/>
          <p:nvPr/>
        </p:nvSpPr>
        <p:spPr>
          <a:xfrm>
            <a:off x="548640" y="4251960"/>
            <a:ext cx="8046720" cy="457200"/>
          </a:xfrm>
          <a:prstGeom prst="roundRect">
            <a:avLst>
              <a:gd name="adj" fmla="val 16000"/>
            </a:avLst>
          </a:prstGeom>
          <a:solidFill>
            <a:srgbClr val="F5EBD8"/>
          </a:solidFill>
          <a:ln/>
        </p:spPr>
      </p:sp>
      <p:sp>
        <p:nvSpPr>
          <p:cNvPr id="8" name="Text 3"/>
          <p:cNvSpPr/>
          <p:nvPr/>
        </p:nvSpPr>
        <p:spPr>
          <a:xfrm>
            <a:off x="749808" y="4251960"/>
            <a:ext cx="7644384" cy="457200"/>
          </a:xfrm>
          <a:prstGeom prst="rect">
            <a:avLst/>
          </a:prstGeom>
          <a:noFill/>
          <a:ln/>
        </p:spPr>
        <p:txBody>
          <a:bodyPr wrap="square" lIns="0" tIns="0" rIns="0" bIns="0" rtlCol="0" anchor="ctr"/>
          <a:lstStyle/>
          <a:p>
            <a:pPr indent="0" marL="0">
              <a:buNone/>
            </a:pPr>
            <a:r>
              <a:rPr lang="en-US" sz="1250" b="1" dirty="0">
                <a:solidFill>
                  <a:srgbClr val="9A701F"/>
                </a:solidFill>
                <a:latin typeface="Calibri" pitchFamily="34" charset="0"/>
                <a:ea typeface="Calibri" pitchFamily="34" charset="-122"/>
                <a:cs typeface="Calibri" pitchFamily="34" charset="-120"/>
              </a:rPr>
              <a:t>The waiter (server) comes later in the course.  </a:t>
            </a:r>
            <a:pPr indent="0" marL="0">
              <a:buNone/>
            </a:pPr>
            <a:r>
              <a:rPr lang="en-US" sz="1250" dirty="0">
                <a:solidFill>
                  <a:srgbClr val="2C3547"/>
                </a:solidFill>
                <a:latin typeface="Calibri" pitchFamily="34" charset="0"/>
                <a:ea typeface="Calibri" pitchFamily="34" charset="-122"/>
                <a:cs typeface="Calibri" pitchFamily="34" charset="-120"/>
              </a:rPr>
              <a:t>Today the slip goes into the address bar.</a:t>
            </a:r>
            <a:endParaRPr lang="en-US" sz="12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code-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612648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One tag, many types + label for ↔ id</a:t>
            </a:r>
            <a:endParaRPr lang="en-US" sz="2700" dirty="0"/>
          </a:p>
        </p:txBody>
      </p:sp>
      <p:sp>
        <p:nvSpPr>
          <p:cNvPr id="5" name="Text 2"/>
          <p:cNvSpPr/>
          <p:nvPr/>
        </p:nvSpPr>
        <p:spPr>
          <a:xfrm>
            <a:off x="7315200" y="402336"/>
            <a:ext cx="1417320" cy="310896"/>
          </a:xfrm>
          <a:prstGeom prst="roundRect">
            <a:avLst>
              <a:gd name="adj" fmla="val 50000"/>
            </a:avLst>
          </a:prstGeom>
          <a:solidFill>
            <a:srgbClr val="F5EBD8"/>
          </a:solidFill>
          <a:ln/>
        </p:spPr>
        <p:txBody>
          <a:bodyPr wrap="square" lIns="0" tIns="0" rIns="0" bIns="0" rtlCol="0" anchor="ctr"/>
          <a:lstStyle/>
          <a:p>
            <a:pPr algn="ctr" indent="0" marL="0">
              <a:buNone/>
            </a:pPr>
            <a:r>
              <a:rPr lang="en-US" sz="1100" b="1" spc="200" kern="0" dirty="0">
                <a:solidFill>
                  <a:srgbClr val="9A701F"/>
                </a:solidFill>
                <a:latin typeface="Calibri" pitchFamily="34" charset="0"/>
                <a:ea typeface="Calibri" pitchFamily="34" charset="-122"/>
                <a:cs typeface="Calibri" pitchFamily="34" charset="-120"/>
              </a:rPr>
              <a:t>ACTIVITY</a:t>
            </a:r>
            <a:endParaRPr lang="en-US" sz="1100" dirty="0"/>
          </a:p>
        </p:txBody>
      </p:sp>
      <p:sp>
        <p:nvSpPr>
          <p:cNvPr id="7" name="Text 3"/>
          <p:cNvSpPr/>
          <p:nvPr/>
        </p:nvSpPr>
        <p:spPr>
          <a:xfrm>
            <a:off x="548640" y="1078992"/>
            <a:ext cx="8046720" cy="274320"/>
          </a:xfrm>
          <a:prstGeom prst="rect">
            <a:avLst/>
          </a:prstGeom>
          <a:noFill/>
          <a:ln/>
        </p:spPr>
        <p:txBody>
          <a:bodyPr wrap="square" lIns="0" tIns="0" rIns="0" bIns="0" rtlCol="0" anchor="ctr"/>
          <a:lstStyle/>
          <a:p>
            <a:pPr indent="0" marL="0">
              <a:buNone/>
            </a:pPr>
            <a:r>
              <a:rPr lang="en-US" sz="1300" b="1" dirty="0">
                <a:solidFill>
                  <a:srgbClr val="990011"/>
                </a:solidFill>
                <a:latin typeface="Calibri" pitchFamily="34" charset="0"/>
                <a:ea typeface="Calibri" pitchFamily="34" charset="-122"/>
                <a:cs typeface="Calibri" pitchFamily="34" charset="-120"/>
              </a:rPr>
              <a:t>Code-along  ·  2 min  ·  type with me  ·  W2D1/instructor-demos/B8-forms/  (type 01, watch 02–04)</a:t>
            </a:r>
            <a:endParaRPr lang="en-US" sz="1300" dirty="0"/>
          </a:p>
        </p:txBody>
      </p:sp>
      <p:sp>
        <p:nvSpPr>
          <p:cNvPr id="8" name="Shape 4"/>
          <p:cNvSpPr/>
          <p:nvPr/>
        </p:nvSpPr>
        <p:spPr>
          <a:xfrm>
            <a:off x="548640" y="1463040"/>
            <a:ext cx="8046720" cy="2623312"/>
          </a:xfrm>
          <a:prstGeom prst="roundRect">
            <a:avLst>
              <a:gd name="adj" fmla="val 2789"/>
            </a:avLst>
          </a:prstGeom>
          <a:solidFill>
            <a:srgbClr val="16274A"/>
          </a:solidFill>
          <a:ln/>
        </p:spPr>
      </p:sp>
      <p:sp>
        <p:nvSpPr>
          <p:cNvPr id="9" name="Shape 5"/>
          <p:cNvSpPr/>
          <p:nvPr/>
        </p:nvSpPr>
        <p:spPr>
          <a:xfrm>
            <a:off x="694944" y="1581912"/>
            <a:ext cx="82296" cy="82296"/>
          </a:xfrm>
          <a:prstGeom prst="ellipse">
            <a:avLst/>
          </a:prstGeom>
          <a:solidFill>
            <a:srgbClr val="FF5F56"/>
          </a:solidFill>
          <a:ln/>
        </p:spPr>
      </p:sp>
      <p:sp>
        <p:nvSpPr>
          <p:cNvPr id="10" name="Shape 6"/>
          <p:cNvSpPr/>
          <p:nvPr/>
        </p:nvSpPr>
        <p:spPr>
          <a:xfrm>
            <a:off x="841248" y="1581912"/>
            <a:ext cx="82296" cy="82296"/>
          </a:xfrm>
          <a:prstGeom prst="ellipse">
            <a:avLst/>
          </a:prstGeom>
          <a:solidFill>
            <a:srgbClr val="FFBD2E"/>
          </a:solidFill>
          <a:ln/>
        </p:spPr>
      </p:sp>
      <p:sp>
        <p:nvSpPr>
          <p:cNvPr id="11" name="Shape 7"/>
          <p:cNvSpPr/>
          <p:nvPr/>
        </p:nvSpPr>
        <p:spPr>
          <a:xfrm>
            <a:off x="987552" y="1581912"/>
            <a:ext cx="82296" cy="82296"/>
          </a:xfrm>
          <a:prstGeom prst="ellipse">
            <a:avLst/>
          </a:prstGeom>
          <a:solidFill>
            <a:srgbClr val="27C93F"/>
          </a:solidFill>
          <a:ln/>
        </p:spPr>
      </p:sp>
      <p:sp>
        <p:nvSpPr>
          <p:cNvPr id="12" name="Text 8"/>
          <p:cNvSpPr/>
          <p:nvPr/>
        </p:nvSpPr>
        <p:spPr>
          <a:xfrm>
            <a:off x="1188720" y="1517904"/>
            <a:ext cx="7223760" cy="219456"/>
          </a:xfrm>
          <a:prstGeom prst="rect">
            <a:avLst/>
          </a:prstGeom>
          <a:noFill/>
          <a:ln/>
        </p:spPr>
        <p:txBody>
          <a:bodyPr wrap="square" lIns="0" tIns="0" rIns="0" bIns="0" rtlCol="0" anchor="ctr"/>
          <a:lstStyle/>
          <a:p>
            <a:pPr indent="0" marL="0">
              <a:buNone/>
            </a:pPr>
            <a:r>
              <a:rPr lang="en-US" sz="1000" dirty="0">
                <a:solidFill>
                  <a:srgbClr val="9AA8BF"/>
                </a:solidFill>
                <a:latin typeface="Courier New" pitchFamily="34" charset="0"/>
                <a:ea typeface="Courier New" pitchFamily="34" charset="-122"/>
                <a:cs typeface="Courier New" pitchFamily="34" charset="-120"/>
              </a:rPr>
              <a:t>index.html  (inside &lt;body&gt;)</a:t>
            </a:r>
            <a:endParaRPr lang="en-US" sz="1000" dirty="0"/>
          </a:p>
        </p:txBody>
      </p:sp>
      <p:sp>
        <p:nvSpPr>
          <p:cNvPr id="13" name="Text 9"/>
          <p:cNvSpPr/>
          <p:nvPr/>
        </p:nvSpPr>
        <p:spPr>
          <a:xfrm>
            <a:off x="749808" y="1810512"/>
            <a:ext cx="7680960" cy="2166112"/>
          </a:xfrm>
          <a:prstGeom prst="rect">
            <a:avLst/>
          </a:prstGeom>
          <a:noFill/>
          <a:ln/>
        </p:spPr>
        <p:txBody>
          <a:bodyPr wrap="square" lIns="0" tIns="0" rIns="0" bIns="0" rtlCol="0" anchor="t"/>
          <a:lstStyle/>
          <a:p>
            <a:pPr indent="0" marL="0">
              <a:lnSpc>
                <a:spcPts val="1472"/>
              </a:lnSpc>
              <a:buNone/>
            </a:pPr>
            <a:r>
              <a:rPr lang="en-US" sz="1150" dirty="0">
                <a:solidFill>
                  <a:srgbClr val="E8EDF5"/>
                </a:solidFill>
                <a:latin typeface="Courier New" pitchFamily="34" charset="0"/>
                <a:ea typeface="Courier New" pitchFamily="34" charset="-122"/>
                <a:cs typeface="Courier New" pitchFamily="34" charset="-120"/>
              </a:rPr>
              <a:t>&lt;form method="get"&gt;</a:t>
            </a:r>
            <a:endParaRPr lang="en-US" sz="1150" dirty="0"/>
          </a:p>
          <a:p>
            <a:pPr indent="0" marL="0">
              <a:lnSpc>
                <a:spcPts val="1472"/>
              </a:lnSpc>
              <a:buNone/>
            </a:pPr>
            <a:r>
              <a:rPr lang="en-US" sz="1150" dirty="0">
                <a:solidFill>
                  <a:srgbClr val="E8EDF5"/>
                </a:solidFill>
                <a:latin typeface="Courier New" pitchFamily="34" charset="0"/>
                <a:ea typeface="Courier New" pitchFamily="34" charset="-122"/>
                <a:cs typeface="Courier New" pitchFamily="34" charset="-120"/>
              </a:rPr>
              <a:t>  &lt;label for="name"&gt;Your name&lt;/label&gt;</a:t>
            </a:r>
            <a:endParaRPr lang="en-US" sz="1150" dirty="0"/>
          </a:p>
          <a:p>
            <a:pPr indent="0" marL="0">
              <a:lnSpc>
                <a:spcPts val="1472"/>
              </a:lnSpc>
              <a:buNone/>
            </a:pPr>
            <a:r>
              <a:rPr lang="en-US" sz="1150" dirty="0">
                <a:solidFill>
                  <a:srgbClr val="E8EDF5"/>
                </a:solidFill>
                <a:latin typeface="Courier New" pitchFamily="34" charset="0"/>
                <a:ea typeface="Courier New" pitchFamily="34" charset="-122"/>
                <a:cs typeface="Courier New" pitchFamily="34" charset="-120"/>
              </a:rPr>
              <a:t>  &lt;input type="text" id="name" name="name" required&gt;</a:t>
            </a:r>
            <a:endParaRPr lang="en-US" sz="1150" dirty="0"/>
          </a:p>
          <a:p>
            <a:pPr indent="0" marL="0">
              <a:lnSpc>
                <a:spcPts val="1472"/>
              </a:lnSpc>
              <a:buNone/>
            </a:pPr>
            <a:endParaRPr lang="en-US" sz="1150" dirty="0"/>
          </a:p>
          <a:p>
            <a:pPr indent="0" marL="0">
              <a:lnSpc>
                <a:spcPts val="1472"/>
              </a:lnSpc>
              <a:buNone/>
            </a:pPr>
            <a:r>
              <a:rPr lang="en-US" sz="1150" dirty="0">
                <a:solidFill>
                  <a:srgbClr val="E8EDF5"/>
                </a:solidFill>
                <a:latin typeface="Courier New" pitchFamily="34" charset="0"/>
                <a:ea typeface="Courier New" pitchFamily="34" charset="-122"/>
                <a:cs typeface="Courier New" pitchFamily="34" charset="-120"/>
              </a:rPr>
              <a:t>  &lt;label for="email"&gt;Email&lt;/label&gt;</a:t>
            </a:r>
            <a:endParaRPr lang="en-US" sz="1150" dirty="0"/>
          </a:p>
          <a:p>
            <a:pPr indent="0" marL="0">
              <a:lnSpc>
                <a:spcPts val="1472"/>
              </a:lnSpc>
              <a:buNone/>
            </a:pPr>
            <a:r>
              <a:rPr lang="en-US" sz="1150" dirty="0">
                <a:solidFill>
                  <a:srgbClr val="E8EDF5"/>
                </a:solidFill>
                <a:latin typeface="Courier New" pitchFamily="34" charset="0"/>
                <a:ea typeface="Courier New" pitchFamily="34" charset="-122"/>
                <a:cs typeface="Courier New" pitchFamily="34" charset="-120"/>
              </a:rPr>
              <a:t>  &lt;input type="email" id="email" name="email"&gt;</a:t>
            </a:r>
            <a:endParaRPr lang="en-US" sz="1150" dirty="0"/>
          </a:p>
          <a:p>
            <a:pPr indent="0" marL="0">
              <a:lnSpc>
                <a:spcPts val="1472"/>
              </a:lnSpc>
              <a:buNone/>
            </a:pPr>
            <a:endParaRPr lang="en-US" sz="1150" dirty="0"/>
          </a:p>
          <a:p>
            <a:pPr indent="0" marL="0">
              <a:lnSpc>
                <a:spcPts val="1472"/>
              </a:lnSpc>
              <a:buNone/>
            </a:pPr>
            <a:r>
              <a:rPr lang="en-US" sz="1150" dirty="0">
                <a:solidFill>
                  <a:srgbClr val="E8EDF5"/>
                </a:solidFill>
                <a:latin typeface="Courier New" pitchFamily="34" charset="0"/>
                <a:ea typeface="Courier New" pitchFamily="34" charset="-122"/>
                <a:cs typeface="Courier New" pitchFamily="34" charset="-120"/>
              </a:rPr>
              <a:t>  &lt;!-- watch only: steps 02–04 --&gt;</a:t>
            </a:r>
            <a:endParaRPr lang="en-US" sz="1150" dirty="0"/>
          </a:p>
          <a:p>
            <a:pPr indent="0" marL="0">
              <a:lnSpc>
                <a:spcPts val="1472"/>
              </a:lnSpc>
              <a:buNone/>
            </a:pPr>
            <a:r>
              <a:rPr lang="en-US" sz="1150" dirty="0">
                <a:solidFill>
                  <a:srgbClr val="E8EDF5"/>
                </a:solidFill>
                <a:latin typeface="Courier New" pitchFamily="34" charset="0"/>
                <a:ea typeface="Courier New" pitchFamily="34" charset="-122"/>
                <a:cs typeface="Courier New" pitchFamily="34" charset="-120"/>
              </a:rPr>
              <a:t>  &lt;input type="radio" id="morning" name="batch" value="morning"&gt;</a:t>
            </a:r>
            <a:endParaRPr lang="en-US" sz="1150" dirty="0"/>
          </a:p>
          <a:p>
            <a:pPr indent="0" marL="0">
              <a:lnSpc>
                <a:spcPts val="1472"/>
              </a:lnSpc>
              <a:buNone/>
            </a:pPr>
            <a:r>
              <a:rPr lang="en-US" sz="1150" dirty="0">
                <a:solidFill>
                  <a:srgbClr val="E8EDF5"/>
                </a:solidFill>
                <a:latin typeface="Courier New" pitchFamily="34" charset="0"/>
                <a:ea typeface="Courier New" pitchFamily="34" charset="-122"/>
                <a:cs typeface="Courier New" pitchFamily="34" charset="-120"/>
              </a:rPr>
              <a:t>  &lt;label for="morning"&gt;Morning&lt;/label&gt;</a:t>
            </a:r>
            <a:endParaRPr lang="en-US" sz="1150" dirty="0"/>
          </a:p>
          <a:p>
            <a:pPr indent="0" marL="0">
              <a:lnSpc>
                <a:spcPts val="1472"/>
              </a:lnSpc>
              <a:buNone/>
            </a:pPr>
            <a:r>
              <a:rPr lang="en-US" sz="1150" dirty="0">
                <a:solidFill>
                  <a:srgbClr val="E8EDF5"/>
                </a:solidFill>
                <a:latin typeface="Courier New" pitchFamily="34" charset="0"/>
                <a:ea typeface="Courier New" pitchFamily="34" charset="-122"/>
                <a:cs typeface="Courier New" pitchFamily="34" charset="-120"/>
              </a:rPr>
              <a:t>&lt;/form&gt;</a:t>
            </a:r>
            <a:endParaRPr lang="en-US" sz="1150" dirty="0"/>
          </a:p>
        </p:txBody>
      </p:sp>
      <p:sp>
        <p:nvSpPr>
          <p:cNvPr id="14" name="Shape 10"/>
          <p:cNvSpPr/>
          <p:nvPr/>
        </p:nvSpPr>
        <p:spPr>
          <a:xfrm>
            <a:off x="548640" y="4279392"/>
            <a:ext cx="8046720" cy="502920"/>
          </a:xfrm>
          <a:prstGeom prst="roundRect">
            <a:avLst>
              <a:gd name="adj" fmla="val 14545"/>
            </a:avLst>
          </a:prstGeom>
          <a:solidFill>
            <a:srgbClr val="F5EBD8"/>
          </a:solidFill>
          <a:ln/>
        </p:spPr>
      </p:sp>
      <p:sp>
        <p:nvSpPr>
          <p:cNvPr id="15" name="Text 11"/>
          <p:cNvSpPr/>
          <p:nvPr/>
        </p:nvSpPr>
        <p:spPr>
          <a:xfrm>
            <a:off x="749808" y="4279392"/>
            <a:ext cx="7644384" cy="502920"/>
          </a:xfrm>
          <a:prstGeom prst="rect">
            <a:avLst/>
          </a:prstGeom>
          <a:noFill/>
          <a:ln/>
        </p:spPr>
        <p:txBody>
          <a:bodyPr wrap="square" lIns="0" tIns="0" rIns="0" bIns="0" rtlCol="0" anchor="ctr"/>
          <a:lstStyle/>
          <a:p>
            <a:pPr indent="0" marL="0">
              <a:buNone/>
            </a:pPr>
            <a:r>
              <a:rPr lang="en-US" sz="1250" b="1" dirty="0">
                <a:solidFill>
                  <a:srgbClr val="9A701F"/>
                </a:solidFill>
                <a:latin typeface="Calibri" pitchFamily="34" charset="0"/>
                <a:ea typeface="Calibri" pitchFamily="34" charset="-122"/>
                <a:cs typeface="Calibri" pitchFamily="34" charset="-120"/>
              </a:rPr>
              <a:t>for = id.  </a:t>
            </a:r>
            <a:pPr indent="0" marL="0">
              <a:buNone/>
            </a:pPr>
            <a:r>
              <a:rPr lang="en-US" sz="1250" dirty="0">
                <a:solidFill>
                  <a:srgbClr val="2C3547"/>
                </a:solidFill>
                <a:latin typeface="Calibri" pitchFamily="34" charset="0"/>
                <a:ea typeface="Calibri" pitchFamily="34" charset="-122"/>
                <a:cs typeface="Calibri" pitchFamily="34" charset="-120"/>
              </a:rPr>
              <a:t>Same word, exactly. Then clicking the label puts the cursor in the box.</a:t>
            </a:r>
            <a:endParaRPr lang="en-US" sz="12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search-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612648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What the kitchen receives</a:t>
            </a:r>
            <a:endParaRPr lang="en-US" sz="2700" dirty="0"/>
          </a:p>
        </p:txBody>
      </p:sp>
      <p:sp>
        <p:nvSpPr>
          <p:cNvPr id="5" name="Text 2"/>
          <p:cNvSpPr/>
          <p:nvPr/>
        </p:nvSpPr>
        <p:spPr>
          <a:xfrm>
            <a:off x="7315200" y="402336"/>
            <a:ext cx="1417320" cy="310896"/>
          </a:xfrm>
          <a:prstGeom prst="roundRect">
            <a:avLst>
              <a:gd name="adj" fmla="val 50000"/>
            </a:avLst>
          </a:prstGeom>
          <a:solidFill>
            <a:srgbClr val="F5EBD8"/>
          </a:solidFill>
          <a:ln/>
        </p:spPr>
        <p:txBody>
          <a:bodyPr wrap="square" lIns="0" tIns="0" rIns="0" bIns="0" rtlCol="0" anchor="ctr"/>
          <a:lstStyle/>
          <a:p>
            <a:pPr algn="ctr" indent="0" marL="0">
              <a:buNone/>
            </a:pPr>
            <a:r>
              <a:rPr lang="en-US" sz="1100" b="1" spc="200" kern="0" dirty="0">
                <a:solidFill>
                  <a:srgbClr val="9A701F"/>
                </a:solidFill>
                <a:latin typeface="Calibri" pitchFamily="34" charset="0"/>
                <a:ea typeface="Calibri" pitchFamily="34" charset="-122"/>
                <a:cs typeface="Calibri" pitchFamily="34" charset="-120"/>
              </a:rPr>
              <a:t>ACTIVITY</a:t>
            </a:r>
            <a:endParaRPr lang="en-US" sz="1100" dirty="0"/>
          </a:p>
        </p:txBody>
      </p:sp>
      <p:sp>
        <p:nvSpPr>
          <p:cNvPr id="7" name="Text 3"/>
          <p:cNvSpPr/>
          <p:nvPr/>
        </p:nvSpPr>
        <p:spPr>
          <a:xfrm>
            <a:off x="548640" y="1078992"/>
            <a:ext cx="8046720" cy="274320"/>
          </a:xfrm>
          <a:prstGeom prst="rect">
            <a:avLst/>
          </a:prstGeom>
          <a:noFill/>
          <a:ln/>
        </p:spPr>
        <p:txBody>
          <a:bodyPr wrap="square" lIns="0" tIns="0" rIns="0" bIns="0" rtlCol="0" anchor="ctr"/>
          <a:lstStyle/>
          <a:p>
            <a:pPr indent="0" marL="0">
              <a:buNone/>
            </a:pPr>
            <a:r>
              <a:rPr lang="en-US" sz="1300" b="1" dirty="0">
                <a:solidFill>
                  <a:srgbClr val="990011"/>
                </a:solidFill>
                <a:latin typeface="Calibri" pitchFamily="34" charset="0"/>
                <a:ea typeface="Calibri" pitchFamily="34" charset="-122"/>
                <a:cs typeface="Calibri" pitchFamily="34" charset="-120"/>
              </a:rPr>
              <a:t>Code-along  ·  1 min  ·  type with me  ·  W2D1/instructor-demos/B8-forms/step-04-fieldset-submit-read-url</a:t>
            </a:r>
            <a:endParaRPr lang="en-US" sz="1300" dirty="0"/>
          </a:p>
        </p:txBody>
      </p:sp>
      <p:sp>
        <p:nvSpPr>
          <p:cNvPr id="8" name="Shape 4"/>
          <p:cNvSpPr/>
          <p:nvPr/>
        </p:nvSpPr>
        <p:spPr>
          <a:xfrm>
            <a:off x="548640" y="1463040"/>
            <a:ext cx="4206240" cy="1280160"/>
          </a:xfrm>
          <a:prstGeom prst="roundRect">
            <a:avLst>
              <a:gd name="adj" fmla="val 5714"/>
            </a:avLst>
          </a:prstGeom>
          <a:solidFill>
            <a:srgbClr val="16274A"/>
          </a:solidFill>
          <a:ln/>
        </p:spPr>
      </p:sp>
      <p:sp>
        <p:nvSpPr>
          <p:cNvPr id="9" name="Shape 5"/>
          <p:cNvSpPr/>
          <p:nvPr/>
        </p:nvSpPr>
        <p:spPr>
          <a:xfrm>
            <a:off x="694944" y="1581912"/>
            <a:ext cx="82296" cy="82296"/>
          </a:xfrm>
          <a:prstGeom prst="ellipse">
            <a:avLst/>
          </a:prstGeom>
          <a:solidFill>
            <a:srgbClr val="FF5F56"/>
          </a:solidFill>
          <a:ln/>
        </p:spPr>
      </p:sp>
      <p:sp>
        <p:nvSpPr>
          <p:cNvPr id="10" name="Shape 6"/>
          <p:cNvSpPr/>
          <p:nvPr/>
        </p:nvSpPr>
        <p:spPr>
          <a:xfrm>
            <a:off x="841248" y="1581912"/>
            <a:ext cx="82296" cy="82296"/>
          </a:xfrm>
          <a:prstGeom prst="ellipse">
            <a:avLst/>
          </a:prstGeom>
          <a:solidFill>
            <a:srgbClr val="FFBD2E"/>
          </a:solidFill>
          <a:ln/>
        </p:spPr>
      </p:sp>
      <p:sp>
        <p:nvSpPr>
          <p:cNvPr id="11" name="Shape 7"/>
          <p:cNvSpPr/>
          <p:nvPr/>
        </p:nvSpPr>
        <p:spPr>
          <a:xfrm>
            <a:off x="987552" y="1581912"/>
            <a:ext cx="82296" cy="82296"/>
          </a:xfrm>
          <a:prstGeom prst="ellipse">
            <a:avLst/>
          </a:prstGeom>
          <a:solidFill>
            <a:srgbClr val="27C93F"/>
          </a:solidFill>
          <a:ln/>
        </p:spPr>
      </p:sp>
      <p:sp>
        <p:nvSpPr>
          <p:cNvPr id="12" name="Text 8"/>
          <p:cNvSpPr/>
          <p:nvPr/>
        </p:nvSpPr>
        <p:spPr>
          <a:xfrm>
            <a:off x="1188720" y="1517904"/>
            <a:ext cx="3383280" cy="219456"/>
          </a:xfrm>
          <a:prstGeom prst="rect">
            <a:avLst/>
          </a:prstGeom>
          <a:noFill/>
          <a:ln/>
        </p:spPr>
        <p:txBody>
          <a:bodyPr wrap="square" lIns="0" tIns="0" rIns="0" bIns="0" rtlCol="0" anchor="ctr"/>
          <a:lstStyle/>
          <a:p>
            <a:pPr indent="0" marL="0">
              <a:buNone/>
            </a:pPr>
            <a:r>
              <a:rPr lang="en-US" sz="1000" dirty="0">
                <a:solidFill>
                  <a:srgbClr val="9AA8BF"/>
                </a:solidFill>
                <a:latin typeface="Courier New" pitchFamily="34" charset="0"/>
                <a:ea typeface="Courier New" pitchFamily="34" charset="-122"/>
                <a:cs typeface="Courier New" pitchFamily="34" charset="-120"/>
              </a:rPr>
              <a:t>after Submit, the address bar shows</a:t>
            </a:r>
            <a:endParaRPr lang="en-US" sz="1000" dirty="0"/>
          </a:p>
        </p:txBody>
      </p:sp>
      <p:sp>
        <p:nvSpPr>
          <p:cNvPr id="13" name="Text 9"/>
          <p:cNvSpPr/>
          <p:nvPr/>
        </p:nvSpPr>
        <p:spPr>
          <a:xfrm>
            <a:off x="749808" y="1810512"/>
            <a:ext cx="3840480" cy="822960"/>
          </a:xfrm>
          <a:prstGeom prst="rect">
            <a:avLst/>
          </a:prstGeom>
          <a:noFill/>
          <a:ln/>
        </p:spPr>
        <p:txBody>
          <a:bodyPr wrap="square" lIns="0" tIns="0" rIns="0" bIns="0" rtlCol="0" anchor="t"/>
          <a:lstStyle/>
          <a:p>
            <a:pPr indent="0" marL="0">
              <a:lnSpc>
                <a:spcPts val="1472"/>
              </a:lnSpc>
              <a:buNone/>
            </a:pPr>
            <a:r>
              <a:rPr lang="en-US" sz="1150" dirty="0">
                <a:solidFill>
                  <a:srgbClr val="E8EDF5"/>
                </a:solidFill>
                <a:latin typeface="Courier New" pitchFamily="34" charset="0"/>
                <a:ea typeface="Courier New" pitchFamily="34" charset="-122"/>
                <a:cs typeface="Courier New" pitchFamily="34" charset="-120"/>
              </a:rPr>
              <a:t>index.html?name=Sunita+Gurung</a:t>
            </a:r>
            <a:endParaRPr lang="en-US" sz="1150" dirty="0"/>
          </a:p>
          <a:p>
            <a:pPr indent="0" marL="0">
              <a:lnSpc>
                <a:spcPts val="1472"/>
              </a:lnSpc>
              <a:buNone/>
            </a:pPr>
            <a:r>
              <a:rPr lang="en-US" sz="1150" dirty="0">
                <a:solidFill>
                  <a:srgbClr val="E8EDF5"/>
                </a:solidFill>
                <a:latin typeface="Courier New" pitchFamily="34" charset="0"/>
                <a:ea typeface="Courier New" pitchFamily="34" charset="-122"/>
                <a:cs typeface="Courier New" pitchFamily="34" charset="-120"/>
              </a:rPr>
              <a:t>  &amp;email=sunita%40mail.com&amp;batch=morning</a:t>
            </a:r>
            <a:endParaRPr lang="en-US" sz="1150" dirty="0"/>
          </a:p>
          <a:p>
            <a:pPr indent="0" marL="0">
              <a:lnSpc>
                <a:spcPts val="1472"/>
              </a:lnSpc>
              <a:buNone/>
            </a:pPr>
            <a:r>
              <a:rPr lang="en-US" sz="1150" dirty="0">
                <a:solidFill>
                  <a:srgbClr val="E8EDF5"/>
                </a:solidFill>
                <a:latin typeface="Courier New" pitchFamily="34" charset="0"/>
                <a:ea typeface="Courier New" pitchFamily="34" charset="-122"/>
                <a:cs typeface="Courier New" pitchFamily="34" charset="-120"/>
              </a:rPr>
              <a:t>  &amp;extras=achar&amp;momo=chicken&amp;notes=</a:t>
            </a:r>
            <a:endParaRPr lang="en-US" sz="1150" dirty="0"/>
          </a:p>
        </p:txBody>
      </p:sp>
      <p:sp>
        <p:nvSpPr>
          <p:cNvPr id="14" name="Shape 10"/>
          <p:cNvSpPr/>
          <p:nvPr/>
        </p:nvSpPr>
        <p:spPr>
          <a:xfrm>
            <a:off x="548640" y="2880360"/>
            <a:ext cx="4206240" cy="1234440"/>
          </a:xfrm>
          <a:prstGeom prst="roundRect">
            <a:avLst>
              <a:gd name="adj" fmla="val 5926"/>
            </a:avLst>
          </a:prstGeom>
          <a:solidFill>
            <a:srgbClr val="FFF3F4"/>
          </a:solidFill>
          <a:ln/>
        </p:spPr>
      </p:sp>
      <p:sp>
        <p:nvSpPr>
          <p:cNvPr id="15" name="Text 11"/>
          <p:cNvSpPr/>
          <p:nvPr/>
        </p:nvSpPr>
        <p:spPr>
          <a:xfrm>
            <a:off x="731520" y="3008376"/>
            <a:ext cx="3840480" cy="320040"/>
          </a:xfrm>
          <a:prstGeom prst="rect">
            <a:avLst/>
          </a:prstGeom>
          <a:noFill/>
          <a:ln/>
        </p:spPr>
        <p:txBody>
          <a:bodyPr wrap="square" lIns="0" tIns="0" rIns="0" bIns="0" rtlCol="0" anchor="ctr"/>
          <a:lstStyle/>
          <a:p>
            <a:pPr indent="0" marL="0">
              <a:buNone/>
            </a:pPr>
            <a:r>
              <a:rPr lang="en-US" sz="1600" b="1" dirty="0">
                <a:solidFill>
                  <a:srgbClr val="990011"/>
                </a:solidFill>
                <a:latin typeface="Cambria" pitchFamily="34" charset="0"/>
                <a:ea typeface="Cambria" pitchFamily="34" charset="-122"/>
                <a:cs typeface="Cambria" pitchFamily="34" charset="-120"/>
              </a:rPr>
              <a:t>Read it like the kitchen</a:t>
            </a:r>
            <a:endParaRPr lang="en-US" sz="1600" dirty="0"/>
          </a:p>
        </p:txBody>
      </p:sp>
      <p:sp>
        <p:nvSpPr>
          <p:cNvPr id="16" name="Text 12"/>
          <p:cNvSpPr/>
          <p:nvPr/>
        </p:nvSpPr>
        <p:spPr>
          <a:xfrm>
            <a:off x="731520" y="3383280"/>
            <a:ext cx="3840480" cy="59436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name=value, joined by &amp;.</a:t>
            </a: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 is a space.  No value?  batch=on.</a:t>
            </a: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No name?  Not sent at all.</a:t>
            </a:r>
            <a:endParaRPr lang="en-US" sz="1250" dirty="0"/>
          </a:p>
        </p:txBody>
      </p:sp>
      <p:sp>
        <p:nvSpPr>
          <p:cNvPr id="17" name="Shape 13"/>
          <p:cNvSpPr/>
          <p:nvPr/>
        </p:nvSpPr>
        <p:spPr>
          <a:xfrm>
            <a:off x="4937760" y="1463040"/>
            <a:ext cx="3657600" cy="2057400"/>
          </a:xfrm>
          <a:prstGeom prst="roundRect">
            <a:avLst>
              <a:gd name="adj" fmla="val 2667"/>
            </a:avLst>
          </a:prstGeom>
          <a:solidFill>
            <a:srgbClr val="F9F6F5"/>
          </a:solidFill>
          <a:ln w="19050">
            <a:solidFill>
              <a:srgbClr val="9FB3D1"/>
            </a:solidFill>
            <a:prstDash val="dash"/>
          </a:ln>
        </p:spPr>
      </p:sp>
      <p:sp>
        <p:nvSpPr>
          <p:cNvPr id="18" name="Text 14"/>
          <p:cNvSpPr/>
          <p:nvPr/>
        </p:nvSpPr>
        <p:spPr>
          <a:xfrm>
            <a:off x="5047488" y="1572768"/>
            <a:ext cx="1325880" cy="256032"/>
          </a:xfrm>
          <a:prstGeom prst="roundRect">
            <a:avLst>
              <a:gd name="adj" fmla="val 46429"/>
            </a:avLst>
          </a:prstGeom>
          <a:solidFill>
            <a:srgbClr val="14213D"/>
          </a:solid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LIVE DEMO</a:t>
            </a:r>
            <a:endParaRPr lang="en-US" sz="1100" dirty="0"/>
          </a:p>
        </p:txBody>
      </p:sp>
      <p:sp>
        <p:nvSpPr>
          <p:cNvPr id="19" name="Text 15"/>
          <p:cNvSpPr/>
          <p:nvPr/>
        </p:nvSpPr>
        <p:spPr>
          <a:xfrm>
            <a:off x="5166360" y="1874520"/>
            <a:ext cx="3200400" cy="1508760"/>
          </a:xfrm>
          <a:prstGeom prst="rect">
            <a:avLst/>
          </a:prstGeom>
          <a:noFill/>
          <a:ln/>
        </p:spPr>
        <p:txBody>
          <a:bodyPr wrap="square" lIns="0" tIns="0" rIns="0" bIns="0" rtlCol="0" anchor="ctr">
            <a:normAutofit/>
          </a:bodyPr>
          <a:lstStyle/>
          <a:p>
            <a:pPr algn="ctr" indent="0" marL="0">
              <a:buNone/>
            </a:pPr>
            <a:r>
              <a:rPr lang="en-US" sz="1250" i="1" dirty="0">
                <a:solidFill>
                  <a:srgbClr val="2C3547"/>
                </a:solidFill>
                <a:latin typeface="Calibri" pitchFamily="34" charset="0"/>
                <a:ea typeface="Calibri" pitchFamily="34" charset="-122"/>
                <a:cs typeface="Calibri" pitchFamily="34" charset="-120"/>
              </a:rPr>
              <a:t>LIVE: open step-04 in Chrome → Submit → read the address bar aloud</a:t>
            </a:r>
            <a:endParaRPr lang="en-US" sz="1250" dirty="0"/>
          </a:p>
        </p:txBody>
      </p:sp>
      <p:sp>
        <p:nvSpPr>
          <p:cNvPr id="20" name="Shape 16"/>
          <p:cNvSpPr/>
          <p:nvPr/>
        </p:nvSpPr>
        <p:spPr>
          <a:xfrm>
            <a:off x="548640" y="4279392"/>
            <a:ext cx="8046720" cy="457200"/>
          </a:xfrm>
          <a:prstGeom prst="roundRect">
            <a:avLst>
              <a:gd name="adj" fmla="val 16000"/>
            </a:avLst>
          </a:prstGeom>
          <a:solidFill>
            <a:srgbClr val="F5EBD8"/>
          </a:solidFill>
          <a:ln/>
        </p:spPr>
      </p:sp>
      <p:sp>
        <p:nvSpPr>
          <p:cNvPr id="21" name="Text 17"/>
          <p:cNvSpPr/>
          <p:nvPr/>
        </p:nvSpPr>
        <p:spPr>
          <a:xfrm>
            <a:off x="749808" y="4279392"/>
            <a:ext cx="7644384" cy="457200"/>
          </a:xfrm>
          <a:prstGeom prst="rect">
            <a:avLst/>
          </a:prstGeom>
          <a:noFill/>
          <a:ln/>
        </p:spPr>
        <p:txBody>
          <a:bodyPr wrap="square" lIns="0" tIns="0" rIns="0" bIns="0" rtlCol="0" anchor="ctr"/>
          <a:lstStyle/>
          <a:p>
            <a:pPr indent="0" marL="0">
              <a:buNone/>
            </a:pPr>
            <a:r>
              <a:rPr lang="en-US" sz="1250" b="1" dirty="0">
                <a:solidFill>
                  <a:srgbClr val="9A701F"/>
                </a:solidFill>
                <a:latin typeface="Calibri" pitchFamily="34" charset="0"/>
                <a:ea typeface="Calibri" pitchFamily="34" charset="-122"/>
                <a:cs typeface="Calibri" pitchFamily="34" charset="-120"/>
              </a:rPr>
              <a:t>D(URL) bugs:  </a:t>
            </a:r>
            <a:pPr indent="0" marL="0">
              <a:buNone/>
            </a:pPr>
            <a:r>
              <a:rPr lang="en-US" sz="1250" dirty="0">
                <a:solidFill>
                  <a:srgbClr val="2C3547"/>
                </a:solidFill>
                <a:latin typeface="Calibri" pitchFamily="34" charset="0"/>
                <a:ea typeface="Calibri" pitchFamily="34" charset="-122"/>
                <a:cs typeface="Calibri" pitchFamily="34" charset="-120"/>
              </a:rPr>
              <a:t>only visible when you submit with method="get" and read the address bar.</a:t>
            </a:r>
            <a:endParaRPr lang="en-US" sz="12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wrench-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612648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D1-13  ·  Broken Signup</a:t>
            </a:r>
            <a:endParaRPr lang="en-US" sz="2700" dirty="0"/>
          </a:p>
        </p:txBody>
      </p:sp>
      <p:sp>
        <p:nvSpPr>
          <p:cNvPr id="5" name="Text 2"/>
          <p:cNvSpPr/>
          <p:nvPr/>
        </p:nvSpPr>
        <p:spPr>
          <a:xfrm>
            <a:off x="7315200" y="402336"/>
            <a:ext cx="1417320" cy="310896"/>
          </a:xfrm>
          <a:prstGeom prst="roundRect">
            <a:avLst>
              <a:gd name="adj" fmla="val 50000"/>
            </a:avLst>
          </a:prstGeom>
          <a:solidFill>
            <a:srgbClr val="F5EBD8"/>
          </a:solidFill>
          <a:ln/>
        </p:spPr>
        <p:txBody>
          <a:bodyPr wrap="square" lIns="0" tIns="0" rIns="0" bIns="0" rtlCol="0" anchor="ctr"/>
          <a:lstStyle/>
          <a:p>
            <a:pPr algn="ctr" indent="0" marL="0">
              <a:buNone/>
            </a:pPr>
            <a:r>
              <a:rPr lang="en-US" sz="1100" b="1" spc="200" kern="0" dirty="0">
                <a:solidFill>
                  <a:srgbClr val="9A701F"/>
                </a:solidFill>
                <a:latin typeface="Calibri" pitchFamily="34" charset="0"/>
                <a:ea typeface="Calibri" pitchFamily="34" charset="-122"/>
                <a:cs typeface="Calibri" pitchFamily="34" charset="-120"/>
              </a:rPr>
              <a:t>ACTIVITY</a:t>
            </a:r>
            <a:endParaRPr lang="en-US" sz="1100" dirty="0"/>
          </a:p>
        </p:txBody>
      </p:sp>
      <p:sp>
        <p:nvSpPr>
          <p:cNvPr id="7" name="Text 3"/>
          <p:cNvSpPr/>
          <p:nvPr/>
        </p:nvSpPr>
        <p:spPr>
          <a:xfrm>
            <a:off x="548640" y="1078992"/>
            <a:ext cx="8046720" cy="274320"/>
          </a:xfrm>
          <a:prstGeom prst="rect">
            <a:avLst/>
          </a:prstGeom>
          <a:noFill/>
          <a:ln/>
        </p:spPr>
        <p:txBody>
          <a:bodyPr wrap="square" lIns="0" tIns="0" rIns="0" bIns="0" rtlCol="0" anchor="ctr"/>
          <a:lstStyle/>
          <a:p>
            <a:pPr indent="0" marL="0">
              <a:buNone/>
            </a:pPr>
            <a:r>
              <a:rPr lang="en-US" sz="1300" b="1" dirty="0">
                <a:solidFill>
                  <a:srgbClr val="990011"/>
                </a:solidFill>
                <a:latin typeface="Calibri" pitchFamily="34" charset="0"/>
                <a:ea typeface="Calibri" pitchFamily="34" charset="-122"/>
                <a:cs typeface="Calibri" pitchFamily="34" charset="-120"/>
              </a:rPr>
              <a:t>10 minutes  ·  solo  ·  W2D1/classwork/D1-13-broken-signup-form/</a:t>
            </a:r>
            <a:endParaRPr lang="en-US" sz="1300" dirty="0"/>
          </a:p>
        </p:txBody>
      </p:sp>
      <p:sp>
        <p:nvSpPr>
          <p:cNvPr id="8" name="Text 4"/>
          <p:cNvSpPr/>
          <p:nvPr/>
        </p:nvSpPr>
        <p:spPr>
          <a:xfrm>
            <a:off x="566928" y="15544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5"/>
          <p:cNvSpPr/>
          <p:nvPr/>
        </p:nvSpPr>
        <p:spPr>
          <a:xfrm>
            <a:off x="1005840" y="15270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Open index.html: TSI course signup</a:t>
            </a:r>
            <a:endParaRPr lang="en-US" sz="1350" dirty="0"/>
          </a:p>
        </p:txBody>
      </p:sp>
      <p:sp>
        <p:nvSpPr>
          <p:cNvPr id="10" name="Text 6"/>
          <p:cNvSpPr/>
          <p:nvPr/>
        </p:nvSpPr>
        <p:spPr>
          <a:xfrm>
            <a:off x="566928" y="20116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7"/>
          <p:cNvSpPr/>
          <p:nvPr/>
        </p:nvSpPr>
        <p:spPr>
          <a:xfrm>
            <a:off x="1005840" y="19842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Click every label. Does the cursor jump?</a:t>
            </a:r>
            <a:endParaRPr lang="en-US" sz="1350" dirty="0"/>
          </a:p>
        </p:txBody>
      </p:sp>
      <p:sp>
        <p:nvSpPr>
          <p:cNvPr id="12" name="Text 8"/>
          <p:cNvSpPr/>
          <p:nvPr/>
        </p:nvSpPr>
        <p:spPr>
          <a:xfrm>
            <a:off x="566928" y="24688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9"/>
          <p:cNvSpPr/>
          <p:nvPr/>
        </p:nvSpPr>
        <p:spPr>
          <a:xfrm>
            <a:off x="1005840" y="24414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Try to tick both batches</a:t>
            </a:r>
            <a:endParaRPr lang="en-US" sz="1350" dirty="0"/>
          </a:p>
        </p:txBody>
      </p:sp>
      <p:sp>
        <p:nvSpPr>
          <p:cNvPr id="14" name="Text 10"/>
          <p:cNvSpPr/>
          <p:nvPr/>
        </p:nvSpPr>
        <p:spPr>
          <a:xfrm>
            <a:off x="566928" y="29260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1"/>
          <p:cNvSpPr/>
          <p:nvPr/>
        </p:nvSpPr>
        <p:spPr>
          <a:xfrm>
            <a:off x="1005840" y="28986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Fill it in, press Submit, read the URL</a:t>
            </a:r>
            <a:endParaRPr lang="en-US" sz="1350" dirty="0"/>
          </a:p>
        </p:txBody>
      </p:sp>
      <p:sp>
        <p:nvSpPr>
          <p:cNvPr id="16" name="Text 12"/>
          <p:cNvSpPr/>
          <p:nvPr/>
        </p:nvSpPr>
        <p:spPr>
          <a:xfrm>
            <a:off x="566928" y="33832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7" name="Text 13"/>
          <p:cNvSpPr/>
          <p:nvPr/>
        </p:nvSpPr>
        <p:spPr>
          <a:xfrm>
            <a:off x="1005840" y="33558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Is anything after the textarea missing?</a:t>
            </a:r>
            <a:endParaRPr lang="en-US" sz="1350" dirty="0"/>
          </a:p>
        </p:txBody>
      </p:sp>
      <p:sp>
        <p:nvSpPr>
          <p:cNvPr id="18" name="Shape 14"/>
          <p:cNvSpPr/>
          <p:nvPr/>
        </p:nvSpPr>
        <p:spPr>
          <a:xfrm>
            <a:off x="5760720" y="1554480"/>
            <a:ext cx="2834640" cy="2331720"/>
          </a:xfrm>
          <a:prstGeom prst="roundRect">
            <a:avLst>
              <a:gd name="adj" fmla="val 3137"/>
            </a:avLst>
          </a:prstGeom>
          <a:solidFill>
            <a:srgbClr val="FFF3F4"/>
          </a:solidFill>
          <a:ln/>
        </p:spPr>
      </p:sp>
      <p:sp>
        <p:nvSpPr>
          <p:cNvPr id="19" name="Text 15"/>
          <p:cNvSpPr/>
          <p:nvPr/>
        </p:nvSpPr>
        <p:spPr>
          <a:xfrm>
            <a:off x="5943600" y="1682496"/>
            <a:ext cx="2468880" cy="320040"/>
          </a:xfrm>
          <a:prstGeom prst="rect">
            <a:avLst/>
          </a:prstGeom>
          <a:noFill/>
          <a:ln/>
        </p:spPr>
        <p:txBody>
          <a:bodyPr wrap="square" lIns="0" tIns="0" rIns="0" bIns="0" rtlCol="0" anchor="ctr"/>
          <a:lstStyle/>
          <a:p>
            <a:pPr indent="0" marL="0">
              <a:buNone/>
            </a:pPr>
            <a:r>
              <a:rPr lang="en-US" sz="1600" b="1" dirty="0">
                <a:solidFill>
                  <a:srgbClr val="990011"/>
                </a:solidFill>
                <a:latin typeface="Cambria" pitchFamily="34" charset="0"/>
                <a:ea typeface="Cambria" pitchFamily="34" charset="-122"/>
                <a:cs typeface="Cambria" pitchFamily="34" charset="-120"/>
              </a:rPr>
              <a:t>DONE looks like</a:t>
            </a:r>
            <a:endParaRPr lang="en-US" sz="1600" dirty="0"/>
          </a:p>
        </p:txBody>
      </p:sp>
      <p:sp>
        <p:nvSpPr>
          <p:cNvPr id="20" name="Text 16"/>
          <p:cNvSpPr/>
          <p:nvPr/>
        </p:nvSpPr>
        <p:spPr>
          <a:xfrm>
            <a:off x="5943600" y="2057400"/>
            <a:ext cx="2468880" cy="169164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Every label works.</a:t>
            </a: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Only one batch can be ticked.</a:t>
            </a: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The URL shows batch=morning (not on).</a:t>
            </a: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Submit really submits.</a:t>
            </a:r>
            <a:endParaRPr lang="en-US" sz="1250" dirty="0"/>
          </a:p>
        </p:txBody>
      </p:sp>
      <p:sp>
        <p:nvSpPr>
          <p:cNvPr id="21" name="Shape 17"/>
          <p:cNvSpPr/>
          <p:nvPr/>
        </p:nvSpPr>
        <p:spPr>
          <a:xfrm>
            <a:off x="548640" y="4206240"/>
            <a:ext cx="8046720" cy="502920"/>
          </a:xfrm>
          <a:prstGeom prst="roundRect">
            <a:avLst>
              <a:gd name="adj" fmla="val 14545"/>
            </a:avLst>
          </a:prstGeom>
          <a:solidFill>
            <a:srgbClr val="F5EBD8"/>
          </a:solidFill>
          <a:ln/>
        </p:spPr>
      </p:sp>
      <p:sp>
        <p:nvSpPr>
          <p:cNvPr id="22" name="Text 18"/>
          <p:cNvSpPr/>
          <p:nvPr/>
        </p:nvSpPr>
        <p:spPr>
          <a:xfrm>
            <a:off x="749808" y="4206240"/>
            <a:ext cx="7644384" cy="502920"/>
          </a:xfrm>
          <a:prstGeom prst="rect">
            <a:avLst/>
          </a:prstGeom>
          <a:noFill/>
          <a:ln/>
        </p:spPr>
        <p:txBody>
          <a:bodyPr wrap="square" lIns="0" tIns="0" rIns="0" bIns="0" rtlCol="0" anchor="ctr"/>
          <a:lstStyle/>
          <a:p>
            <a:pPr indent="0" marL="0">
              <a:buNone/>
            </a:pPr>
            <a:r>
              <a:rPr lang="en-US" sz="1250" b="1" dirty="0">
                <a:solidFill>
                  <a:srgbClr val="9A701F"/>
                </a:solidFill>
                <a:latin typeface="Calibri" pitchFamily="34" charset="0"/>
                <a:ea typeface="Calibri" pitchFamily="34" charset="-122"/>
                <a:cs typeface="Calibri" pitchFamily="34" charset="-120"/>
              </a:rPr>
              <a:t>6 bugs. Find at least 4.  </a:t>
            </a:r>
            <a:pPr indent="0" marL="0">
              <a:buNone/>
            </a:pPr>
            <a:r>
              <a:rPr lang="en-US" sz="1250" dirty="0">
                <a:solidFill>
                  <a:srgbClr val="2C3547"/>
                </a:solidFill>
                <a:latin typeface="Calibri" pitchFamily="34" charset="0"/>
                <a:ea typeface="Calibri" pitchFamily="34" charset="-122"/>
                <a:cs typeface="Calibri" pitchFamily="34" charset="-120"/>
              </a:rPr>
              <a:t>The form looks short? Fix the self-closed &lt;textarea /&gt; first: it hides another bug.</a:t>
            </a:r>
            <a:endParaRPr lang="en-US" sz="12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edit-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612648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D1-14  ·  Extend the order slip</a:t>
            </a:r>
            <a:endParaRPr lang="en-US" sz="2700" dirty="0"/>
          </a:p>
        </p:txBody>
      </p:sp>
      <p:sp>
        <p:nvSpPr>
          <p:cNvPr id="5" name="Text 2"/>
          <p:cNvSpPr/>
          <p:nvPr/>
        </p:nvSpPr>
        <p:spPr>
          <a:xfrm>
            <a:off x="7315200" y="402336"/>
            <a:ext cx="1417320" cy="310896"/>
          </a:xfrm>
          <a:prstGeom prst="roundRect">
            <a:avLst>
              <a:gd name="adj" fmla="val 50000"/>
            </a:avLst>
          </a:prstGeom>
          <a:solidFill>
            <a:srgbClr val="F5EBD8"/>
          </a:solidFill>
          <a:ln/>
        </p:spPr>
        <p:txBody>
          <a:bodyPr wrap="square" lIns="0" tIns="0" rIns="0" bIns="0" rtlCol="0" anchor="ctr"/>
          <a:lstStyle/>
          <a:p>
            <a:pPr algn="ctr" indent="0" marL="0">
              <a:buNone/>
            </a:pPr>
            <a:r>
              <a:rPr lang="en-US" sz="1100" b="1" spc="200" kern="0" dirty="0">
                <a:solidFill>
                  <a:srgbClr val="9A701F"/>
                </a:solidFill>
                <a:latin typeface="Calibri" pitchFamily="34" charset="0"/>
                <a:ea typeface="Calibri" pitchFamily="34" charset="-122"/>
                <a:cs typeface="Calibri" pitchFamily="34" charset="-120"/>
              </a:rPr>
              <a:t>ACTIVITY</a:t>
            </a:r>
            <a:endParaRPr lang="en-US" sz="1100" dirty="0"/>
          </a:p>
        </p:txBody>
      </p:sp>
      <p:sp>
        <p:nvSpPr>
          <p:cNvPr id="7" name="Text 3"/>
          <p:cNvSpPr/>
          <p:nvPr/>
        </p:nvSpPr>
        <p:spPr>
          <a:xfrm>
            <a:off x="548640" y="1078992"/>
            <a:ext cx="8046720" cy="274320"/>
          </a:xfrm>
          <a:prstGeom prst="rect">
            <a:avLst/>
          </a:prstGeom>
          <a:noFill/>
          <a:ln/>
        </p:spPr>
        <p:txBody>
          <a:bodyPr wrap="square" lIns="0" tIns="0" rIns="0" bIns="0" rtlCol="0" anchor="ctr"/>
          <a:lstStyle/>
          <a:p>
            <a:pPr indent="0" marL="0">
              <a:buNone/>
            </a:pPr>
            <a:r>
              <a:rPr lang="en-US" sz="1300" b="1" dirty="0">
                <a:solidFill>
                  <a:srgbClr val="990011"/>
                </a:solidFill>
                <a:latin typeface="Calibri" pitchFamily="34" charset="0"/>
                <a:ea typeface="Calibri" pitchFamily="34" charset="-122"/>
                <a:cs typeface="Calibri" pitchFamily="34" charset="-120"/>
              </a:rPr>
              <a:t>7 minutes  ·  solo  ·  W2D1/classwork/D1-14-extend-order-slip/</a:t>
            </a:r>
            <a:endParaRPr lang="en-US" sz="1300" dirty="0"/>
          </a:p>
        </p:txBody>
      </p:sp>
      <p:sp>
        <p:nvSpPr>
          <p:cNvPr id="8" name="Text 4"/>
          <p:cNvSpPr/>
          <p:nvPr/>
        </p:nvSpPr>
        <p:spPr>
          <a:xfrm>
            <a:off x="566928" y="15544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5"/>
          <p:cNvSpPr/>
          <p:nvPr/>
        </p:nvSpPr>
        <p:spPr>
          <a:xfrm>
            <a:off x="1005840" y="15270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Required: a tel field with a label</a:t>
            </a:r>
            <a:endParaRPr lang="en-US" sz="1350" dirty="0"/>
          </a:p>
        </p:txBody>
      </p:sp>
      <p:sp>
        <p:nvSpPr>
          <p:cNvPr id="10" name="Text 6"/>
          <p:cNvSpPr/>
          <p:nvPr/>
        </p:nvSpPr>
        <p:spPr>
          <a:xfrm>
            <a:off x="566928" y="20116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7"/>
          <p:cNvSpPr/>
          <p:nvPr/>
        </p:nvSpPr>
        <p:spPr>
          <a:xfrm>
            <a:off x="1005840" y="19842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Required: Morning / Evening radios, one shared name</a:t>
            </a:r>
            <a:endParaRPr lang="en-US" sz="1350" dirty="0"/>
          </a:p>
        </p:txBody>
      </p:sp>
      <p:sp>
        <p:nvSpPr>
          <p:cNvPr id="12" name="Text 8"/>
          <p:cNvSpPr/>
          <p:nvPr/>
        </p:nvSpPr>
        <p:spPr>
          <a:xfrm>
            <a:off x="566928" y="24688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9"/>
          <p:cNvSpPr/>
          <p:nvPr/>
        </p:nvSpPr>
        <p:spPr>
          <a:xfrm>
            <a:off x="1005840" y="24414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Required: a &lt;fieldset&gt; + &lt;legend&gt; around them</a:t>
            </a:r>
            <a:endParaRPr lang="en-US" sz="1350" dirty="0"/>
          </a:p>
        </p:txBody>
      </p:sp>
      <p:sp>
        <p:nvSpPr>
          <p:cNvPr id="14" name="Text 10"/>
          <p:cNvSpPr/>
          <p:nvPr/>
        </p:nvSpPr>
        <p:spPr>
          <a:xfrm>
            <a:off x="566928" y="29260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1"/>
          <p:cNvSpPr/>
          <p:nvPr/>
        </p:nvSpPr>
        <p:spPr>
          <a:xfrm>
            <a:off x="1005840" y="28986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Bonus: date, 2 checkboxes, type="color" (T-shirt)</a:t>
            </a:r>
            <a:endParaRPr lang="en-US" sz="1350" dirty="0"/>
          </a:p>
        </p:txBody>
      </p:sp>
      <p:sp>
        <p:nvSpPr>
          <p:cNvPr id="16" name="Text 12"/>
          <p:cNvSpPr/>
          <p:nvPr/>
        </p:nvSpPr>
        <p:spPr>
          <a:xfrm>
            <a:off x="566928" y="33832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7" name="Text 13"/>
          <p:cNvSpPr/>
          <p:nvPr/>
        </p:nvSpPr>
        <p:spPr>
          <a:xfrm>
            <a:off x="1005840" y="33558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Submit. Read the URL. Every answer there?</a:t>
            </a:r>
            <a:endParaRPr lang="en-US" sz="1350" dirty="0"/>
          </a:p>
        </p:txBody>
      </p:sp>
      <p:sp>
        <p:nvSpPr>
          <p:cNvPr id="18" name="Shape 14"/>
          <p:cNvSpPr/>
          <p:nvPr/>
        </p:nvSpPr>
        <p:spPr>
          <a:xfrm>
            <a:off x="5760720" y="1554480"/>
            <a:ext cx="2834640" cy="2331720"/>
          </a:xfrm>
          <a:prstGeom prst="roundRect">
            <a:avLst>
              <a:gd name="adj" fmla="val 3137"/>
            </a:avLst>
          </a:prstGeom>
          <a:solidFill>
            <a:srgbClr val="FFF3F4"/>
          </a:solidFill>
          <a:ln/>
        </p:spPr>
      </p:sp>
      <p:sp>
        <p:nvSpPr>
          <p:cNvPr id="19" name="Text 15"/>
          <p:cNvSpPr/>
          <p:nvPr/>
        </p:nvSpPr>
        <p:spPr>
          <a:xfrm>
            <a:off x="5943600" y="1682496"/>
            <a:ext cx="2468880" cy="320040"/>
          </a:xfrm>
          <a:prstGeom prst="rect">
            <a:avLst/>
          </a:prstGeom>
          <a:noFill/>
          <a:ln/>
        </p:spPr>
        <p:txBody>
          <a:bodyPr wrap="square" lIns="0" tIns="0" rIns="0" bIns="0" rtlCol="0" anchor="ctr"/>
          <a:lstStyle/>
          <a:p>
            <a:pPr indent="0" marL="0">
              <a:buNone/>
            </a:pPr>
            <a:r>
              <a:rPr lang="en-US" sz="1600" b="1" dirty="0">
                <a:solidFill>
                  <a:srgbClr val="990011"/>
                </a:solidFill>
                <a:latin typeface="Cambria" pitchFamily="34" charset="0"/>
                <a:ea typeface="Cambria" pitchFamily="34" charset="-122"/>
                <a:cs typeface="Cambria" pitchFamily="34" charset="-120"/>
              </a:rPr>
              <a:t>DONE looks like</a:t>
            </a:r>
            <a:endParaRPr lang="en-US" sz="1600" dirty="0"/>
          </a:p>
        </p:txBody>
      </p:sp>
      <p:sp>
        <p:nvSpPr>
          <p:cNvPr id="20" name="Text 16"/>
          <p:cNvSpPr/>
          <p:nvPr/>
        </p:nvSpPr>
        <p:spPr>
          <a:xfrm>
            <a:off x="5943600" y="2057400"/>
            <a:ext cx="2468880" cy="169164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Every input has a label.</a:t>
            </a:r>
            <a:endParaRPr lang="en-US" sz="1250" dirty="0"/>
          </a:p>
          <a:p>
            <a:pPr indent="0" marL="0">
              <a:buNone/>
            </a:pP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The URL shows phone=…&amp;batch=morning.</a:t>
            </a:r>
            <a:endParaRPr lang="en-US" sz="1250" dirty="0"/>
          </a:p>
          <a:p>
            <a:pPr indent="0" marL="0">
              <a:buNone/>
            </a:pP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The fieldset draws a box with a title.</a:t>
            </a:r>
            <a:endParaRPr lang="en-US" sz="1250" dirty="0"/>
          </a:p>
        </p:txBody>
      </p:sp>
      <p:sp>
        <p:nvSpPr>
          <p:cNvPr id="21" name="Shape 17"/>
          <p:cNvSpPr/>
          <p:nvPr/>
        </p:nvSpPr>
        <p:spPr>
          <a:xfrm>
            <a:off x="548640" y="4206240"/>
            <a:ext cx="8046720" cy="502920"/>
          </a:xfrm>
          <a:prstGeom prst="roundRect">
            <a:avLst>
              <a:gd name="adj" fmla="val 14545"/>
            </a:avLst>
          </a:prstGeom>
          <a:solidFill>
            <a:srgbClr val="F5EBD8"/>
          </a:solidFill>
          <a:ln/>
        </p:spPr>
      </p:sp>
      <p:sp>
        <p:nvSpPr>
          <p:cNvPr id="22" name="Text 18"/>
          <p:cNvSpPr/>
          <p:nvPr/>
        </p:nvSpPr>
        <p:spPr>
          <a:xfrm>
            <a:off x="749808" y="4206240"/>
            <a:ext cx="7644384" cy="502920"/>
          </a:xfrm>
          <a:prstGeom prst="rect">
            <a:avLst/>
          </a:prstGeom>
          <a:noFill/>
          <a:ln/>
        </p:spPr>
        <p:txBody>
          <a:bodyPr wrap="square" lIns="0" tIns="0" rIns="0" bIns="0" rtlCol="0" anchor="ctr"/>
          <a:lstStyle/>
          <a:p>
            <a:pPr indent="0" marL="0">
              <a:buNone/>
            </a:pPr>
            <a:r>
              <a:rPr lang="en-US" sz="1250" b="1" dirty="0">
                <a:solidFill>
                  <a:srgbClr val="9A701F"/>
                </a:solidFill>
                <a:latin typeface="Calibri" pitchFamily="34" charset="0"/>
                <a:ea typeface="Calibri" pitchFamily="34" charset="-122"/>
                <a:cs typeface="Calibri" pitchFamily="34" charset="-120"/>
              </a:rPr>
              <a:t>Test by submitting:  </a:t>
            </a:r>
            <a:pPr indent="0" marL="0">
              <a:buNone/>
            </a:pPr>
            <a:r>
              <a:rPr lang="en-US" sz="1250" dirty="0">
                <a:solidFill>
                  <a:srgbClr val="2C3547"/>
                </a:solidFill>
                <a:latin typeface="Calibri" pitchFamily="34" charset="0"/>
                <a:ea typeface="Calibri" pitchFamily="34" charset="-122"/>
                <a:cs typeface="Calibri" pitchFamily="34" charset="-120"/>
              </a:rPr>
              <a:t>if an answer is missing from the URL, its input has no name.</a:t>
            </a:r>
            <a:endParaRPr lang="en-US" sz="12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users-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612648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D1-15  ·  Momo House repair relay</a:t>
            </a:r>
            <a:endParaRPr lang="en-US" sz="2700" dirty="0"/>
          </a:p>
        </p:txBody>
      </p:sp>
      <p:sp>
        <p:nvSpPr>
          <p:cNvPr id="5" name="Text 2"/>
          <p:cNvSpPr/>
          <p:nvPr/>
        </p:nvSpPr>
        <p:spPr>
          <a:xfrm>
            <a:off x="7315200" y="402336"/>
            <a:ext cx="1417320" cy="310896"/>
          </a:xfrm>
          <a:prstGeom prst="roundRect">
            <a:avLst>
              <a:gd name="adj" fmla="val 50000"/>
            </a:avLst>
          </a:prstGeom>
          <a:solidFill>
            <a:srgbClr val="F5EBD8"/>
          </a:solidFill>
          <a:ln/>
        </p:spPr>
        <p:txBody>
          <a:bodyPr wrap="square" lIns="0" tIns="0" rIns="0" bIns="0" rtlCol="0" anchor="ctr"/>
          <a:lstStyle/>
          <a:p>
            <a:pPr algn="ctr" indent="0" marL="0">
              <a:buNone/>
            </a:pPr>
            <a:r>
              <a:rPr lang="en-US" sz="1100" b="1" spc="200" kern="0" dirty="0">
                <a:solidFill>
                  <a:srgbClr val="9A701F"/>
                </a:solidFill>
                <a:latin typeface="Calibri" pitchFamily="34" charset="0"/>
                <a:ea typeface="Calibri" pitchFamily="34" charset="-122"/>
                <a:cs typeface="Calibri" pitchFamily="34" charset="-120"/>
              </a:rPr>
              <a:t>ACTIVITY</a:t>
            </a:r>
            <a:endParaRPr lang="en-US" sz="1100" dirty="0"/>
          </a:p>
        </p:txBody>
      </p:sp>
      <p:sp>
        <p:nvSpPr>
          <p:cNvPr id="7" name="Text 3"/>
          <p:cNvSpPr/>
          <p:nvPr/>
        </p:nvSpPr>
        <p:spPr>
          <a:xfrm>
            <a:off x="548640" y="1078992"/>
            <a:ext cx="8046720" cy="274320"/>
          </a:xfrm>
          <a:prstGeom prst="rect">
            <a:avLst/>
          </a:prstGeom>
          <a:noFill/>
          <a:ln/>
        </p:spPr>
        <p:txBody>
          <a:bodyPr wrap="square" lIns="0" tIns="0" rIns="0" bIns="0" rtlCol="0" anchor="ctr"/>
          <a:lstStyle/>
          <a:p>
            <a:pPr indent="0" marL="0">
              <a:buNone/>
            </a:pPr>
            <a:r>
              <a:rPr lang="en-US" sz="1300" b="1" dirty="0">
                <a:solidFill>
                  <a:srgbClr val="990011"/>
                </a:solidFill>
                <a:latin typeface="Calibri" pitchFamily="34" charset="0"/>
                <a:ea typeface="Calibri" pitchFamily="34" charset="-122"/>
                <a:cs typeface="Calibri" pitchFamily="34" charset="-120"/>
              </a:rPr>
              <a:t>17 minutes  ·  pairs  ·  W2D1/classwork/D1-15-momo-house-repair/</a:t>
            </a:r>
            <a:endParaRPr lang="en-US" sz="1300" dirty="0"/>
          </a:p>
        </p:txBody>
      </p:sp>
      <p:sp>
        <p:nvSpPr>
          <p:cNvPr id="8" name="Text 4"/>
          <p:cNvSpPr/>
          <p:nvPr/>
        </p:nvSpPr>
        <p:spPr>
          <a:xfrm>
            <a:off x="566928" y="15544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5"/>
          <p:cNvSpPr/>
          <p:nvPr/>
        </p:nvSpPr>
        <p:spPr>
          <a:xfrm>
            <a:off x="1005840" y="15270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Driver types. Navigator reads and points.</a:t>
            </a:r>
            <a:endParaRPr lang="en-US" sz="1350" dirty="0"/>
          </a:p>
        </p:txBody>
      </p:sp>
      <p:sp>
        <p:nvSpPr>
          <p:cNvPr id="10" name="Text 6"/>
          <p:cNvSpPr/>
          <p:nvPr/>
        </p:nvSpPr>
        <p:spPr>
          <a:xfrm>
            <a:off x="566928" y="20116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7"/>
          <p:cNvSpPr/>
          <p:nvPr/>
        </p:nvSpPr>
        <p:spPr>
          <a:xfrm>
            <a:off x="1005840" y="19842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Swap after EVERY bug.</a:t>
            </a:r>
            <a:endParaRPr lang="en-US" sz="1350" dirty="0"/>
          </a:p>
        </p:txBody>
      </p:sp>
      <p:sp>
        <p:nvSpPr>
          <p:cNvPr id="12" name="Text 8"/>
          <p:cNvSpPr/>
          <p:nvPr/>
        </p:nvSpPr>
        <p:spPr>
          <a:xfrm>
            <a:off x="566928" y="24688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9"/>
          <p:cNvSpPr/>
          <p:nvPr/>
        </p:nvSpPr>
        <p:spPr>
          <a:xfrm>
            <a:off x="1005840" y="24414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1 point per bug + 1 for naming its tag (V, D(HH), R…)</a:t>
            </a:r>
            <a:endParaRPr lang="en-US" sz="1350" dirty="0"/>
          </a:p>
        </p:txBody>
      </p:sp>
      <p:sp>
        <p:nvSpPr>
          <p:cNvPr id="14" name="Text 10"/>
          <p:cNvSpPr/>
          <p:nvPr/>
        </p:nvSpPr>
        <p:spPr>
          <a:xfrm>
            <a:off x="566928" y="29260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1"/>
          <p:cNvSpPr/>
          <p:nvPr/>
        </p:nvSpPr>
        <p:spPr>
          <a:xfrm>
            <a:off x="1005840" y="28986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order.html: fix the textarea first</a:t>
            </a:r>
            <a:endParaRPr lang="en-US" sz="1350" dirty="0"/>
          </a:p>
        </p:txBody>
      </p:sp>
      <p:sp>
        <p:nvSpPr>
          <p:cNvPr id="16" name="Text 12"/>
          <p:cNvSpPr/>
          <p:nvPr/>
        </p:nvSpPr>
        <p:spPr>
          <a:xfrm>
            <a:off x="566928" y="33832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7" name="Text 13"/>
          <p:cNvSpPr/>
          <p:nvPr/>
        </p:nvSpPr>
        <p:spPr>
          <a:xfrm>
            <a:off x="1005840" y="33558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Done? Become helpers (point, do not type)</a:t>
            </a:r>
            <a:endParaRPr lang="en-US" sz="135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760720" y="1554480"/>
          <a:ext cx="2834640" cy="914400"/>
        </p:xfrm>
        <a:graphic>
          <a:graphicData uri="http://schemas.openxmlformats.org/drawingml/2006/table">
            <a:tbl>
              <a:tblPr/>
              <a:tblGrid>
                <a:gridCol w="1737360"/>
                <a:gridCol w="109728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Page</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Bugs</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14213D"/>
                    </a:solidFill>
                  </a:tcPr>
                </a:tc>
              </a:tr>
              <a:tr h="384048">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index.html</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3</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r>
              <a:tr h="384048">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menu.html</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3</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384048">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order.html</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r>
              <a:tr h="384048">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about.html</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9" name="Shape 14"/>
          <p:cNvSpPr/>
          <p:nvPr/>
        </p:nvSpPr>
        <p:spPr>
          <a:xfrm>
            <a:off x="548640" y="4206240"/>
            <a:ext cx="8046720" cy="548640"/>
          </a:xfrm>
          <a:prstGeom prst="roundRect">
            <a:avLst>
              <a:gd name="adj" fmla="val 13333"/>
            </a:avLst>
          </a:prstGeom>
          <a:solidFill>
            <a:srgbClr val="F5EBD8"/>
          </a:solidFill>
          <a:ln/>
        </p:spPr>
      </p:sp>
      <p:sp>
        <p:nvSpPr>
          <p:cNvPr id="20" name="Text 15"/>
          <p:cNvSpPr/>
          <p:nvPr/>
        </p:nvSpPr>
        <p:spPr>
          <a:xfrm>
            <a:off x="749808" y="4206240"/>
            <a:ext cx="7644384" cy="548640"/>
          </a:xfrm>
          <a:prstGeom prst="rect">
            <a:avLst/>
          </a:prstGeom>
          <a:noFill/>
          <a:ln/>
        </p:spPr>
        <p:txBody>
          <a:bodyPr wrap="square" lIns="0" tIns="0" rIns="0" bIns="0" rtlCol="0" anchor="ctr"/>
          <a:lstStyle/>
          <a:p>
            <a:pPr indent="0" marL="0">
              <a:buNone/>
            </a:pPr>
            <a:r>
              <a:rPr lang="en-US" sz="1250" b="1" dirty="0">
                <a:solidFill>
                  <a:srgbClr val="9A701F"/>
                </a:solidFill>
                <a:latin typeface="Calibri" pitchFamily="34" charset="0"/>
                <a:ea typeface="Calibri" pitchFamily="34" charset="-122"/>
                <a:cs typeface="Calibri" pitchFamily="34" charset="-120"/>
              </a:rPr>
              <a:t>10 bugs. Find at least 8.  </a:t>
            </a:r>
            <a:pPr indent="0" marL="0">
              <a:buNone/>
            </a:pPr>
            <a:r>
              <a:rPr lang="en-US" sz="1250" dirty="0">
                <a:solidFill>
                  <a:srgbClr val="2C3547"/>
                </a:solidFill>
                <a:latin typeface="Calibri" pitchFamily="34" charset="0"/>
                <a:ea typeface="Calibri" pitchFamily="34" charset="-122"/>
                <a:cs typeface="Calibri" pitchFamily="34" charset="-120"/>
              </a:rPr>
              <a:t>Scores on the whiteboard at 3:38 and 3:45. Then the reveal.</a:t>
            </a:r>
            <a:endParaRPr lang="en-US" sz="12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check-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612648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D1-16  ·  Validate &amp; self-audit</a:t>
            </a:r>
            <a:endParaRPr lang="en-US" sz="2700" dirty="0"/>
          </a:p>
        </p:txBody>
      </p:sp>
      <p:sp>
        <p:nvSpPr>
          <p:cNvPr id="5" name="Text 2"/>
          <p:cNvSpPr/>
          <p:nvPr/>
        </p:nvSpPr>
        <p:spPr>
          <a:xfrm>
            <a:off x="7315200" y="402336"/>
            <a:ext cx="1417320" cy="310896"/>
          </a:xfrm>
          <a:prstGeom prst="roundRect">
            <a:avLst>
              <a:gd name="adj" fmla="val 50000"/>
            </a:avLst>
          </a:prstGeom>
          <a:solidFill>
            <a:srgbClr val="F5EBD8"/>
          </a:solidFill>
          <a:ln/>
        </p:spPr>
        <p:txBody>
          <a:bodyPr wrap="square" lIns="0" tIns="0" rIns="0" bIns="0" rtlCol="0" anchor="ctr"/>
          <a:lstStyle/>
          <a:p>
            <a:pPr algn="ctr" indent="0" marL="0">
              <a:buNone/>
            </a:pPr>
            <a:r>
              <a:rPr lang="en-US" sz="1100" b="1" spc="200" kern="0" dirty="0">
                <a:solidFill>
                  <a:srgbClr val="9A701F"/>
                </a:solidFill>
                <a:latin typeface="Calibri" pitchFamily="34" charset="0"/>
                <a:ea typeface="Calibri" pitchFamily="34" charset="-122"/>
                <a:cs typeface="Calibri" pitchFamily="34" charset="-120"/>
              </a:rPr>
              <a:t>ACTIVITY</a:t>
            </a:r>
            <a:endParaRPr lang="en-US" sz="1100" dirty="0"/>
          </a:p>
        </p:txBody>
      </p:sp>
      <p:sp>
        <p:nvSpPr>
          <p:cNvPr id="7" name="Text 3"/>
          <p:cNvSpPr/>
          <p:nvPr/>
        </p:nvSpPr>
        <p:spPr>
          <a:xfrm>
            <a:off x="548640" y="1078992"/>
            <a:ext cx="8046720" cy="274320"/>
          </a:xfrm>
          <a:prstGeom prst="rect">
            <a:avLst/>
          </a:prstGeom>
          <a:noFill/>
          <a:ln/>
        </p:spPr>
        <p:txBody>
          <a:bodyPr wrap="square" lIns="0" tIns="0" rIns="0" bIns="0" rtlCol="0" anchor="ctr"/>
          <a:lstStyle/>
          <a:p>
            <a:pPr indent="0" marL="0">
              <a:buNone/>
            </a:pPr>
            <a:r>
              <a:rPr lang="en-US" sz="1300" b="1" dirty="0">
                <a:solidFill>
                  <a:srgbClr val="990011"/>
                </a:solidFill>
                <a:latin typeface="Calibri" pitchFamily="34" charset="0"/>
                <a:ea typeface="Calibri" pitchFamily="34" charset="-122"/>
                <a:cs typeface="Calibri" pitchFamily="34" charset="-120"/>
              </a:rPr>
              <a:t>4 minutes  ·  solo  ·  W2D1/classwork/D1-16-validate-self-audit/</a:t>
            </a:r>
            <a:endParaRPr lang="en-US" sz="1300" dirty="0"/>
          </a:p>
        </p:txBody>
      </p:sp>
      <p:sp>
        <p:nvSpPr>
          <p:cNvPr id="8" name="Text 4"/>
          <p:cNvSpPr/>
          <p:nvPr/>
        </p:nvSpPr>
        <p:spPr>
          <a:xfrm>
            <a:off x="566928" y="15544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5"/>
          <p:cNvSpPr/>
          <p:nvPr/>
        </p:nvSpPr>
        <p:spPr>
          <a:xfrm>
            <a:off x="1005840" y="15270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Open YOUR D1-10 gallery folder</a:t>
            </a:r>
            <a:endParaRPr lang="en-US" sz="1350" dirty="0"/>
          </a:p>
        </p:txBody>
      </p:sp>
      <p:sp>
        <p:nvSpPr>
          <p:cNvPr id="10" name="Text 6"/>
          <p:cNvSpPr/>
          <p:nvPr/>
        </p:nvSpPr>
        <p:spPr>
          <a:xfrm>
            <a:off x="566928" y="20116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7"/>
          <p:cNvSpPr/>
          <p:nvPr/>
        </p:nvSpPr>
        <p:spPr>
          <a:xfrm>
            <a:off x="1005840" y="19842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Ctrl+Shift+M: fix every HTMLHint problem</a:t>
            </a:r>
            <a:endParaRPr lang="en-US" sz="1350" dirty="0"/>
          </a:p>
        </p:txBody>
      </p:sp>
      <p:sp>
        <p:nvSpPr>
          <p:cNvPr id="12" name="Text 8"/>
          <p:cNvSpPr/>
          <p:nvPr/>
        </p:nvSpPr>
        <p:spPr>
          <a:xfrm>
            <a:off x="566928" y="24688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9"/>
          <p:cNvSpPr/>
          <p:nvPr/>
        </p:nvSpPr>
        <p:spPr>
          <a:xfrm>
            <a:off x="1005840" y="24414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Tick the audit checklist in the README</a:t>
            </a:r>
            <a:endParaRPr lang="en-US" sz="1350" dirty="0"/>
          </a:p>
        </p:txBody>
      </p:sp>
      <p:sp>
        <p:nvSpPr>
          <p:cNvPr id="14" name="Text 10"/>
          <p:cNvSpPr/>
          <p:nvPr/>
        </p:nvSpPr>
        <p:spPr>
          <a:xfrm>
            <a:off x="566928" y="29260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1"/>
          <p:cNvSpPr/>
          <p:nvPr/>
        </p:nvSpPr>
        <p:spPr>
          <a:xfrm>
            <a:off x="1005840" y="28986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Wi-Fi? Paste it into validator.w3.org</a:t>
            </a:r>
            <a:endParaRPr lang="en-US" sz="1350" dirty="0"/>
          </a:p>
        </p:txBody>
      </p:sp>
      <p:sp>
        <p:nvSpPr>
          <p:cNvPr id="16" name="Text 12"/>
          <p:cNvSpPr/>
          <p:nvPr/>
        </p:nvSpPr>
        <p:spPr>
          <a:xfrm>
            <a:off x="566928" y="3383280"/>
            <a:ext cx="310896" cy="310896"/>
          </a:xfrm>
          <a:prstGeom prst="ellipse">
            <a:avLst/>
          </a:prstGeom>
          <a:solidFill>
            <a:srgbClr val="990011"/>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7" name="Text 13"/>
          <p:cNvSpPr/>
          <p:nvPr/>
        </p:nvSpPr>
        <p:spPr>
          <a:xfrm>
            <a:off x="1005840" y="3355848"/>
            <a:ext cx="4590288" cy="365760"/>
          </a:xfrm>
          <a:prstGeom prst="rect">
            <a:avLst/>
          </a:prstGeom>
          <a:noFill/>
          <a:ln/>
        </p:spPr>
        <p:txBody>
          <a:bodyPr wrap="square" lIns="0" tIns="0" rIns="0" bIns="0" rtlCol="0" anchor="ctr">
            <a:normAutofit/>
          </a:bodyPr>
          <a:lstStyle/>
          <a:p>
            <a:pPr indent="0" marL="0">
              <a:buNone/>
            </a:pPr>
            <a:r>
              <a:rPr lang="en-US" sz="1350" dirty="0">
                <a:solidFill>
                  <a:srgbClr val="14213D"/>
                </a:solidFill>
                <a:latin typeface="Calibri" pitchFamily="34" charset="0"/>
                <a:ea typeface="Calibri" pitchFamily="34" charset="-122"/>
                <a:cs typeface="Calibri" pitchFamily="34" charset="-120"/>
              </a:rPr>
              <a:t>Problems panel at 0? Hand up.</a:t>
            </a:r>
            <a:endParaRPr lang="en-US" sz="1350" dirty="0"/>
          </a:p>
        </p:txBody>
      </p:sp>
      <p:sp>
        <p:nvSpPr>
          <p:cNvPr id="18" name="Shape 14"/>
          <p:cNvSpPr/>
          <p:nvPr/>
        </p:nvSpPr>
        <p:spPr>
          <a:xfrm>
            <a:off x="5760720" y="1554480"/>
            <a:ext cx="2834640" cy="2331720"/>
          </a:xfrm>
          <a:prstGeom prst="roundRect">
            <a:avLst>
              <a:gd name="adj" fmla="val 3137"/>
            </a:avLst>
          </a:prstGeom>
          <a:solidFill>
            <a:srgbClr val="FFF3F4"/>
          </a:solidFill>
          <a:ln/>
        </p:spPr>
      </p:sp>
      <p:sp>
        <p:nvSpPr>
          <p:cNvPr id="19" name="Text 15"/>
          <p:cNvSpPr/>
          <p:nvPr/>
        </p:nvSpPr>
        <p:spPr>
          <a:xfrm>
            <a:off x="5943600" y="1682496"/>
            <a:ext cx="2468880" cy="320040"/>
          </a:xfrm>
          <a:prstGeom prst="rect">
            <a:avLst/>
          </a:prstGeom>
          <a:noFill/>
          <a:ln/>
        </p:spPr>
        <p:txBody>
          <a:bodyPr wrap="square" lIns="0" tIns="0" rIns="0" bIns="0" rtlCol="0" anchor="ctr"/>
          <a:lstStyle/>
          <a:p>
            <a:pPr indent="0" marL="0">
              <a:buNone/>
            </a:pPr>
            <a:r>
              <a:rPr lang="en-US" sz="1600" b="1" dirty="0">
                <a:solidFill>
                  <a:srgbClr val="990011"/>
                </a:solidFill>
                <a:latin typeface="Cambria" pitchFamily="34" charset="0"/>
                <a:ea typeface="Cambria" pitchFamily="34" charset="-122"/>
                <a:cs typeface="Cambria" pitchFamily="34" charset="-120"/>
              </a:rPr>
              <a:t>DONE looks like</a:t>
            </a:r>
            <a:endParaRPr lang="en-US" sz="1600" dirty="0"/>
          </a:p>
        </p:txBody>
      </p:sp>
      <p:sp>
        <p:nvSpPr>
          <p:cNvPr id="20" name="Text 16"/>
          <p:cNvSpPr/>
          <p:nvPr/>
        </p:nvSpPr>
        <p:spPr>
          <a:xfrm>
            <a:off x="5943600" y="2057400"/>
            <a:ext cx="2468880" cy="169164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Problems panel: 0.</a:t>
            </a:r>
            <a:endParaRPr lang="en-US" sz="1250" dirty="0"/>
          </a:p>
          <a:p>
            <a:pPr indent="0" marL="0">
              <a:buNone/>
            </a:pPr>
            <a:endParaRPr lang="en-US" sz="1250" dirty="0"/>
          </a:p>
          <a:p>
            <a:pPr indent="0" marL="0">
              <a:buNone/>
            </a:pPr>
            <a:r>
              <a:rPr lang="en-US" sz="1250" dirty="0">
                <a:solidFill>
                  <a:srgbClr val="2C3547"/>
                </a:solidFill>
                <a:latin typeface="Calibri" pitchFamily="34" charset="0"/>
                <a:ea typeface="Calibri" pitchFamily="34" charset="-122"/>
                <a:cs typeface="Calibri" pitchFamily="34" charset="-120"/>
              </a:rPr>
              <a:t>Checklist ticked: skeleton, lang, one h1, every img has alt, every link works.</a:t>
            </a:r>
            <a:endParaRPr lang="en-US" sz="1250" dirty="0"/>
          </a:p>
        </p:txBody>
      </p:sp>
      <p:sp>
        <p:nvSpPr>
          <p:cNvPr id="21" name="Shape 17"/>
          <p:cNvSpPr/>
          <p:nvPr/>
        </p:nvSpPr>
        <p:spPr>
          <a:xfrm>
            <a:off x="548640" y="4206240"/>
            <a:ext cx="8046720" cy="502920"/>
          </a:xfrm>
          <a:prstGeom prst="roundRect">
            <a:avLst>
              <a:gd name="adj" fmla="val 14545"/>
            </a:avLst>
          </a:prstGeom>
          <a:solidFill>
            <a:srgbClr val="F5EBD8"/>
          </a:solidFill>
          <a:ln/>
        </p:spPr>
      </p:sp>
      <p:sp>
        <p:nvSpPr>
          <p:cNvPr id="22" name="Text 18"/>
          <p:cNvSpPr/>
          <p:nvPr/>
        </p:nvSpPr>
        <p:spPr>
          <a:xfrm>
            <a:off x="749808" y="4206240"/>
            <a:ext cx="7644384" cy="502920"/>
          </a:xfrm>
          <a:prstGeom prst="rect">
            <a:avLst/>
          </a:prstGeom>
          <a:noFill/>
          <a:ln/>
        </p:spPr>
        <p:txBody>
          <a:bodyPr wrap="square" lIns="0" tIns="0" rIns="0" bIns="0" rtlCol="0" anchor="ctr"/>
          <a:lstStyle/>
          <a:p>
            <a:pPr indent="0" marL="0">
              <a:buNone/>
            </a:pPr>
            <a:r>
              <a:rPr lang="en-US" sz="1250" b="1" dirty="0">
                <a:solidFill>
                  <a:srgbClr val="9A701F"/>
                </a:solidFill>
                <a:latin typeface="Calibri" pitchFamily="34" charset="0"/>
                <a:ea typeface="Calibri" pitchFamily="34" charset="-122"/>
                <a:cs typeface="Calibri" pitchFamily="34" charset="-120"/>
              </a:rPr>
              <a:t>Spell-checker, second round:  </a:t>
            </a:r>
            <a:pPr indent="0" marL="0">
              <a:buNone/>
            </a:pPr>
            <a:r>
              <a:rPr lang="en-US" sz="1250" dirty="0">
                <a:solidFill>
                  <a:srgbClr val="2C3547"/>
                </a:solidFill>
                <a:latin typeface="Calibri" pitchFamily="34" charset="0"/>
                <a:ea typeface="Calibri" pitchFamily="34" charset="-122"/>
                <a:cs typeface="Calibri" pitchFamily="34" charset="-120"/>
              </a:rPr>
              <a:t>the W3C validator finds what HTMLHint cannot (Wi-Fi bonus).</a:t>
            </a:r>
            <a:endParaRPr lang="en-US" sz="12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award-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612648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Rapid quiz: 10 questions, Kahoot-style</a:t>
            </a:r>
            <a:endParaRPr lang="en-US" sz="2700" dirty="0"/>
          </a:p>
        </p:txBody>
      </p:sp>
      <p:sp>
        <p:nvSpPr>
          <p:cNvPr id="5" name="Text 2"/>
          <p:cNvSpPr/>
          <p:nvPr/>
        </p:nvSpPr>
        <p:spPr>
          <a:xfrm>
            <a:off x="7315200" y="402336"/>
            <a:ext cx="1417320" cy="310896"/>
          </a:xfrm>
          <a:prstGeom prst="roundRect">
            <a:avLst>
              <a:gd name="adj" fmla="val 50000"/>
            </a:avLst>
          </a:prstGeom>
          <a:solidFill>
            <a:srgbClr val="F5EBD8"/>
          </a:solidFill>
          <a:ln/>
        </p:spPr>
        <p:txBody>
          <a:bodyPr wrap="square" lIns="0" tIns="0" rIns="0" bIns="0" rtlCol="0" anchor="ctr"/>
          <a:lstStyle/>
          <a:p>
            <a:pPr algn="ctr" indent="0" marL="0">
              <a:buNone/>
            </a:pPr>
            <a:r>
              <a:rPr lang="en-US" sz="1100" b="1" spc="200" kern="0" dirty="0">
                <a:solidFill>
                  <a:srgbClr val="9A701F"/>
                </a:solidFill>
                <a:latin typeface="Calibri" pitchFamily="34" charset="0"/>
                <a:ea typeface="Calibri" pitchFamily="34" charset="-122"/>
                <a:cs typeface="Calibri" pitchFamily="34" charset="-120"/>
              </a:rPr>
              <a:t>ACTIVITY</a:t>
            </a:r>
            <a:endParaRPr lang="en-US" sz="1100" dirty="0"/>
          </a:p>
        </p:txBody>
      </p:sp>
      <p:sp>
        <p:nvSpPr>
          <p:cNvPr id="7" name="Text 3"/>
          <p:cNvSpPr/>
          <p:nvPr/>
        </p:nvSpPr>
        <p:spPr>
          <a:xfrm>
            <a:off x="548640" y="1078992"/>
            <a:ext cx="8046720" cy="274320"/>
          </a:xfrm>
          <a:prstGeom prst="rect">
            <a:avLst/>
          </a:prstGeom>
          <a:noFill/>
          <a:ln/>
        </p:spPr>
        <p:txBody>
          <a:bodyPr wrap="square" lIns="0" tIns="0" rIns="0" bIns="0" rtlCol="0" anchor="ctr"/>
          <a:lstStyle/>
          <a:p>
            <a:pPr indent="0" marL="0">
              <a:buNone/>
            </a:pPr>
            <a:r>
              <a:rPr lang="en-US" sz="1300" b="1" dirty="0">
                <a:solidFill>
                  <a:srgbClr val="990011"/>
                </a:solidFill>
                <a:latin typeface="Calibri" pitchFamily="34" charset="0"/>
                <a:ea typeface="Calibri" pitchFamily="34" charset="-122"/>
                <a:cs typeface="Calibri" pitchFamily="34" charset="-120"/>
              </a:rPr>
              <a:t>5 minutes  ·  everyone  ·  30 seconds each  ·  Kahoot or hands up A / B / C / D</a:t>
            </a:r>
            <a:endParaRPr lang="en-US" sz="1300" dirty="0"/>
          </a:p>
        </p:txBody>
      </p:sp>
      <p:sp>
        <p:nvSpPr>
          <p:cNvPr id="8" name="Shape 4"/>
          <p:cNvSpPr/>
          <p:nvPr/>
        </p:nvSpPr>
        <p:spPr>
          <a:xfrm>
            <a:off x="548640" y="1508760"/>
            <a:ext cx="2560320" cy="1600200"/>
          </a:xfrm>
          <a:prstGeom prst="roundRect">
            <a:avLst>
              <a:gd name="adj" fmla="val 4571"/>
            </a:avLst>
          </a:prstGeom>
          <a:solidFill>
            <a:srgbClr val="F9F6F5"/>
          </a:solidFill>
          <a:ln w="9525">
            <a:solidFill>
              <a:srgbClr val="E8E2E1"/>
            </a:solidFill>
            <a:prstDash val="solid"/>
          </a:ln>
        </p:spPr>
      </p:sp>
      <p:sp>
        <p:nvSpPr>
          <p:cNvPr id="9" name="Text 5"/>
          <p:cNvSpPr/>
          <p:nvPr/>
        </p:nvSpPr>
        <p:spPr>
          <a:xfrm>
            <a:off x="731520" y="1636776"/>
            <a:ext cx="2194560" cy="32004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Kahoot (Wi-Fi)</a:t>
            </a:r>
            <a:endParaRPr lang="en-US" sz="1600" dirty="0"/>
          </a:p>
        </p:txBody>
      </p:sp>
      <p:sp>
        <p:nvSpPr>
          <p:cNvPr id="10" name="Text 6"/>
          <p:cNvSpPr/>
          <p:nvPr/>
        </p:nvSpPr>
        <p:spPr>
          <a:xfrm>
            <a:off x="731520" y="2011680"/>
            <a:ext cx="2194560" cy="96012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Join on your phone. 30 seconds per question.</a:t>
            </a:r>
            <a:endParaRPr lang="en-US" sz="1250" dirty="0"/>
          </a:p>
        </p:txBody>
      </p:sp>
      <p:sp>
        <p:nvSpPr>
          <p:cNvPr id="11" name="Shape 7"/>
          <p:cNvSpPr/>
          <p:nvPr/>
        </p:nvSpPr>
        <p:spPr>
          <a:xfrm>
            <a:off x="3291840" y="1508760"/>
            <a:ext cx="2560320" cy="1600200"/>
          </a:xfrm>
          <a:prstGeom prst="roundRect">
            <a:avLst>
              <a:gd name="adj" fmla="val 4571"/>
            </a:avLst>
          </a:prstGeom>
          <a:solidFill>
            <a:srgbClr val="FFF3F4"/>
          </a:solidFill>
          <a:ln/>
        </p:spPr>
      </p:sp>
      <p:sp>
        <p:nvSpPr>
          <p:cNvPr id="12" name="Text 8"/>
          <p:cNvSpPr/>
          <p:nvPr/>
        </p:nvSpPr>
        <p:spPr>
          <a:xfrm>
            <a:off x="3474720" y="1636776"/>
            <a:ext cx="2194560" cy="320040"/>
          </a:xfrm>
          <a:prstGeom prst="rect">
            <a:avLst/>
          </a:prstGeom>
          <a:noFill/>
          <a:ln/>
        </p:spPr>
        <p:txBody>
          <a:bodyPr wrap="square" lIns="0" tIns="0" rIns="0" bIns="0" rtlCol="0" anchor="ctr"/>
          <a:lstStyle/>
          <a:p>
            <a:pPr indent="0" marL="0">
              <a:buNone/>
            </a:pPr>
            <a:r>
              <a:rPr lang="en-US" sz="1600" b="1" dirty="0">
                <a:solidFill>
                  <a:srgbClr val="990011"/>
                </a:solidFill>
                <a:latin typeface="Cambria" pitchFamily="34" charset="0"/>
                <a:ea typeface="Cambria" pitchFamily="34" charset="-122"/>
                <a:cs typeface="Cambria" pitchFamily="34" charset="-120"/>
              </a:rPr>
              <a:t>No Wi-Fi</a:t>
            </a:r>
            <a:endParaRPr lang="en-US" sz="1600" dirty="0"/>
          </a:p>
        </p:txBody>
      </p:sp>
      <p:sp>
        <p:nvSpPr>
          <p:cNvPr id="13" name="Text 9"/>
          <p:cNvSpPr/>
          <p:nvPr/>
        </p:nvSpPr>
        <p:spPr>
          <a:xfrm>
            <a:off x="3474720" y="2011680"/>
            <a:ext cx="2194560" cy="96012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I read the question. Show 1 – 4 fingers for A – D.</a:t>
            </a:r>
            <a:endParaRPr lang="en-US" sz="1250" dirty="0"/>
          </a:p>
        </p:txBody>
      </p:sp>
      <p:sp>
        <p:nvSpPr>
          <p:cNvPr id="14" name="Shape 10"/>
          <p:cNvSpPr/>
          <p:nvPr/>
        </p:nvSpPr>
        <p:spPr>
          <a:xfrm>
            <a:off x="6035040" y="1508760"/>
            <a:ext cx="2560320" cy="1600200"/>
          </a:xfrm>
          <a:prstGeom prst="roundRect">
            <a:avLst>
              <a:gd name="adj" fmla="val 4571"/>
            </a:avLst>
          </a:prstGeom>
          <a:solidFill>
            <a:srgbClr val="F9F6F5"/>
          </a:solidFill>
          <a:ln w="9525">
            <a:solidFill>
              <a:srgbClr val="E8E2E1"/>
            </a:solidFill>
            <a:prstDash val="solid"/>
          </a:ln>
        </p:spPr>
      </p:sp>
      <p:sp>
        <p:nvSpPr>
          <p:cNvPr id="15" name="Text 11"/>
          <p:cNvSpPr/>
          <p:nvPr/>
        </p:nvSpPr>
        <p:spPr>
          <a:xfrm>
            <a:off x="6217920" y="1636776"/>
            <a:ext cx="2194560" cy="32004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Topics</a:t>
            </a:r>
            <a:endParaRPr lang="en-US" sz="1600" dirty="0"/>
          </a:p>
        </p:txBody>
      </p:sp>
      <p:sp>
        <p:nvSpPr>
          <p:cNvPr id="16" name="Text 12"/>
          <p:cNvSpPr/>
          <p:nvPr/>
        </p:nvSpPr>
        <p:spPr>
          <a:xfrm>
            <a:off x="6217920" y="2011680"/>
            <a:ext cx="2194560" cy="960120"/>
          </a:xfrm>
          <a:prstGeom prst="rect">
            <a:avLst/>
          </a:prstGeom>
          <a:noFill/>
          <a:ln/>
        </p:spPr>
        <p:txBody>
          <a:bodyPr wrap="square" lIns="0" tIns="0" rIns="0" bIns="0" rtlCol="0" anchor="t"/>
          <a:lstStyle/>
          <a:p>
            <a:pPr indent="0" marL="0">
              <a:buNone/>
            </a:pPr>
            <a:r>
              <a:rPr lang="en-US" sz="1250" dirty="0">
                <a:solidFill>
                  <a:srgbClr val="2C3547"/>
                </a:solidFill>
                <a:latin typeface="Calibri" pitchFamily="34" charset="0"/>
                <a:ea typeface="Calibri" pitchFamily="34" charset="-122"/>
                <a:cs typeface="Calibri" pitchFamily="34" charset="-120"/>
              </a:rPr>
              <a:t>DNS, skeleton, headings, entities, lists, ../, colspan, labels, radios.</a:t>
            </a:r>
            <a:endParaRPr lang="en-US" sz="1250" dirty="0"/>
          </a:p>
        </p:txBody>
      </p:sp>
      <p:sp>
        <p:nvSpPr>
          <p:cNvPr id="17" name="Shape 13"/>
          <p:cNvSpPr/>
          <p:nvPr/>
        </p:nvSpPr>
        <p:spPr>
          <a:xfrm>
            <a:off x="548640" y="3291840"/>
            <a:ext cx="8046720" cy="822960"/>
          </a:xfrm>
          <a:prstGeom prst="roundRect">
            <a:avLst>
              <a:gd name="adj" fmla="val 8889"/>
            </a:avLst>
          </a:prstGeom>
          <a:solidFill>
            <a:srgbClr val="FFF3F4"/>
          </a:solidFill>
          <a:ln/>
        </p:spPr>
      </p:sp>
      <p:sp>
        <p:nvSpPr>
          <p:cNvPr id="18" name="Text 14"/>
          <p:cNvSpPr/>
          <p:nvPr/>
        </p:nvSpPr>
        <p:spPr>
          <a:xfrm>
            <a:off x="868680" y="3429000"/>
            <a:ext cx="7406640" cy="548640"/>
          </a:xfrm>
          <a:prstGeom prst="rect">
            <a:avLst/>
          </a:prstGeom>
          <a:noFill/>
          <a:ln/>
        </p:spPr>
        <p:txBody>
          <a:bodyPr wrap="square" lIns="0" tIns="0" rIns="0" bIns="0" rtlCol="0" anchor="ctr"/>
          <a:lstStyle/>
          <a:p>
            <a:pPr algn="ctr" indent="0" marL="0">
              <a:buNone/>
            </a:pPr>
            <a:r>
              <a:rPr lang="en-US" sz="2000" b="1" dirty="0">
                <a:solidFill>
                  <a:srgbClr val="14213D"/>
                </a:solidFill>
                <a:latin typeface="Cambria" pitchFamily="34" charset="0"/>
                <a:ea typeface="Cambria" pitchFamily="34" charset="-122"/>
                <a:cs typeface="Cambria" pitchFamily="34" charset="-120"/>
              </a:rPr>
              <a:t>Wrong answers are welcome. We fix them together.</a:t>
            </a:r>
            <a:endParaRPr lang="en-US" sz="2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4213D"/>
          </a:solidFill>
          <a:ln/>
        </p:spPr>
      </p:sp>
      <p:pic>
        <p:nvPicPr>
          <p:cNvPr id="3" name="Image 0" descr="C:\Users\Bedanga.BEDANGA-PC\.claude\skills\tsi-deck-theme-v2\icons\book-white.png">    </p:cNvPr>
          <p:cNvPicPr>
            <a:picLocks noChangeAspect="1"/>
          </p:cNvPicPr>
          <p:nvPr/>
        </p:nvPicPr>
        <p:blipFill>
          <a:blip r:embed="rId1"/>
          <a:stretch>
            <a:fillRect/>
          </a:stretch>
        </p:blipFill>
        <p:spPr>
          <a:xfrm>
            <a:off x="557784" y="484632"/>
            <a:ext cx="274320" cy="274320"/>
          </a:xfrm>
          <a:prstGeom prst="rect">
            <a:avLst/>
          </a:prstGeom>
        </p:spPr>
      </p:pic>
      <p:sp>
        <p:nvSpPr>
          <p:cNvPr id="4" name="Text 1"/>
          <p:cNvSpPr/>
          <p:nvPr/>
        </p:nvSpPr>
        <p:spPr>
          <a:xfrm>
            <a:off x="1078992" y="320040"/>
            <a:ext cx="6126480" cy="640080"/>
          </a:xfrm>
          <a:prstGeom prst="rect">
            <a:avLst/>
          </a:prstGeom>
          <a:noFill/>
          <a:ln/>
        </p:spPr>
        <p:txBody>
          <a:bodyPr wrap="square" lIns="0" tIns="0" rIns="0" bIns="0" rtlCol="0" anchor="ctr">
            <a:normAutofit/>
          </a:bodyPr>
          <a:lstStyle/>
          <a:p>
            <a:pPr indent="0" marL="0">
              <a:buNone/>
            </a:pPr>
            <a:r>
              <a:rPr lang="en-US" sz="2700" b="1" dirty="0">
                <a:solidFill>
                  <a:srgbClr val="14213D"/>
                </a:solidFill>
                <a:latin typeface="Cambria" pitchFamily="34" charset="0"/>
                <a:ea typeface="Cambria" pitchFamily="34" charset="-122"/>
                <a:cs typeface="Cambria" pitchFamily="34" charset="-120"/>
              </a:rPr>
              <a:t>Homework + exit ticket</a:t>
            </a:r>
            <a:endParaRPr lang="en-US" sz="2700" dirty="0"/>
          </a:p>
        </p:txBody>
      </p:sp>
      <p:sp>
        <p:nvSpPr>
          <p:cNvPr id="5" name="Text 2"/>
          <p:cNvSpPr/>
          <p:nvPr/>
        </p:nvSpPr>
        <p:spPr>
          <a:xfrm>
            <a:off x="7315200" y="402336"/>
            <a:ext cx="1417320" cy="310896"/>
          </a:xfrm>
          <a:prstGeom prst="roundRect">
            <a:avLst>
              <a:gd name="adj" fmla="val 50000"/>
            </a:avLst>
          </a:prstGeom>
          <a:solidFill>
            <a:srgbClr val="F5EBD8"/>
          </a:solidFill>
          <a:ln/>
        </p:spPr>
        <p:txBody>
          <a:bodyPr wrap="square" lIns="0" tIns="0" rIns="0" bIns="0" rtlCol="0" anchor="ctr"/>
          <a:lstStyle/>
          <a:p>
            <a:pPr algn="ctr" indent="0" marL="0">
              <a:buNone/>
            </a:pPr>
            <a:r>
              <a:rPr lang="en-US" sz="1100" b="1" spc="200" kern="0" dirty="0">
                <a:solidFill>
                  <a:srgbClr val="9A701F"/>
                </a:solidFill>
                <a:latin typeface="Calibri" pitchFamily="34" charset="0"/>
                <a:ea typeface="Calibri" pitchFamily="34" charset="-122"/>
                <a:cs typeface="Calibri" pitchFamily="34" charset="-120"/>
              </a:rPr>
              <a:t>ACTIVITY</a:t>
            </a:r>
            <a:endParaRPr lang="en-US" sz="1100" dirty="0"/>
          </a:p>
        </p:txBody>
      </p:sp>
      <p:sp>
        <p:nvSpPr>
          <p:cNvPr id="7" name="Text 3"/>
          <p:cNvSpPr/>
          <p:nvPr/>
        </p:nvSpPr>
        <p:spPr>
          <a:xfrm>
            <a:off x="548640" y="1078992"/>
            <a:ext cx="8046720" cy="274320"/>
          </a:xfrm>
          <a:prstGeom prst="rect">
            <a:avLst/>
          </a:prstGeom>
          <a:noFill/>
          <a:ln/>
        </p:spPr>
        <p:txBody>
          <a:bodyPr wrap="square" lIns="0" tIns="0" rIns="0" bIns="0" rtlCol="0" anchor="ctr"/>
          <a:lstStyle/>
          <a:p>
            <a:pPr indent="0" marL="0">
              <a:buNone/>
            </a:pPr>
            <a:r>
              <a:rPr lang="en-US" sz="1300" b="1" dirty="0">
                <a:solidFill>
                  <a:srgbClr val="990011"/>
                </a:solidFill>
                <a:latin typeface="Calibri" pitchFamily="34" charset="0"/>
                <a:ea typeface="Calibri" pitchFamily="34" charset="-122"/>
                <a:cs typeface="Calibri" pitchFamily="34" charset="-120"/>
              </a:rPr>
              <a:t>Exit ticket  ·  1 minute  ·  everyone  ·  on paper or in chat</a:t>
            </a:r>
            <a:endParaRPr lang="en-US" sz="13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8138160" cy="914400"/>
        </p:xfrm>
        <a:graphic>
          <a:graphicData uri="http://schemas.openxmlformats.org/drawingml/2006/table">
            <a:tbl>
              <a:tblPr/>
              <a:tblGrid>
                <a:gridCol w="1280160"/>
                <a:gridCol w="4480560"/>
                <a:gridCol w="1097280"/>
                <a:gridCol w="128016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Id</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Task  ·  about 2.5 h: MUST-DO first (1 h), HW2 if you can</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Type</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Time</a:t>
                      </a:r>
                      <a:endParaRPr lang="en-US" sz="13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14213D"/>
                    </a:solidFill>
                  </a:tcPr>
                </a:tc>
              </a:tr>
              <a:tr h="402336">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D1-HW1</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MUST-DO · Kathmandu Treks repair (blank? fix &lt;title&gt; first)</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bug-hunt 12</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40 min</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r>
              <a:tr h="402336">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D1-HW2</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If you can · Momo House catering page: a table + a form</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build</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about 1.5 h</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402336">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D1-HW3</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MUST-DO · Self-check &amp; interview prep</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questions</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20 min</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9F6F5"/>
                    </a:solidFill>
                  </a:tcPr>
                </a:tc>
              </a:tr>
              <a:tr h="402336">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D1-HW4</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Thamel Guesthouse replay (stretch, optional)</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bug-hunt 12</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50" dirty="0">
                          <a:solidFill>
                            <a:srgbClr val="2C3547"/>
                          </a:solidFill>
                          <a:latin typeface="Calibri" pitchFamily="34" charset="0"/>
                          <a:ea typeface="Calibri" pitchFamily="34" charset="-122"/>
                          <a:cs typeface="Calibri" pitchFamily="34" charset="-120"/>
                        </a:rPr>
                        <a:t>+30 min</a:t>
                      </a:r>
                      <a:endParaRPr lang="en-US" sz="135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9" name="Shape 4"/>
          <p:cNvSpPr/>
          <p:nvPr/>
        </p:nvSpPr>
        <p:spPr>
          <a:xfrm>
            <a:off x="548640" y="3611880"/>
            <a:ext cx="8046720" cy="566928"/>
          </a:xfrm>
          <a:prstGeom prst="roundRect">
            <a:avLst>
              <a:gd name="adj" fmla="val 12903"/>
            </a:avLst>
          </a:prstGeom>
          <a:solidFill>
            <a:srgbClr val="FFF3F4"/>
          </a:solidFill>
          <a:ln/>
        </p:spPr>
      </p:sp>
      <p:sp>
        <p:nvSpPr>
          <p:cNvPr id="10" name="Text 5"/>
          <p:cNvSpPr/>
          <p:nvPr/>
        </p:nvSpPr>
        <p:spPr>
          <a:xfrm>
            <a:off x="749808" y="3611880"/>
            <a:ext cx="7644384" cy="566928"/>
          </a:xfrm>
          <a:prstGeom prst="rect">
            <a:avLst/>
          </a:prstGeom>
          <a:noFill/>
          <a:ln/>
        </p:spPr>
        <p:txBody>
          <a:bodyPr wrap="square" lIns="0" tIns="0" rIns="0" bIns="0" rtlCol="0" anchor="ctr"/>
          <a:lstStyle/>
          <a:p>
            <a:pPr indent="0" marL="0">
              <a:buNone/>
            </a:pPr>
            <a:r>
              <a:rPr lang="en-US" sz="1250" b="1" dirty="0">
                <a:solidFill>
                  <a:srgbClr val="990011"/>
                </a:solidFill>
                <a:latin typeface="Calibri" pitchFamily="34" charset="0"/>
                <a:ea typeface="Calibri" pitchFamily="34" charset="-122"/>
                <a:cs typeface="Calibri" pitchFamily="34" charset="-120"/>
              </a:rPr>
              <a:t>Exit ticket:  </a:t>
            </a:r>
            <a:pPr indent="0" marL="0">
              <a:buNone/>
            </a:pPr>
            <a:r>
              <a:rPr lang="en-US" sz="1250" dirty="0">
                <a:solidFill>
                  <a:srgbClr val="2C3547"/>
                </a:solidFill>
                <a:latin typeface="Calibri" pitchFamily="34" charset="0"/>
                <a:ea typeface="Calibri" pitchFamily="34" charset="-122"/>
                <a:cs typeface="Calibri" pitchFamily="34" charset="-120"/>
              </a:rPr>
              <a:t>1) One bug you fixed today and how you found it.  2) One thing that is still confusing.</a:t>
            </a:r>
            <a:endParaRPr lang="en-US" sz="1250" dirty="0"/>
          </a:p>
        </p:txBody>
      </p:sp>
      <p:sp>
        <p:nvSpPr>
          <p:cNvPr id="11" name="Shape 6"/>
          <p:cNvSpPr/>
          <p:nvPr/>
        </p:nvSpPr>
        <p:spPr>
          <a:xfrm>
            <a:off x="548640" y="4315968"/>
            <a:ext cx="8046720" cy="457200"/>
          </a:xfrm>
          <a:prstGeom prst="roundRect">
            <a:avLst>
              <a:gd name="adj" fmla="val 16000"/>
            </a:avLst>
          </a:prstGeom>
          <a:solidFill>
            <a:srgbClr val="14213D"/>
          </a:solidFill>
          <a:ln/>
        </p:spPr>
      </p:sp>
      <p:sp>
        <p:nvSpPr>
          <p:cNvPr id="12" name="Text 7"/>
          <p:cNvSpPr/>
          <p:nvPr/>
        </p:nvSpPr>
        <p:spPr>
          <a:xfrm>
            <a:off x="749808" y="4315968"/>
            <a:ext cx="7644384"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Tomorrow: the skeleton gets its outfit. Semantic HTML, then CSS.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W2D1 — How the Web Works + HTML Core</dc:title>
  <dc:subject>PptxGenJS Presentation</dc:subject>
  <dc:creator>PptxGenJS</dc:creator>
  <cp:lastModifiedBy>PptxGenJS</cp:lastModifiedBy>
  <cp:revision>1</cp:revision>
  <dcterms:created xsi:type="dcterms:W3CDTF">2026-10-25T14:28:21Z</dcterms:created>
  <dcterms:modified xsi:type="dcterms:W3CDTF">2026-10-25T14:28:21Z</dcterms:modified>
</cp:coreProperties>
</file>