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notesMasterIdLst>
    <p:notesMasterId r:id="rId5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notesMaster" Target="notesMasters/notesMaster1.xml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— TITLE (0:00)
Say: "Namaste! Yesterday you built HTML skeletons and mended 42 bugs. Today the skeleton gets two things: proper names for its rooms, and an outfit."
"First hour: semantic HTML, accessibility, media. After the first break: CSS. At the end you style the Momo House website you repaired yesterday."
Homework spot-check (1 volunteer, 1 minute): "Who finished D1-HW1? Show me one bug you fixed." Then the One Rule: "You may only ship code you can explain, line by line."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— ROADMAP
Read it quickly. Two breaks: 1:10 and 2:25.
Same rhythm as yesterday: I show, you type with me, you fix a broken page, we reveal together.
The big one is at 3:19: style Momo House, one stylesheet for 4 pages, 5 checkpoints.
If we fall behind: D2-09 and D2-11 go to homework first. D2-15 is never cut.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— SAME SKELETON, THREE OUTFITS (B0 hook, CSS Zen Garden idea, shown locally)
Demo: W2D2/instructor-demos/B0-outfit/step-01-no-css (plain HTML, no CSS) then step-02-three-outfits.
In step-02 change ONE line in the &lt;head&gt;: &lt;link rel="stylesheet" href="css/outfit-traditional.css"&gt; → outfit-modern.css → outfit-night.css. Save each time.
Say: "The HTML did not change. Not one letter. Only the outfit changed. HTML = the skeleton. CSS = the outfit."
The real CSS Zen Garden (csszengarden.com) is one HTML file with hundreds of stylesheets. Show it only if Wi-Fi works.
SCREENSHOTS: rendered from step-02-three-outfits (one per stylesheet). If a slot still shows SCREENSHOT n, capture it in Chrome.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— ACTIVITY D2-00 Outfit swap (3 min, solo) — W2D2/classwork/D2-00-outfit-swap/
Students change the &lt;link href&gt; between the 3 outfit stylesheets: css/outfit-traditional.css, css/outfit-modern.css, css/outfit-night.css.
Common problem: they type the file name wrongly (outfit_modern.css) → the page goes plain. "No outfit = a typo in href. Read it letter by letter."
Ask: "What changed?" (colours, fonts, spacing) "What stayed the same?" (all the text, all the tags).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— BOXES WITH NAMES (B1, 0:07)
Analogy: rooms in a house. A house plan says "kitchen", "bedroom", "bathroom" — not "room 1, room 2, room 3".
A &lt;div&gt; is an unlabeled box. A page made only of divs is "div soup": it works, but nobody (Google, a screen reader, your teammate) knows which box is the menu and which is the footer.
Semantic tags are boxes WITH names: &lt;header&gt;, &lt;nav&gt;, &lt;main&gt;, &lt;footer&gt;. They look exactly like a div. The difference is the MEANING.
Code-along (3 min across slides 5-6): W2D2/instructor-demos/B1-semantic/step-01-div-soup → step-02-semantic.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— THE SEMANTIC PAGE MAP (wireframe) — code-along W2D2/instructor-demos/B1-semantic/step-01-div-soup → step-02-semantic
Point at each box: header (logo + title) with nav inside (the links); main = the ONE main content of this page; inside main, sections (each with a heading) and articles (a complete piece you could post alone, like a blog post); aside = side information (related links, an advert); footer = contact, copyright.
Live: open step-01-div-soup, rename each &lt;div class="…"&gt; to the right tag. Linked editing renames the closing tag too.
Then F12 → Elements: the names are now visible. The page looks the same.
Rules: one &lt;main&gt; per page. Every &lt;section&gt; has a heading. figure = a picture with its caption.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— WHO READS THE NAMES?
Say: "Your eyes do not care. But four readers do."
1. Google: it gives more weight to text inside &lt;main&gt; and &lt;article&gt;, and less to &lt;nav&gt; and &lt;footer&gt;.
2. Screen readers: a blind user can press one key to jump to the &lt;nav&gt; or the &lt;main&gt;. With div soup there is nothing to jump to.
3. AI tools: when you paste a page into an AI tutor, the names help it understand the page.
4. Teammates: next month, YOU are the teammate. &lt;footer&gt; is easier to find than &lt;div class="box3"&gt;.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— ACTIVITY D2-01 Div soup → semantic (7 min, solo, modify) — W2D2/classwork/D2-01-div-soup-to-semantic/
Replace 7 div class="…" boxes with header / nav / main / section / article / aside / footer. Linked editing ("editor.linkedEditing": true in W2D2/.vscode/settings.json) renames both tags at once.
Watch for: linked editing not working → they opened a single file, not the W2D2 folder. Second: deleting the class but keeping &lt;div&gt;.
Done: the page looks the same and F12 → Elements shows the names. Answer: solution/index.html.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 — WHEN NOT TO USE EACH TAG
Semantic tags have rules. Go row by row. These are R bugs: no tool shows them, you check the rule.
- &lt;main&gt;: only ONE per page.
- &lt;nav&gt;: for groups of links, not a paragraph of text.
- &lt;section&gt;: needs a heading. No heading? It is probably just a &lt;div&gt;.
- &lt;aside&gt;: side information. The main post never goes in aside.
- &lt;button&gt;: anything you click to DO something. A &lt;div class="btn"&gt; looks like a button but the Tab key skips it and a screen reader does not know it is a button.
D2-02 has one bug for each 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 — ACTIVITY D2-02 Semantic misuse (8 min, solo) — W2D2/classwork/D2-02-semantic-misuse-bughunt/  (5 bugs, find at least 3)
REVEAL (2 min) — solution/BUGS.md:
1. Two &lt;main&gt; elements — R / D(W3C). Fix: keep one &lt;main&gt;; the other becomes a &lt;section&gt; or &lt;div&gt;.
2. &lt;nav&gt; wraps a paragraph of text, not links — R. Fix: use &lt;p&gt; (or put real links in the nav).
3. &lt;section&gt; with no heading — R. Fix: add an &lt;h2&gt; (or make it a &lt;div&gt;).
4. &lt;aside&gt; holds the main blog post, while the "related posts" box sits in &lt;main&gt; — R. Fix: swap them.
5. &lt;div class="btn"&gt;Subscribe&lt;/div&gt; instead of &lt;button&gt; — V (the Tab key skips it). No JavaScript, no onclick. Fix: &lt;button&gt;Subscribe&lt;/button&gt;.
Watch for: most bugs are R — no squiggle. Push students to use the slide 9 table as a checklist.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11 — ANALOGY: THE PARCEL LABEL READ ALOUD (B2, 0:33)
Yesterday: &lt;head&gt; = the label on the parcel. Today: imagine someone who cannot see. A friend reads the label AND the contents aloud to them. That friend is a screen reader.
If the label is wrong (no lang), the friend reads Nepali with an English voice. If a picture has no alt, the friend says "image… image…". If a link says "click here", the friend says "click here, click here, click here" — click where?
Accessibility (a11y: a + 11 letters + y) = making the page work for everyone: blind users, keyboard-only users, people on slow phones.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12 — ALT TEXT: MEANINGFUL vs DECORATIVE
Two kinds of pictures:
1. Meaningful: it carries information (the TSI building, a menu photo, a chart). alt = what you would say over the phone: alt="The TSI building in Dillibazar".
2. Decorative: it is only decoration (a dhaka pattern strip, a divider). alt="" (empty, but present!). The screen reader skips it quietly.
No alt at all = the worst: the screen reader reads the file name: "decorative-pattern dot svg".
Bad alt: alt="image", alt="photo", or a long sentence for a decoration (D2-03 bug 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13 — CODE-ALONG: HEAD AND META (2 min) — W2D2/instructor-demos/B2-a11y-meta/step-01-before → step-02-after
Type the head together. One sentence per line:
- lang="en" — the voice for the screen reader.
- viewport — phones show the page at the right width.
- title — the browser tab AND the blue link in Google. Make it descriptive, never "Document".
- meta description — the grey text under the link in Google.
- link rel="icon" — the favicon, the small picture on the tab (step-02-after has favicon.svg).
Show step-02-after in Live Server: the tab shows the momo favicon and the real title.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14 — INSTRUCTOR DEMO: NARRATOR (instructor only, projector + speakers), then the student tools
1. Narrator: press Ctrl+Win+Enter. Open W2D2/instructor-demos/B2-a11y-meta/step-01-before. Press Tab and let the room listen: "image", "click here, link", "edit text" (no label). Then step-02-after: "TSI building, image", "Apply for the course, link", "Phone, edit text". Ctrl+Win+Enter again to stop.
2. Student tool 1, the Tab walk: click the address bar, then press Tab again and again. You should reach every link, button and input in order. Anything skipped (like a &lt;div class="btn"&gt;) is a bug.
3. Student tool 2, Lighthouse: F12 → Lighthouse tab → tick only Accessibility → Analyze page load. Works offline. A score and a list of problems.
Students use both in D2-03 next.
LIVE: Switch to the live tool here. Run Lighthouse on B2 step-01-before, then on step-02-after.
(Optional: a capture of Chrome DevTools Lighthouse tab with only "Accessibility" ticked, and a report with a score can go in deck/_build/shots/ and the slot shows it after a rebuild.)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15 — ACTIVITY D2-03 A11y audit: TSI Admissions (10 min, solo) — W2D2/classwork/D2-03-a11y-audit/  (6 bugs, each counted once; find at least 4)
REVEAL (2 min) — solution/BUGS.md:
1. &lt;html&gt; has no lang — D(LH) / D(HH). Fix: &lt;html lang="en"&gt;.
2. &lt;title&gt;Document&lt;/title&gt; (the Emmet default) is not descriptive — R. Fix: e.g. &lt;title&gt;TSI Admissions · Tech Skills Institute&lt;/title&gt;.
3. &lt;img src="images/tsi-building.svg"&gt; has no alt — D(LH) / D(HH). Fix: alt="The TSI building in Dillibazar".
4. The decorative decorative-pattern.svg has a long alt ("a picture of a pattern with lines…") — R. Fix: alt="".
5. Three links say "click here" (one bug, three places) — R (Lighthouse 13 skips same-page #links, so it does not flag them). Fix: link text that says where it goes ("See the course fees").
6. The phone input has a placeholder only, no &lt;label&gt; — V: clicking the words does nothing, and the hint disappears when you type (Lighthouse accepts the placeholder, so it passes: "don't trust one tool"). Fix: &lt;label for="phone"&gt;Phone&lt;/label&gt; + id="phone".
Watch for: students who run Lighthouse with all categories ticked (slow). Only Accessibility.
FAST FINISHER: D2-FF5 Lost &amp; Found — W2D2/classwork/fast-finishers/D2-FF5-lost-and-found-bughunt/ (11 surplus bugs: semantic + a11y + CSS).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16 — CODE-ALONG: AUDIO, VIDEO, IFRAME (B3, 0:52) — W2D2/instructor-demos/B3-media/step-01-audio, step-02-video, step-03-iframe
Analogy: TV, radio, and a window into another room.
step-01-audio: &lt;audio&gt; + controls. Without controls there is NOTHING on the page (D2-04 bug 1). Click play: the canteen bell.
step-02-video: &lt;video controls&gt; with a &lt;source&gt; and its type. poster = the picture shown before play. The text inside the video tag = fallback for very old browsers.
step-03-iframe: an iframe shows another page inside this page (kathmandu-map.html — a local page, so it works offline). title is required for screen readers ("Map of Kathmandu").
Paths work exactly like img src: media/ and images/ folders next to the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17 — THREE MEDIA RULES
1. Autoplay: browsers block sound that starts by itself. A video only autoplays if it is also muted: &lt;video autoplay muted loop&gt;. Nobody likes a page that shouts at them.
2. poster: the picture before play. A wrong poster path = an empty box (D2-04 bug 4).
3. Fallback text: the words inside &lt;video&gt;…&lt;/video&gt; show only if the browser cannot play video at all.
Also: &lt;source&gt; must be INSIDE &lt;video&gt;, and type must match the file (video/mp4 for .mp4). Homework D2-HW4 has both of these bugs.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18 — ACTIVITY D2-04 Broken media (8 min, solo) — W2D2/classwork/D2-04-broken-media/  (5 bugs, find at least 3)
REVEAL (2 min) — solution/BUGS.md:
1. &lt;audio src="media/canteen-bell.wav"&gt; has no controls, so nothing shows — V. Fix: add controls.
2. Second audio uses media/canteen_bell.wav (underscore) — V (the player shows 0:00 and will not play). Fix: canteen-bell.wav.
3. &lt;video&gt; has no controls — V. Fix: add controls.
4. poster="image/poster-momo-steam.svg", wrong folder — V (an empty box before play, not the poster; the video has preload="none"). Fix: images/poster-momo-steam.svg.
5. &lt;iframe src="kathmandu-map.htm"&gt;, wrong extension — V (404 inside the window). Fix: kathmandu-map.html.
Watch for: speakers muted on student laptops — "the player shows 2 seconds = it works".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19 — ACTIVITY D2-05 Media corner (3 min, solo, build) — W2D2/classwork/D2-05-media-corner/
The starter has audio + video done. Add an iframe of kathmandu-map.html with a title and width/height. Bonus: video fallback text.
Answer: solution/index.html.
STRETCH NOTE: if the room sags here (about 70 min in), call a 3-min stand-up stretch and take it from the B10 quiz.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20 — BREAK (1:10 – 1:20)
Teaser: "After the break, the skeleton gets its outfit."
Before the restart, open W2D2/instructor-demos/B4-css-intro/step-01-inline in Live Server.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21 — B4 OPENER: CSS IS THE OUTFIT (1:20)
Say: "This morning we gave the rooms names. Now we dress the skeleton."
"HTML = the skeleton: what exists. CSS = the outfit: how it looks. Same skeleton, many outfits — you saw it at 0:00."
Block plan: the rule anatomy → three ways to add CSS (sticky note, outfit list, school uniform) → the cascade + DevTools → D2-06 bug-hunt → D2-07 restyle.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22 — RULE ANATOMY
Point at each part:
- Selector (h1) = WHO gets dressed.
- { } = the curly brackets hold the outfit list.
- Property (color) = WHAT you change.
- Value (maroon) = HOW: the new setting.
- ; = the end of one instruction. Missing ; = both lines are lost (D2-06 bug 4).
Say: "Who, then a list of what: value pairs. Colon between, semicolon after."
American spelling: color, not colour (D2-06 bug 5). Comments in CSS are /* … */, never // (bug 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23 — CODE-ALONG: THREE WAYS TO ADD CSS (4 min) — W2D2/instructor-demos/B4-css-intro/step-01-inline, step-02-internal, step-03-external
Analogy: the outfit.
1. Inline (step-01): a sticky note on ONE shirt. style="…" on one element. Quick, but you repeat it everywhere.
2. Internal (step-02): an outfit list for ONE person. A &lt;style&gt; block in the &lt;head&gt; of one page.
3. External (step-03): the SCHOOL UNIFORM for everyone. One file css/style.css, linked from every page with &lt;link rel="stylesheet" href="css/style.css"&gt;. This is what real sites use, and what you use in D2-15.
In step-03, type css/style.css together:
  body { background: #fdf6ec; }
  h1 { color: maroon; }
Watch for: rel="stylesheet" must be spelled exactly; href is a path like img src.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24 — THE CASCADE + DEVTOOLS STYLES
Cascade = "the last rule wins" when two rules have the same strength. If style.css says h1 { color: navy; } and later h1 { color: maroon; }, the h1 is maroon.
DevTools: right-click the h1 → Inspect → the Styles panel (right side). It shows every rule that touches the h1. A rule that LOST is crossed out. An invalid value has a yellow warning triangle.
Say: "When CSS does not work, do not guess. Inspect. The Styles panel tells you: is my rule there? Is it crossed out? Is it invalid?"
You can also edit values live in the Styles panel — but it is not saved. Copy the good value back into your file.
LIVE: Switch to the live tool here. Inspect the h1 and point at the crossed-out rule and the yellow triangle.
(Optional: a capture of Chrome DevTools Styles panel with one crossed-out rule (the cascade) and one yellow-triangle invalid value can go in deck/_build/shots/ and the slot shows it after a rebuild.)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25 — ACTIVITY D2-06 Stylesheet not loading (9 min, solo) — W2D2/classwork/D2-06-stylesheet-not-loading/  (6 bugs, find at least 4)
README: "Fix bugs 1 and 2 first; until the stylesheet loads, nothing else is visible."
REVEAL (2 min) — solution/BUGS.md:
1. rel="stylsheet" typo, so no CSS at all — V. Fix: rel="stylesheet".
2. href="css/styles.css", but the file is style.css — V. Fix: href="css/style.css".
3. Missing } after the h1 rule, so the next rule (.highlight) is lost — V. Fix: add }.
4. Missing ; between two declarations — V. Chrome reads "color: #2a3f63 line-height: 1.8" as one broken value and drops BOTH. Fix: add ;.
5. colour: maroon; (British spelling) — V. Fix: color.
6. // footer styles comment (JS style) breaks the next rule — V. Fix: /* footer styles */.
Watch for: students who fix bug 1, see SOME style, and stop. "Every rule in the file must show."
FAST FINISHER: D2-FF4 Haunted stylesheet — W2D2/classwork/fast-finishers/D2-FF4-haunted-stylesheet/ (10 mixed CSS bugs).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26 — ACTIVITY D2-07 Restyle the bio (4 min, solo, modify) — W2D2/classwork/D2-07-restyle-the-bio/
Change 4 things in the CSS on Sunita's bio: body background, h1 colour, paragraph font-size, link colour.
Watch for: "colour" spelling, a missing unit on font-size (18 instead of 18px).
Answer: solution/css/style.css.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27 — ANALOGY: CALLING STUDENTS IN CLASS (B5, 1:44)
Say: "A selector is how you call people in class."
- "Everyone, stand up!" = an element selector: p { } dresses every &lt;p&gt;.
- "Red team, stand up!" = a class: .red-team { } — many people can be on the red team.
- "Aarav, stand up!" = an id: #aarav { } — only ONE Aarav in the class.
- "Red team in row 2, stand up!" = descendant: .row-2 .red-team { } — a space means "inside".
Ask the room to do it physically for 30 seconds if the energy is 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28 — CODE-ALONG: SELECTORS (2 min) — W2D2/instructor-demos/B5-selectors/step-01-element, step-02-class-id, step-03-group-descendant, step-04-hover
Type one rule per row into each step's css/style.css and watch the page change.
step-01: p { color: #555; }
step-02: .price { font-weight: bold; }  and  #todays-special { font-size: 1.5rem; }
step-03: h1, h2 { color: maroon; }  and  nav a { text-decoration: none; }
step-04: a:hover { color: maroon; }
Say: ".card.spicy with NO space = one element with both classes. .card .spicy WITH a space = a .spicy inside a .card." That space is the most common selector bug.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29 — WHO WINS? (light specificity)
When two rules fight over the same element, the STRONGER selector wins, no matter the order:
id (#menu) beats class (.card) beats element (p).
Only when they are the SAME strength does the last rule win (the cascade, slide 24).
Example: &lt;p id="special" class="note"&gt;. p { color: grey; } .note { color: navy; } #special { color: maroon; } → maroon.
Do not go deeper today (no counting points). D2-FF3 Specificity duel has 8 puzzles for fast finishers.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30 — ACTIVITY D2-08 Selector mix-ups (8 min, solo) — W2D2/classwork/D2-08-selector-mixups/  (5 bugs, find at least 3)
REVEAL (2 min) — solution/BUGS.md:
1. CSS .card, HTML class="Card" (class names are case-sensitive) — V. Fix: class="card".
2. CSS #menu, HTML id="main-menu" — V. Fix: make them match.
3. price { … } is missing the dot — V. Fix: .price.
4. h1, h2, { … } has a trailing comma, so the whole rule is dropped — V. Fix: h1, h2 { … }.
5. a:hoverr typo — V (on hover). Fix: a:hover.
Teaching move: an invalid selector drops the WHOLE rule. One stray comma = nothing applies.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31 — ACTIVITY D2-09 Selector target practice (5 min, solo, build) — W2D2/classwork/D2-09-selector-target-practice/
5 targets, one CSS rule each, no HTML edits. Only the taught selectors (element, .class, #id, grouping, descendant, .a.b, :hover).
Model answers (solution/css/style.css): p { color: grey; } · .veg { background: #dff3dc; } · #todays-special { font-weight: bold; font-size: 1.5rem; } · nav a { text-decoration: none; } · .dish.spicy { border: 2px solid red; }
IF BEHIND: D2-09 is the first cut (moves to homework).
FAST FINISHER: D2-FF3 Specificity duel — W2D2/classwork/fast-finishers/D2-FF3-specificity-duel/ (8 puzzles: predict the colour, then check in DevTools; solution/ANSWERS.md).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32 — ANALOGY 1: THE PAINT SHOP (B6, 2:06) — demo W2D2/instructor-demos/B6-colors-units/step-01-colors
At a paint shop you can ask for a colour four ways:
1. By name: "maroon" — easy, but only about 140 names.
2. By hex code: #990011 — # then 6 digits from 0-9 and a-f (red, green, blue). Exactly 6 (or 3). #gg0000 is invalid (D2-10 bug 2), #fffff (5 digits) is invalid.
3. rgb(153, 0, 17) — three numbers 0-255. All three are needed.
4. rgba(153, 0, 17, 0.5) — the a = how see-through (0 = invisible, 1 = solid).
The swatches on the slide are TSI colours.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33 — ANALOGY 2: THE MEASURING TAPE — demo W2D2/instructor-demos/B6-colors-units/step-02-units
Every size needs a unit, like a measuring tape: "300" alone means nothing. 300 what? (D2-10 bug 1: width: 300;)
- px = fixed pixels. Good for borders.
- % = a part of the parent box. width: 50% = half the parent.
- rem = times the ROOT font size (usually 16px). 2rem = 32px. Use rem for font sizes: it respects the user's settings.
- em = times THIS element's font size (for font-size itself: the parent's). Can grow by surprise when nested. rem is simpler: use rem.
No space between number and unit: 1.5rem, not 1.5 rem (bug 3).
The one exception: line-height is best WITHOUT a unit: line-height: 1.6 (bug 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34 — FONTS AND TEXT — demo W2D2/instructor-demos/B6-colors-units/step-03-fonts-text
Read the code:
- font-family is a STACK: try "Momo Sans"; if this laptop does not have it, try Arial; if not, any sans-serif. Always end with a generic family (sans-serif or serif). "Momo Sans" does not exist anywhere: without a fallback, the browser falls back to Times (D2-10 bug 4).
- font-size in rem, font-weight: bold (or 700), line-height: 1.6 for easy reading.
- text-align: center, text-decoration: none (remove link underlines), letter-spacing for headings.
Theme the canteen menu in D2-11 with exactly these properties.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35 — ACTIVITY D2-10 Units &amp; colours (8 min, solo) — W2D2/classwork/D2-10-units-and-colours/  (5 bugs, find at least 3)
REVEAL (2 min) — solution/BUGS.md:
1. width: 300; no unit — V. Fix: 300px.
2. color: #gg0000; invalid hex — V. Fix: a real hex, e.g. #cc0000.
3. font-size: 1.5 rem; (space) — V. Fix: 1.5rem.
4. font-family: "Momo Sans"; (a font that does not exist) with no fallback, so it falls back to Times — V. Fix: "Momo Sans", Arial, sans-serif.
5. line-height: 1.5px; makes lines overlap — V. Fix: 1.5.
Teaching move: the Styles panel shows a yellow triangle on 1, 2 and 3 — "the browser drops an invalid declaration and says nothing".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36 — ACTIVITY D2-11 Theme the canteen menu (5 min, solo, modify) — W2D2/classwork/D2-11-theme-the-canteen-menu/
Apply a given 3-colour hex palette (in the README), a font stack with a fallback, rem sizes and line-height: 1.6 to the canteen menu.
IF BEHIND: D2-11 is the second cut (moves to homework, after D2-09).
Answer: solution/css/style.css.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37 — BREAK (2:25 – 2:35)
Teaser: "Everything on a web page is a box being shipped."
Before the restart, open W2D2/instructor-demos/B7-box-model/step-01-content-width in Live Server, with F12 open on the Computed tab.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38 — ANALOGY: BOXES BEING SHIPPED (B7, 2:35)
Every element on a page is a parcel:
- content = the item inside (the text, the picture).
- padding = the bubble wrap around the item, INSIDE the box. It takes the background colour.
- border = the cardboard.
- margin = the gap between two parcels on the shelf. Always transparent.
DevTools: Inspect → Computed tab → the box diagram shows all four with their sizes. Hover each layer and Chrome highlights it on the page.
Code-along next: W2D2/instructor-demos/B7-box-model/ (step-01-content-width to step-04-border-box-radius).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39 — CODE-ALONG: BOX MODEL (3 min) — W2D2/instructor-demos/B7-box-model/step-01-content-width, step-02-padding-border, step-03-margin-center, step-04-border-box-radius
Type step by step on the card with Sunita's avatar (images/avatar-sunita.svg):
step-01: width: 300px.
step-02: padding (1, 2, then 4 values) and border. Border shorthand = width style colour; the STYLE (solid) is required, without it there is no border (D2-12 bug 4).
step-03: margin: 0 auto — centres the card. It needs a width (D2-12 bug 2).
step-04: box-sizing: border-box and border-radius (next slide).
Memory trick for 4 values: clockwise from the top. TRouBLe = Top Right Bottom Left.
Negative padding is invalid (D2-12 bug 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40 — THE WIDTH TRAP
By default (content-box), width is ONLY the content. Padding and border are ADDED on the outside.
.card { width: 300px; padding: 20px; border: 5px solid; } → real width = 300 + 20 + 20 + 5 + 5 = 350px.
Three cards × 350 = 1050px, but the row is 960px → the third card wraps (D2-12 bug 1).
Fix: box-sizing: border-box → width now INCLUDES padding and border. 300px means 300px.
Many developers put this at the top of every stylesheet: * { box-sizing: border-box; }
Round avatar: border-radius: 50% only makes a CIRCLE on a SQUARE image (equal width and height). 120×80 gives an oval (D2-12 bug 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41 — ACTIVITY D2-12 Broken cards (8 min, solo) — W2D2/classwork/D2-12-broken-cards/  (5 bugs, find at least 3)
REVEAL (2 min) — solution/BUGS.md:
1. Three .card { display: inline-block; width: 300px; padding: 20px; border: 5px solid …; } inside .row { width: 960px; } add up to 350px each, so the third card wraps — V. Fix: box-sizing: border-box. (The starter sets inline-block; students do not touch display until B8.)
2. .wrapper { margin: 0 auto; background: #fdf6ec; } with no width/max-width, so it never centres — V. Fix: add max-width (e.g. 1000px).
3. padding: -10px; (negative padding is invalid) — V. Fix: a positive value.
4. border: 2px orange; with no style, so there is no border — V. Fix: 2px solid orange.
5. Avatar border-radius: 50% on a 120×80 image makes an oval — V. Fix: equal width and height (e.g. 120×120).
Teaching move: open Computed and show 350px for bug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42 — ACTIVITY D2-13 Profile card (7 min, solo, build) — W2D2/classwork/D2-13-profile-card/
A centred card: width, padding, border, border-radius, round avatar (images/avatar-sunita.svg), box-sizing: border-box.
Watch for: margin: 0 auto with no width (it does not centre); a border with no style.
Answer: solution/css/style.css.
FAST FINISHER: D2-FF1 TSI ID card — W2D2/classwork/fast-finishers/D2-FF1-tsi-id-card/ (recreate the ID card in target.svg: 360×220, padding 16px, 2px navy border, radius 12px, 80px round avatar).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43 — ACTIVITY: SHOW &amp; TELL (3 min) — D2-13 profile card
Pick 2-3 students. Open their card on the projector. Ask each one: "Right-click → Inspect → Computed: what is the real width?" and "Which rule makes the avatar round?"
Praise one specific rule each. Code gets shown, not hidden.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44 — CODE-ALONG: THE QUEUE vs THE BENCH (B8, 3:03) — W2D2/instructor-demos/B8-display/step-01-block-inline, step-02-horizontal-nav
Analogy:
- block = the queue: each person on their own line, as wide as the room (div, p, h1, li, section).
- inline = sitting side by side on a bench: only as wide as the words, and you cannot push them up or down (vertical margin is ignored; vertical padding overlaps the neighbours) (a, span, strong).
- inline-block = side by side on the bench, but each keeps its own size (width, height, padding and margin all work).
- none = left the room: no space kept. visibility: hidden = still sitting there, just invisible: the gap stays.
step-02: the horizontal nav. Type together:
  .menu { list-style: none; padding: 0; }
  .menu li { display: inline-block; }
  .menu a { display: inline-block; padding: 12px 16px; 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45 — ACTIVITY D2-14 Nav won't behave (8 min, solo) — W2D2/classwork/D2-14-nav-wont-behave/  (5 bugs, find at least 3)
REVEAL (2 min) — solution/BUGS.md:
1. display: blok; typo on .order-button (an &lt;a&gt; meant to be a 200px block) — V: it stays a small inline link. Fix: display: block.
2. .logo { display: none; } left in by mistake — V. Fix: remove it.
3. list-style: none missing, so bullets show — V (visible only while bug 5 is there: mend 3 and 5 together). Fix: add list-style: none.
4. Nav links are display: inline with padding: 12px 16px; margin-top: 20px; — the vertical padding overlaps the hero and the margin-top does nothing (inline boxes ignore vertical margin) — V. Fix: display: inline-block.
5. CSS .menu-li { display: inline-block; }, but the HTML is &lt;ul class="menu"&gt;&lt;li&gt; — V. Fix: .menu li.
FAST FINISHER: D2-FF2 Hover menu — W2D2/classwork/fast-finishers/D2-FF2-hover-menu/ (the Momo House nav changes colour / background / underline on :hover).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46 — ACTIVITY D2-15 Style Momo House (28 min, solo, build; 2 min rules) — W2D2/classwork/D2-15-style-momo-house/
Story: "Opening night: dress the restaurant." School uniform = ONE css/style.css linked from all 4 pages (index, menu, order, about).
The starter css/style.css is empty with 5 checkpoint comments. Instructor demo backup (if the room is stuck at a checkpoint): W2D2/instructor-demos/B9-mini-site/step-01-link-and-base, step-02-header-nav, step-03-hero, step-04-menu-table-cards, step-05-footer-polish.
CHECKPOINTS — check the room at each one (walk the rows, look at screens):
CP1 (≈0:06) the &lt;link&gt; on all 4 pages + body font and background.
CP2 (≈0:12) header + horizontal nav (list-style none, inline-block).
CP3 (≈0:18) hero banner (images/hero-momo.svg) + h1.
CP4 (≈0:24) menu table + 3 dish cards (box model: padding, border, border-radius, border-box).
CP5 (≈0:28) footer + :hover on links.
Watch for: the link missing on one page (click through all 4 pages!); styling with inline style="" instead of the stylesheet.
Never cut this block. Students who finish: D2-FF6 or polish.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47 — BOOTSTRAP TEASER (instructor demo, 4 min) — W2D2/instructor-demos/B10-bootstrap/step-01-plain → step-02-bootstrap
Analogy: IKEA furniture. Hand-written CSS = raw wood: you saw and sand every piece, you understand every joint. Bootstrap = ready-made parts with names: you put class="btn btn-primary" on a button and it is styled.
Demo: step-01-plain is plain HTML. In step-02-bootstrap, add &lt;link rel="stylesheet" href="css/bootstrap.min.css"&gt; (a LOCAL copy, works offline) and the classes container, btn btn-primary, card. The page changes completely.
Say: "Bootstrap is fast, but you only understand it if you can write the CSS yourself. That is why we learned the raw wood first. Bootstrap deep-dive comes later."
Students try it in D2-FF6 Bootstrap try-it — W2D2/classwork/fast-finishers/D2-FF6-bootstrap-try-it/ — or at home.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48 — QUIZ (5 min). Kahoot if Wi-Fi; otherwise read each question and the class shows A/B/C/D with fingers (1-4).
1. How many &lt;main&gt; elements on one page? A) one B) two C) any D) none → A
2. A decorative picture should have… A) no alt B) alt="" C) alt="image" D) a long alt → B
3. Which tag for a clickable "Subscribe"? A) &lt;div class="btn"&gt; B) &lt;span&gt; C) &lt;button&gt; D) &lt;a&gt; with no href → C
4. A &lt;video&gt; with no controls… A) plays by itself B) shows no play button C) is invalid D) has sound → B
5. Which line links an external stylesheet? A) &lt;style src="style.css"&gt; B) &lt;link rel="stylesheet" href="css/style.css"&gt; C) &lt;css href="style.css"&gt; D) &lt;script src="style.css"&gt; → B
6. .card .spicy (with a space) selects… A) one element with both classes B) a .spicy inside a .card C) both D) nothing → B
7. Which selector wins? A) p B) .note C) #special D) the first one → C
8. Which value is valid? A) width: 300 B) font-size: 1.5 rem C) color: #gg0000 D) line-height: 1.6 → D
9. width 300px + padding 20px + border 5px (content-box) = real width? A) 300 B) 325 C) 350 D) 345 → C
10. Inline links ignore… A) colour B) margin-top C) font-size D) text-decoration → B
STRETCH NOTE: if a stretch was taken after B3, cut to 7 questions (drop 4, 8, 10).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49 — HOMEWORK + EXIT TICKET (2 min) + "Next: CSS deeper"
Homework sheet: W2D2/homework/W2D2-Homework-Sheet.md (core about 2.5 h; HW1 and HW3 are the must-do (1 h), HW2 if you can):
- D2-HW1 Haunted portfolio repair (12 bugs, 40 min, must-do): Rajan's 2-page portfolio. Fix the &lt;link&gt; first.
- D2-HW2 Style your portfolio (build, about 1.5 h, if you can): your Week 1 About Me (or D1-10) page → semantic, accessible, one external CSS. CHECKLIST.md has 12 required items (Lighthouse a11y ≥ 90).
- D2-HW3 Self-check &amp; interview prep (20 min, must-do).
- D2-HW4 Patan Craft Shop replay (stretch, optional, +30 min, 10 bugs).
Exit ticket: 1) One CSS bug you fixed today and how you found it (Styles panel? Computed?). 2) One thing that is still confusing.
Close: "Two days ago your page was plain text. Now it has a skeleton, names, and an outfit. Next session: CSS deeper — flexbox and layout, so boxes sit side by side the modern way."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1463040"/>
            <a:ext cx="3291840" cy="3291840"/>
          </a:xfrm>
          <a:prstGeom prst="ellipse">
            <a:avLst/>
          </a:prstGeom>
          <a:solidFill>
            <a:srgbClr val="2A3F63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3657600"/>
            <a:ext cx="2743200" cy="2743200"/>
          </a:xfrm>
          <a:prstGeom prst="ellipse">
            <a:avLst/>
          </a:prstGeom>
          <a:solidFill>
            <a:srgbClr val="2A3F6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·  DAY 2  ·  4 HOURS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Skeleton to Outfit: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HTML &amp; CSS Basics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 you built and mended the skeleton. Today you give it names, then clothes.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3794760"/>
            <a:ext cx="4572000" cy="457200"/>
          </a:xfrm>
          <a:prstGeom prst="roundRect">
            <a:avLst>
              <a:gd name="adj" fmla="val 50000"/>
            </a:avLst>
          </a:prstGeom>
          <a:solidFill>
            <a:srgbClr val="9900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42 broken things to mend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Full Stack Developer  ·  Tech Skills Institute Nepal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3" name="Image 0" descr="C:\Users\Bedanga.BEDANGA-PC\.claude\skills\tsi-deck-theme-v2\icons\clock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48463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8992" y="3200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Roadmap</a:t>
            </a:r>
            <a:endParaRPr lang="en-US" sz="2700" dirty="0"/>
          </a:p>
        </p:txBody>
      </p:sp>
      <p:sp>
        <p:nvSpPr>
          <p:cNvPr id="6" name="Shape 2"/>
          <p:cNvSpPr/>
          <p:nvPr/>
        </p:nvSpPr>
        <p:spPr>
          <a:xfrm>
            <a:off x="548640" y="1234440"/>
            <a:ext cx="3886200" cy="713232"/>
          </a:xfrm>
          <a:prstGeom prst="roundRect">
            <a:avLst>
              <a:gd name="adj" fmla="val 10256"/>
            </a:avLst>
          </a:prstGeom>
          <a:solidFill>
            <a:srgbClr val="F9F6F5"/>
          </a:solidFill>
          <a:ln w="9525">
            <a:solidFill>
              <a:srgbClr val="E8E2E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13232" y="1234440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1417320" y="123444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Outfit hook + Semantic HTML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3611880" y="1234440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min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2075688"/>
            <a:ext cx="3886200" cy="713232"/>
          </a:xfrm>
          <a:prstGeom prst="roundRect">
            <a:avLst>
              <a:gd name="adj" fmla="val 10256"/>
            </a:avLst>
          </a:prstGeom>
          <a:solidFill>
            <a:srgbClr val="F9F6F5"/>
          </a:solidFill>
          <a:ln w="9525">
            <a:solidFill>
              <a:srgbClr val="E8E2E1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13232" y="2075688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0:33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417320" y="2075688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+ meta, then Media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611880" y="2075688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min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2916936"/>
            <a:ext cx="3886200" cy="713232"/>
          </a:xfrm>
          <a:prstGeom prst="roundRect">
            <a:avLst>
              <a:gd name="adj" fmla="val 10256"/>
            </a:avLst>
          </a:prstGeom>
          <a:solidFill>
            <a:srgbClr val="FFF3F4"/>
          </a:solidFill>
          <a:ln/>
        </p:spPr>
      </p:sp>
      <p:sp>
        <p:nvSpPr>
          <p:cNvPr id="15" name="Text 11"/>
          <p:cNvSpPr/>
          <p:nvPr/>
        </p:nvSpPr>
        <p:spPr>
          <a:xfrm>
            <a:off x="713232" y="2916936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1:10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1417320" y="2916936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3611880" y="2916936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48640" y="3758184"/>
            <a:ext cx="3886200" cy="713232"/>
          </a:xfrm>
          <a:prstGeom prst="roundRect">
            <a:avLst>
              <a:gd name="adj" fmla="val 10256"/>
            </a:avLst>
          </a:prstGeom>
          <a:solidFill>
            <a:srgbClr val="F9F6F5"/>
          </a:solidFill>
          <a:ln w="9525">
            <a:solidFill>
              <a:srgbClr val="E8E2E1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13232" y="3758184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1:20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1417320" y="3758184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intro + Selectors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3611880" y="3758184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min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709160" y="1234440"/>
            <a:ext cx="3886200" cy="713232"/>
          </a:xfrm>
          <a:prstGeom prst="roundRect">
            <a:avLst>
              <a:gd name="adj" fmla="val 10256"/>
            </a:avLst>
          </a:prstGeom>
          <a:solidFill>
            <a:srgbClr val="F9F6F5"/>
          </a:solidFill>
          <a:ln w="9525">
            <a:solidFill>
              <a:srgbClr val="E8E2E1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873752" y="1234440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2:06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5577840" y="123444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Colours, units, fonts  ·  Break</a:t>
            </a:r>
            <a:endParaRPr lang="en-US" sz="1350" dirty="0"/>
          </a:p>
        </p:txBody>
      </p:sp>
      <p:sp>
        <p:nvSpPr>
          <p:cNvPr id="25" name="Text 21"/>
          <p:cNvSpPr/>
          <p:nvPr/>
        </p:nvSpPr>
        <p:spPr>
          <a:xfrm>
            <a:off x="7772400" y="1234440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min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4709160" y="2075688"/>
            <a:ext cx="3886200" cy="713232"/>
          </a:xfrm>
          <a:prstGeom prst="roundRect">
            <a:avLst>
              <a:gd name="adj" fmla="val 10256"/>
            </a:avLst>
          </a:prstGeom>
          <a:solidFill>
            <a:srgbClr val="F9F6F5"/>
          </a:solidFill>
          <a:ln w="9525">
            <a:solidFill>
              <a:srgbClr val="E8E2E1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873752" y="2075688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2:35</a:t>
            </a:r>
            <a:endParaRPr lang="en-US" sz="1500" dirty="0"/>
          </a:p>
        </p:txBody>
      </p:sp>
      <p:sp>
        <p:nvSpPr>
          <p:cNvPr id="28" name="Text 24"/>
          <p:cNvSpPr/>
          <p:nvPr/>
        </p:nvSpPr>
        <p:spPr>
          <a:xfrm>
            <a:off x="5577840" y="2075688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model + DevTools</a:t>
            </a:r>
            <a:endParaRPr lang="en-US" sz="1350" dirty="0"/>
          </a:p>
        </p:txBody>
      </p:sp>
      <p:sp>
        <p:nvSpPr>
          <p:cNvPr id="29" name="Text 25"/>
          <p:cNvSpPr/>
          <p:nvPr/>
        </p:nvSpPr>
        <p:spPr>
          <a:xfrm>
            <a:off x="7772400" y="2075688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min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4709160" y="2916936"/>
            <a:ext cx="3886200" cy="713232"/>
          </a:xfrm>
          <a:prstGeom prst="roundRect">
            <a:avLst>
              <a:gd name="adj" fmla="val 10256"/>
            </a:avLst>
          </a:prstGeom>
          <a:solidFill>
            <a:srgbClr val="F9F6F5"/>
          </a:solidFill>
          <a:ln w="9525">
            <a:solidFill>
              <a:srgbClr val="E8E2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873752" y="2916936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3:03</a:t>
            </a:r>
            <a:endParaRPr lang="en-US" sz="1500" dirty="0"/>
          </a:p>
        </p:txBody>
      </p:sp>
      <p:sp>
        <p:nvSpPr>
          <p:cNvPr id="32" name="Text 28"/>
          <p:cNvSpPr/>
          <p:nvPr/>
        </p:nvSpPr>
        <p:spPr>
          <a:xfrm>
            <a:off x="5577840" y="2916936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Display, then style Momo House</a:t>
            </a:r>
            <a:endParaRPr lang="en-US" sz="1350" dirty="0"/>
          </a:p>
        </p:txBody>
      </p:sp>
      <p:sp>
        <p:nvSpPr>
          <p:cNvPr id="33" name="Text 29"/>
          <p:cNvSpPr/>
          <p:nvPr/>
        </p:nvSpPr>
        <p:spPr>
          <a:xfrm>
            <a:off x="7772400" y="2916936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min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4709160" y="3758184"/>
            <a:ext cx="3886200" cy="713232"/>
          </a:xfrm>
          <a:prstGeom prst="roundRect">
            <a:avLst>
              <a:gd name="adj" fmla="val 10256"/>
            </a:avLst>
          </a:prstGeom>
          <a:solidFill>
            <a:srgbClr val="F9F6F5"/>
          </a:solidFill>
          <a:ln w="9525">
            <a:solidFill>
              <a:srgbClr val="E8E2E1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873752" y="3758184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3:49</a:t>
            </a:r>
            <a:endParaRPr lang="en-US" sz="1500" dirty="0"/>
          </a:p>
        </p:txBody>
      </p:sp>
      <p:sp>
        <p:nvSpPr>
          <p:cNvPr id="36" name="Text 32"/>
          <p:cNvSpPr/>
          <p:nvPr/>
        </p:nvSpPr>
        <p:spPr>
          <a:xfrm>
            <a:off x="5577840" y="3758184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teaser, quiz, homework</a:t>
            </a:r>
            <a:endParaRPr lang="en-US" sz="1350" dirty="0"/>
          </a:p>
        </p:txBody>
      </p:sp>
      <p:sp>
        <p:nvSpPr>
          <p:cNvPr id="37" name="Text 33"/>
          <p:cNvSpPr/>
          <p:nvPr/>
        </p:nvSpPr>
        <p:spPr>
          <a:xfrm>
            <a:off x="7772400" y="3758184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min</a:t>
            </a:r>
            <a:endParaRPr lang="en-US" sz="1100" dirty="0"/>
          </a:p>
        </p:txBody>
      </p:sp>
      <p:sp>
        <p:nvSpPr>
          <p:cNvPr id="38" name="Shape 34"/>
          <p:cNvSpPr/>
          <p:nvPr/>
        </p:nvSpPr>
        <p:spPr>
          <a:xfrm>
            <a:off x="548640" y="4572000"/>
            <a:ext cx="8046720" cy="384048"/>
          </a:xfrm>
          <a:prstGeom prst="roundRect">
            <a:avLst>
              <a:gd name="adj" fmla="val 19048"/>
            </a:avLst>
          </a:prstGeom>
          <a:solidFill>
            <a:srgbClr val="FFF3F4"/>
          </a:solidFill>
          <a:ln/>
        </p:spPr>
      </p:sp>
      <p:sp>
        <p:nvSpPr>
          <p:cNvPr id="39" name="Text 35"/>
          <p:cNvSpPr/>
          <p:nvPr/>
        </p:nvSpPr>
        <p:spPr>
          <a:xfrm>
            <a:off x="749808" y="4572000"/>
            <a:ext cx="7644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Breaks:  </a:t>
            </a:r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1:10 – 1:20 and 2:25 – 2:35 (10 min each).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3" name="Image 0" descr="C:\Users\Bedanga.BEDANGA-PC\.claude\skills\tsi-deck-theme-v2\icons\palette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48463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8992" y="3200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skeleton, three outfits</a:t>
            </a:r>
            <a:endParaRPr lang="en-US" sz="2700" dirty="0"/>
          </a:p>
        </p:txBody>
      </p:sp>
      <p:sp>
        <p:nvSpPr>
          <p:cNvPr id="6" name="Shape 2"/>
          <p:cNvSpPr/>
          <p:nvPr/>
        </p:nvSpPr>
        <p:spPr>
          <a:xfrm>
            <a:off x="593852" y="1325880"/>
            <a:ext cx="2515616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2E1"/>
            </a:solidFill>
            <a:prstDash val="solid"/>
          </a:ln>
        </p:spPr>
      </p:sp>
      <p:pic>
        <p:nvPicPr>
          <p:cNvPr id="7" name="Image 1" descr="D:\TSI AI powered Web App Devloper\Daily Planner +PPT\week2\day2\deck\_build\shots\outfit-tradition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716" y="1380744"/>
            <a:ext cx="2405888" cy="135331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48640" y="282549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outfit-traditional.css</a:t>
            </a:r>
            <a:endParaRPr lang="en-US" sz="1350" dirty="0"/>
          </a:p>
        </p:txBody>
      </p:sp>
      <p:sp>
        <p:nvSpPr>
          <p:cNvPr id="9" name="Shape 4"/>
          <p:cNvSpPr/>
          <p:nvPr/>
        </p:nvSpPr>
        <p:spPr>
          <a:xfrm>
            <a:off x="3309620" y="1325880"/>
            <a:ext cx="2515616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2E1"/>
            </a:solidFill>
            <a:prstDash val="solid"/>
          </a:ln>
        </p:spPr>
      </p:sp>
      <p:pic>
        <p:nvPicPr>
          <p:cNvPr id="10" name="Image 2" descr="D:\TSI AI powered Web App Devloper\Daily Planner +PPT\week2\day2\deck\_build\shots\outfit-moder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484" y="1380744"/>
            <a:ext cx="2405888" cy="135331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264408" y="282549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outfit-modern.css</a:t>
            </a:r>
            <a:endParaRPr lang="en-US" sz="1350" dirty="0"/>
          </a:p>
        </p:txBody>
      </p:sp>
      <p:sp>
        <p:nvSpPr>
          <p:cNvPr id="12" name="Shape 6"/>
          <p:cNvSpPr/>
          <p:nvPr/>
        </p:nvSpPr>
        <p:spPr>
          <a:xfrm>
            <a:off x="6025388" y="1325880"/>
            <a:ext cx="2515616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2E1"/>
            </a:solidFill>
            <a:prstDash val="solid"/>
          </a:ln>
        </p:spPr>
      </p:sp>
      <p:pic>
        <p:nvPicPr>
          <p:cNvPr id="13" name="Image 3" descr="D:\TSI AI powered Web App Devloper\Daily Planner +PPT\week2\day2\deck\_build\shots\outfit-n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252" y="1380744"/>
            <a:ext cx="2405888" cy="135331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980176" y="282549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outfit-night.css</a:t>
            </a:r>
            <a:endParaRPr lang="en-US" sz="1350" dirty="0"/>
          </a:p>
        </p:txBody>
      </p:sp>
      <p:sp>
        <p:nvSpPr>
          <p:cNvPr id="15" name="Shape 8"/>
          <p:cNvSpPr/>
          <p:nvPr/>
        </p:nvSpPr>
        <p:spPr>
          <a:xfrm>
            <a:off x="548640" y="333756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14213D"/>
          </a:solidFill>
          <a:ln/>
        </p:spPr>
      </p:sp>
      <p:sp>
        <p:nvSpPr>
          <p:cNvPr id="16" name="Text 9"/>
          <p:cNvSpPr/>
          <p:nvPr/>
        </p:nvSpPr>
        <p:spPr>
          <a:xfrm>
            <a:off x="749808" y="3337560"/>
            <a:ext cx="7644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HTML. Not one letter changed. Only the outfit (CSS).</a:t>
            </a:r>
            <a:endParaRPr lang="en-US" sz="1500" dirty="0"/>
          </a:p>
        </p:txBody>
      </p:sp>
      <p:sp>
        <p:nvSpPr>
          <p:cNvPr id="17" name="Shape 10"/>
          <p:cNvSpPr/>
          <p:nvPr/>
        </p:nvSpPr>
        <p:spPr>
          <a:xfrm>
            <a:off x="548640" y="406908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F5EBD8"/>
          </a:solidFill>
          <a:ln/>
        </p:spPr>
      </p:sp>
      <p:sp>
        <p:nvSpPr>
          <p:cNvPr id="18" name="Text 11"/>
          <p:cNvSpPr/>
          <p:nvPr/>
        </p:nvSpPr>
        <p:spPr>
          <a:xfrm>
            <a:off x="749808" y="4069080"/>
            <a:ext cx="7644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7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&amp; outfit:  </a:t>
            </a:r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says WHAT is on the page. CSS says how it LOOKS. Change the CSS, keep the skeleton.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3" name="Image 0" descr="C:\Users\Bedanga.BEDANGA-PC\.claude\skills\tsi-deck-theme-v2\icons\palette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48463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8992" y="32004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D2-00  ·  Outfit swap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7315200" y="402336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5EBD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9A7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548640" y="10789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 ·  solo  ·  W2D2/classwork/D2-00-outfit-swap/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66928" y="1554480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005840" y="152704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index.html with Live Server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66928" y="2011680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005840" y="198424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&lt;link&gt; line in the &lt;head&gt;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566928" y="2468880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005840" y="244144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href to css/outfit-modern.css. Save.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66928" y="2926080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005840" y="289864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css/outfit-night.css. Save.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66928" y="3383280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005840" y="335584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Write: what changed? What stayed the same?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5760720" y="1554480"/>
            <a:ext cx="2834640" cy="2331720"/>
          </a:xfrm>
          <a:prstGeom prst="roundRect">
            <a:avLst>
              <a:gd name="adj" fmla="val 3137"/>
            </a:avLst>
          </a:prstGeom>
          <a:solidFill>
            <a:srgbClr val="FFF3F4"/>
          </a:solidFill>
          <a:ln/>
        </p:spPr>
      </p:sp>
      <p:sp>
        <p:nvSpPr>
          <p:cNvPr id="19" name="Text 15"/>
          <p:cNvSpPr/>
          <p:nvPr/>
        </p:nvSpPr>
        <p:spPr>
          <a:xfrm>
            <a:off x="5943600" y="168249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DONE looks like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5943600" y="2057400"/>
            <a:ext cx="2468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saw 3 looks.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HTML did not change at all. Only one href.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548640" y="4206240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F5EBD8"/>
          </a:solidFill>
          <a:ln/>
        </p:spPr>
      </p:sp>
      <p:sp>
        <p:nvSpPr>
          <p:cNvPr id="22" name="Text 18"/>
          <p:cNvSpPr/>
          <p:nvPr/>
        </p:nvSpPr>
        <p:spPr>
          <a:xfrm>
            <a:off x="749808" y="4206240"/>
            <a:ext cx="7644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7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href, three looks.  </a:t>
            </a:r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at the reveal.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3" name="Image 0" descr="C:\Users\Bedanga.BEDANGA-PC\.claude\skills\tsi-deck-theme-v2\icons\layout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48463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8992" y="3200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Boxes with names: div soup vs semantic</a:t>
            </a:r>
            <a:endParaRPr lang="en-US" sz="2700" dirty="0"/>
          </a:p>
        </p:txBody>
      </p:sp>
      <p:sp>
        <p:nvSpPr>
          <p:cNvPr id="6" name="Shape 2"/>
          <p:cNvSpPr/>
          <p:nvPr/>
        </p:nvSpPr>
        <p:spPr>
          <a:xfrm>
            <a:off x="548640" y="1188720"/>
            <a:ext cx="3931920" cy="2514600"/>
          </a:xfrm>
          <a:prstGeom prst="roundRect">
            <a:avLst>
              <a:gd name="adj" fmla="val 2909"/>
            </a:avLst>
          </a:prstGeom>
          <a:solidFill>
            <a:srgbClr val="FBE9EA"/>
          </a:solidFill>
          <a:ln/>
        </p:spPr>
      </p:sp>
      <p:sp>
        <p:nvSpPr>
          <p:cNvPr id="7" name="Text 3"/>
          <p:cNvSpPr/>
          <p:nvPr/>
        </p:nvSpPr>
        <p:spPr>
          <a:xfrm>
            <a:off x="731520" y="131673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 soup: unlabeled boxes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731520" y="173736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2C3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class="header"&gt;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2C3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class="nav"&gt;…&lt;/div&gt;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2C3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2C3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class="main"&gt;…&lt;/div&gt;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2C3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class="footer"&gt;…&lt;/div&gt;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4663440" y="1188720"/>
            <a:ext cx="3931920" cy="2514600"/>
          </a:xfrm>
          <a:prstGeom prst="roundRect">
            <a:avLst>
              <a:gd name="adj" fmla="val 2909"/>
            </a:avLst>
          </a:prstGeom>
          <a:solidFill>
            <a:srgbClr val="E8F3EA"/>
          </a:solidFill>
          <a:ln/>
        </p:spPr>
      </p:sp>
      <p:sp>
        <p:nvSpPr>
          <p:cNvPr id="10" name="Text 6"/>
          <p:cNvSpPr/>
          <p:nvPr/>
        </p:nvSpPr>
        <p:spPr>
          <a:xfrm>
            <a:off x="4846320" y="131673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6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Semantic: boxes with names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846320" y="173736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2C3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2C3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&lt;nav&gt;…&lt;/nav&gt;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2C3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&lt;/header&gt;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2C3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&lt;main&gt;…&lt;/main&gt;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2C3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&lt;footer&gt;…&lt;/footer&gt;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93192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F5EBD8"/>
          </a:solidFill>
          <a:ln/>
        </p:spPr>
      </p:sp>
      <p:sp>
        <p:nvSpPr>
          <p:cNvPr id="13" name="Text 9"/>
          <p:cNvSpPr/>
          <p:nvPr/>
        </p:nvSpPr>
        <p:spPr>
          <a:xfrm>
            <a:off x="749808" y="3931920"/>
            <a:ext cx="7644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7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 with names:  </a:t>
            </a:r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house plan says "kitchen", not "room 1". Semantic tags look the same as a div, but they MEAN something.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3" name="Image 0" descr="C:\Users\Bedanga.BEDANGA-PC\.claude\skills\tsi-deck-theme-v2\icons\layout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48463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8992" y="32004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semantic page map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7315200" y="402336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5EBD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9A7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548640" y="10789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Code-along  ·  3 min  ·  type with me  ·  W2D2/instructor-demos/B1-semantic/step-01-div-soup → step-02-semantic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48640" y="1463040"/>
            <a:ext cx="5120640" cy="502920"/>
          </a:xfrm>
          <a:prstGeom prst="roundRect">
            <a:avLst>
              <a:gd name="adj" fmla="val 10909"/>
            </a:avLst>
          </a:prstGeom>
          <a:solidFill>
            <a:srgbClr val="14213D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   logo + &lt;nav&gt; links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48640" y="2057400"/>
            <a:ext cx="3611880" cy="1828800"/>
          </a:xfrm>
          <a:prstGeom prst="roundRect">
            <a:avLst>
              <a:gd name="adj" fmla="val 3000"/>
            </a:avLst>
          </a:prstGeom>
          <a:solidFill>
            <a:srgbClr val="FFF3F4"/>
          </a:solidFill>
          <a:ln w="15875">
            <a:solidFill>
              <a:srgbClr val="99001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40080" y="21031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900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&lt;main&gt;  (one per page)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85800" y="2423160"/>
            <a:ext cx="333756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5875">
            <a:solidFill>
              <a:srgbClr val="B9C2CF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&lt;section&gt;  with an &lt;h2&gt;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85800" y="3108960"/>
            <a:ext cx="33375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875">
            <a:solidFill>
              <a:srgbClr val="B9C2CF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&lt;article&gt;  a blog post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251960" y="2057400"/>
            <a:ext cx="1417320" cy="1828800"/>
          </a:xfrm>
          <a:prstGeom prst="roundRect">
            <a:avLst>
              <a:gd name="adj" fmla="val 3871"/>
            </a:avLst>
          </a:prstGeom>
          <a:solidFill>
            <a:srgbClr val="F9F6F5"/>
          </a:solidFill>
          <a:ln w="15875">
            <a:solidFill>
              <a:srgbClr val="B9C2CF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&lt;aside&gt;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48640" y="3977640"/>
            <a:ext cx="5120640" cy="457200"/>
          </a:xfrm>
          <a:prstGeom prst="roundRect">
            <a:avLst>
              <a:gd name="adj" fmla="val 12000"/>
            </a:avLst>
          </a:prstGeom>
          <a:solidFill>
            <a:srgbClr val="14213D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&lt;footer&gt;   contact · ©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897880" y="1463040"/>
            <a:ext cx="2697480" cy="2971800"/>
          </a:xfrm>
          <a:prstGeom prst="roundRect">
            <a:avLst>
              <a:gd name="adj" fmla="val 2712"/>
            </a:avLst>
          </a:prstGeom>
          <a:solidFill>
            <a:srgbClr val="FFF3F4"/>
          </a:solidFill>
          <a:ln/>
        </p:spPr>
      </p:sp>
      <p:sp>
        <p:nvSpPr>
          <p:cNvPr id="16" name="Text 12"/>
          <p:cNvSpPr/>
          <p:nvPr/>
        </p:nvSpPr>
        <p:spPr>
          <a:xfrm>
            <a:off x="6080760" y="159105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House rules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080760" y="1965960"/>
            <a:ext cx="2331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&lt;main&gt; per page.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&lt;section&gt; has a heading.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&lt;article&gt; = could be posted alone.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&lt;aside&gt; = side information.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3" name="Image 0" descr="C:\Users\Bedanga.BEDANGA-PC\.claude\skills\tsi-deck-theme-v2\icons\users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48463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8992" y="3200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reads the names?</a:t>
            </a:r>
            <a:endParaRPr lang="en-US" sz="2700" dirty="0"/>
          </a:p>
        </p:txBody>
      </p:sp>
      <p:sp>
        <p:nvSpPr>
          <p:cNvPr id="6" name="Shape 2"/>
          <p:cNvSpPr/>
          <p:nvPr/>
        </p:nvSpPr>
        <p:spPr>
          <a:xfrm>
            <a:off x="548640" y="1188720"/>
            <a:ext cx="1874520" cy="1737360"/>
          </a:xfrm>
          <a:prstGeom prst="roundRect">
            <a:avLst>
              <a:gd name="adj" fmla="val 4211"/>
            </a:avLst>
          </a:prstGeom>
          <a:solidFill>
            <a:srgbClr val="F9F6F5"/>
          </a:solidFill>
          <a:ln w="9525">
            <a:solidFill>
              <a:srgbClr val="E8E2E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31520" y="1316736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731520" y="16916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which text is the main content and which is just the menu.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2606040" y="1188720"/>
            <a:ext cx="1874520" cy="1737360"/>
          </a:xfrm>
          <a:prstGeom prst="roundRect">
            <a:avLst>
              <a:gd name="adj" fmla="val 4211"/>
            </a:avLst>
          </a:prstGeom>
          <a:solidFill>
            <a:srgbClr val="FFF3F4"/>
          </a:solidFill>
          <a:ln/>
        </p:spPr>
      </p:sp>
      <p:sp>
        <p:nvSpPr>
          <p:cNvPr id="10" name="Text 6"/>
          <p:cNvSpPr/>
          <p:nvPr/>
        </p:nvSpPr>
        <p:spPr>
          <a:xfrm>
            <a:off x="2788920" y="1316736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 readers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2788920" y="16916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blind user jumps straight to &lt;nav&gt; or &lt;main&gt; with one key.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663440" y="1188720"/>
            <a:ext cx="1874520" cy="1737360"/>
          </a:xfrm>
          <a:prstGeom prst="roundRect">
            <a:avLst>
              <a:gd name="adj" fmla="val 4211"/>
            </a:avLst>
          </a:prstGeom>
          <a:solidFill>
            <a:srgbClr val="F9F6F5"/>
          </a:solidFill>
          <a:ln w="9525">
            <a:solidFill>
              <a:srgbClr val="E8E2E1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846320" y="1316736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tools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846320" y="16916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your page faster when the boxes have names.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720840" y="1188720"/>
            <a:ext cx="1874520" cy="1737360"/>
          </a:xfrm>
          <a:prstGeom prst="roundRect">
            <a:avLst>
              <a:gd name="adj" fmla="val 4211"/>
            </a:avLst>
          </a:prstGeom>
          <a:solidFill>
            <a:srgbClr val="F9F6F5"/>
          </a:solidFill>
          <a:ln w="9525">
            <a:solidFill>
              <a:srgbClr val="E8E2E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903720" y="1316736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Teammates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903720" y="16916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&lt;footer&gt; is easier to find than &lt;div class="box3"&gt;.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48640" y="320040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14213D"/>
          </a:solidFill>
          <a:ln/>
        </p:spPr>
      </p:sp>
      <p:sp>
        <p:nvSpPr>
          <p:cNvPr id="19" name="Text 15"/>
          <p:cNvSpPr/>
          <p:nvPr/>
        </p:nvSpPr>
        <p:spPr>
          <a:xfrm>
            <a:off x="749808" y="3200400"/>
            <a:ext cx="7644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page looks the same. The meaning is new.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3" name="Image 0" descr="C:\Users\Bedanga.BEDANGA-PC\.claude\skills\tsi-deck-theme-v2\icons\edit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48463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8992" y="32004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D2-01  ·  Div soup → semantic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7315200" y="402336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5EBD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9A7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548640" y="10789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minutes  ·  solo  ·  W2D2/classwork/D2-01-div-soup-to-semantic/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66928" y="1554480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005840" y="152704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index.html: 7 &lt;div class="…"&gt; boxes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66928" y="2011680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005840" y="198424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each one to its semantic tag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566928" y="2468880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005840" y="244144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editing renames the closing tag too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66928" y="2926080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005840" y="289864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Save. The page must look the SAME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66928" y="3383280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005840" y="335584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F12 → Elements: read the new names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5760720" y="1554480"/>
            <a:ext cx="2834640" cy="2331720"/>
          </a:xfrm>
          <a:prstGeom prst="roundRect">
            <a:avLst>
              <a:gd name="adj" fmla="val 3137"/>
            </a:avLst>
          </a:prstGeom>
          <a:solidFill>
            <a:srgbClr val="FFF3F4"/>
          </a:solidFill>
          <a:ln/>
        </p:spPr>
      </p:sp>
      <p:sp>
        <p:nvSpPr>
          <p:cNvPr id="19" name="Text 15"/>
          <p:cNvSpPr/>
          <p:nvPr/>
        </p:nvSpPr>
        <p:spPr>
          <a:xfrm>
            <a:off x="5943600" y="168249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DONE looks like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5943600" y="2057400"/>
            <a:ext cx="2468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&lt;div class="header / nav / main / … "&gt; left.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page looks the same.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F12 shows header, nav, main, section, article, aside, footer.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548640" y="4206240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F5EBD8"/>
          </a:solidFill>
          <a:ln/>
        </p:spPr>
      </p:sp>
      <p:sp>
        <p:nvSpPr>
          <p:cNvPr id="22" name="Text 18"/>
          <p:cNvSpPr/>
          <p:nvPr/>
        </p:nvSpPr>
        <p:spPr>
          <a:xfrm>
            <a:off x="749808" y="4206240"/>
            <a:ext cx="7644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7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tag did not follow?  </a:t>
            </a:r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editing is in .vscode/settings.json: open the W2D2 folder, not one file.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3" name="Image 0" descr="C:\Users\Bedanga.BEDANGA-PC\.claude\skills\tsi-deck-theme-v2\icons\search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48463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8992" y="3200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NOT to use each tag</a:t>
            </a:r>
            <a:endParaRPr lang="en-US" sz="2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88720"/>
          <a:ext cx="81381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108960"/>
                <a:gridCol w="3474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it for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NOT use it for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&lt;main&gt;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one main content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second main on the same page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&lt;nav&gt;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group of links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paragraph of text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&lt;section&gt;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part with its own heading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box with no heading (use div)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&lt;aside&gt;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 info: related posts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main blog post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&lt;button&gt;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anything you click to DO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&lt;div class="btn"&gt; — Tab skips it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6F5"/>
                    </a:solidFill>
                  </a:tcPr>
                </a:tc>
              </a:tr>
            </a:tbl>
          </a:graphicData>
        </a:graphic>
      </p:graphicFrame>
      <p:sp>
        <p:nvSpPr>
          <p:cNvPr id="7" name="Shape 2"/>
          <p:cNvSpPr/>
          <p:nvPr/>
        </p:nvSpPr>
        <p:spPr>
          <a:xfrm>
            <a:off x="548640" y="402336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F5EBD8"/>
          </a:solidFill>
          <a:ln/>
        </p:spPr>
      </p:sp>
      <p:sp>
        <p:nvSpPr>
          <p:cNvPr id="8" name="Text 3"/>
          <p:cNvSpPr/>
          <p:nvPr/>
        </p:nvSpPr>
        <p:spPr>
          <a:xfrm>
            <a:off x="749808" y="4023360"/>
            <a:ext cx="7644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7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rule check.  </a:t>
            </a:r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tool fires for these. You read the code against the rule.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3" name="Image 0" descr="C:\Users\Bedanga.BEDANGA-PC\.claude\skills\tsi-deck-theme-v2\icons\wrench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48463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8992" y="32004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D2-02  ·  Semantic misuse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7315200" y="402336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5EBD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9A7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548640" y="10789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minutes  ·  solo  ·  W2D2/classwork/D2-02-semantic-misuse-bughunt/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66928" y="1554480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005840" y="152704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index.html: the TSI Blog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66928" y="2011680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005840" y="198424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F12 → Elements: count the &lt;main&gt; tags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566928" y="2468880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005840" y="244144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every nav, section and aside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66928" y="2926080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005840" y="289864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Tab through the page: what gets skipped?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66928" y="3383280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005840" y="335584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"When NOT" table on slide 9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5760720" y="1554480"/>
            <a:ext cx="2834640" cy="2331720"/>
          </a:xfrm>
          <a:prstGeom prst="roundRect">
            <a:avLst>
              <a:gd name="adj" fmla="val 3137"/>
            </a:avLst>
          </a:prstGeom>
          <a:solidFill>
            <a:srgbClr val="FFF3F4"/>
          </a:solidFill>
          <a:ln/>
        </p:spPr>
      </p:sp>
      <p:sp>
        <p:nvSpPr>
          <p:cNvPr id="19" name="Text 15"/>
          <p:cNvSpPr/>
          <p:nvPr/>
        </p:nvSpPr>
        <p:spPr>
          <a:xfrm>
            <a:off x="5943600" y="168249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DONE looks like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5943600" y="2057400"/>
            <a:ext cx="2468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&lt;main&gt;.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&lt;nav&gt; holds links.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&lt;section&gt; has a heading.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post is in &lt;main&gt;, related posts in &lt;aside&gt;.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 is a real &lt;button&gt;.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548640" y="4206240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F5EBD8"/>
          </a:solidFill>
          <a:ln/>
        </p:spPr>
      </p:sp>
      <p:sp>
        <p:nvSpPr>
          <p:cNvPr id="22" name="Text 18"/>
          <p:cNvSpPr/>
          <p:nvPr/>
        </p:nvSpPr>
        <p:spPr>
          <a:xfrm>
            <a:off x="749808" y="4206240"/>
            <a:ext cx="7644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7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bugs. Find at least 3.  </a:t>
            </a:r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the reveal: solution/BUGS.md on the projector. Write your score line in the README.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3" name="Image 0" descr="C:\Users\Bedanga.BEDANGA-PC\.claude\skills\tsi-deck-theme-v2\icons\users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48463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8992" y="3200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parcel label read aloud</a:t>
            </a:r>
            <a:endParaRPr lang="en-US" sz="2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88720"/>
          <a:ext cx="81381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651760"/>
                <a:gridCol w="32918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the parcel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HTML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aloud, it says…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13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language of the label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&lt;html lang="en"&gt;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right voice for the words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6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description of a photo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alt="TSI building"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"TSI building, image"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a link goes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&lt;a&gt;Momo menu&lt;/a&gt;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"Momo menu, link" (not "click here")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6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a box is for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&lt;label for="phone"&gt;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"Phone, edit text"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chapter titles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 → h2 → h3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list of headings to jump to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6F5"/>
                    </a:solidFill>
                  </a:tcPr>
                </a:tc>
              </a:tr>
            </a:tbl>
          </a:graphicData>
        </a:graphic>
      </p:graphicFrame>
      <p:sp>
        <p:nvSpPr>
          <p:cNvPr id="7" name="Shape 2"/>
          <p:cNvSpPr/>
          <p:nvPr/>
        </p:nvSpPr>
        <p:spPr>
          <a:xfrm>
            <a:off x="548640" y="402336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F5EBD8"/>
          </a:solidFill>
          <a:ln/>
        </p:spPr>
      </p:sp>
      <p:sp>
        <p:nvSpPr>
          <p:cNvPr id="8" name="Text 3"/>
          <p:cNvSpPr/>
          <p:nvPr/>
        </p:nvSpPr>
        <p:spPr>
          <a:xfrm>
            <a:off x="749808" y="4023360"/>
            <a:ext cx="7644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7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a11y = accessibility.  </a:t>
            </a:r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page that works for people who cannot see, cannot use a mouse, or have a slow phone.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3" name="Image 0" descr="C:\Users\Bedanga.BEDANGA-PC\.claude\skills\tsi-deck-theme-v2\icons\search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48463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8992" y="3200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 text: meaningful vs decorative</a:t>
            </a:r>
            <a:endParaRPr lang="en-US" sz="2700" dirty="0"/>
          </a:p>
        </p:txBody>
      </p:sp>
      <p:sp>
        <p:nvSpPr>
          <p:cNvPr id="6" name="Shape 2"/>
          <p:cNvSpPr/>
          <p:nvPr/>
        </p:nvSpPr>
        <p:spPr>
          <a:xfrm>
            <a:off x="548640" y="118872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F9F6F5"/>
          </a:solidFill>
          <a:ln w="9525">
            <a:solidFill>
              <a:srgbClr val="E8E2E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31520" y="131673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Meaningful picture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731520" y="16916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carries information. Describe it like on the phone.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alt="The TSI building in Dillibazar"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3291840" y="118872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FFF3F4"/>
          </a:solidFill>
          <a:ln/>
        </p:spPr>
      </p:sp>
      <p:sp>
        <p:nvSpPr>
          <p:cNvPr id="10" name="Text 6"/>
          <p:cNvSpPr/>
          <p:nvPr/>
        </p:nvSpPr>
        <p:spPr>
          <a:xfrm>
            <a:off x="3474720" y="131673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Decorative picture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474720" y="16916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decoration. Empty alt: the screen reader skips it.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alt=""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035040" y="118872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F9F6F5"/>
          </a:solidFill>
          <a:ln w="9525">
            <a:solidFill>
              <a:srgbClr val="E8E2E1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217920" y="131673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alt at all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217920" y="16916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worst: the screen reader reads the file name aloud.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"decorative-pattern dot svg"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333756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F5EBD8"/>
          </a:solidFill>
          <a:ln/>
        </p:spPr>
      </p:sp>
      <p:sp>
        <p:nvSpPr>
          <p:cNvPr id="16" name="Text 12"/>
          <p:cNvSpPr/>
          <p:nvPr/>
        </p:nvSpPr>
        <p:spPr>
          <a:xfrm>
            <a:off x="749808" y="3337560"/>
            <a:ext cx="7644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7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alt="" is not the same as no alt.  </a:t>
            </a:r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alt = "skip me, I am decoration". No alt = "I forgot".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3" name="Image 0" descr="C:\Users\Bedanga.BEDANGA-PC\.claude\skills\tsi-deck-theme-v2\icons\code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48463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8992" y="32004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 and meta: the parcel label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7315200" y="402336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5EBD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9A7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548640" y="10789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Code-along  ·  2 min  ·  type with me  ·  W2D2/instructor-demos/B2-a11y-meta/step-01-before → step-02-after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8046720" cy="2697480"/>
          </a:xfrm>
          <a:prstGeom prst="roundRect">
            <a:avLst>
              <a:gd name="adj" fmla="val 2712"/>
            </a:avLst>
          </a:prstGeom>
          <a:solidFill>
            <a:srgbClr val="16274A"/>
          </a:solidFill>
          <a:ln/>
        </p:spPr>
      </p:sp>
      <p:sp>
        <p:nvSpPr>
          <p:cNvPr id="9" name="Shape 5"/>
          <p:cNvSpPr/>
          <p:nvPr/>
        </p:nvSpPr>
        <p:spPr>
          <a:xfrm>
            <a:off x="694944" y="1581912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Shape 6"/>
          <p:cNvSpPr/>
          <p:nvPr/>
        </p:nvSpPr>
        <p:spPr>
          <a:xfrm>
            <a:off x="841248" y="1581912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7"/>
          <p:cNvSpPr/>
          <p:nvPr/>
        </p:nvSpPr>
        <p:spPr>
          <a:xfrm>
            <a:off x="987552" y="1581912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Text 8"/>
          <p:cNvSpPr/>
          <p:nvPr/>
        </p:nvSpPr>
        <p:spPr>
          <a:xfrm>
            <a:off x="1188720" y="1517904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8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  (the &lt;head&gt;)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749808" y="1810512"/>
            <a:ext cx="76809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 lang="en"&gt;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&lt;meta charset="UTF-8"&gt;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&lt;meta name="viewport" content="width=device-width, initial-scale=1.0"&gt;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&lt;title&gt;TSI Admissions · Tech Skills Institute&lt;/title&gt;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&lt;meta name="description" content="Join the AI-Powered Full Stack course in Kathmandu."&gt;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&lt;link rel="icon" href="favicon.svg"&gt;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4279392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F5EBD8"/>
          </a:solidFill>
          <a:ln/>
        </p:spPr>
      </p:sp>
      <p:sp>
        <p:nvSpPr>
          <p:cNvPr id="15" name="Text 11"/>
          <p:cNvSpPr/>
          <p:nvPr/>
        </p:nvSpPr>
        <p:spPr>
          <a:xfrm>
            <a:off x="749808" y="4279392"/>
            <a:ext cx="7644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7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+ description  </a:t>
            </a:r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what Google shows in its results. "Document" (the Emmet default) tells nobody anything.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3" name="Image 0" descr="C:\Users\Bedanga.BEDANGA-PC\.claude\skills\tsi-deck-theme-v2\icons\monitor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48463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8992" y="3200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Demo: Narrator, Tab walk, Lighthouse</a:t>
            </a:r>
            <a:endParaRPr lang="en-US" sz="2700" dirty="0"/>
          </a:p>
        </p:txBody>
      </p:sp>
      <p:sp>
        <p:nvSpPr>
          <p:cNvPr id="6" name="Shape 2"/>
          <p:cNvSpPr/>
          <p:nvPr/>
        </p:nvSpPr>
        <p:spPr>
          <a:xfrm>
            <a:off x="548640" y="1188720"/>
            <a:ext cx="4754880" cy="2679192"/>
          </a:xfrm>
          <a:prstGeom prst="roundRect">
            <a:avLst>
              <a:gd name="adj" fmla="val 2048"/>
            </a:avLst>
          </a:prstGeom>
          <a:solidFill>
            <a:srgbClr val="F9F6F5"/>
          </a:solidFill>
          <a:ln w="19050">
            <a:solidFill>
              <a:srgbClr val="9FB3D1"/>
            </a:solidFill>
            <a:prstDash val="dash"/>
          </a:ln>
        </p:spPr>
      </p:sp>
      <p:sp>
        <p:nvSpPr>
          <p:cNvPr id="7" name="Text 3"/>
          <p:cNvSpPr/>
          <p:nvPr/>
        </p:nvSpPr>
        <p:spPr>
          <a:xfrm>
            <a:off x="658368" y="1298448"/>
            <a:ext cx="1325880" cy="256032"/>
          </a:xfrm>
          <a:prstGeom prst="roundRect">
            <a:avLst>
              <a:gd name="adj" fmla="val 46429"/>
            </a:avLst>
          </a:prstGeom>
          <a:solidFill>
            <a:srgbClr val="1421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777240" y="1600200"/>
            <a:ext cx="4297680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open F12 → Lighthouse → tick Accessibility only → Analyze page load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5486400" y="1188720"/>
            <a:ext cx="3108960" cy="2679192"/>
          </a:xfrm>
          <a:prstGeom prst="roundRect">
            <a:avLst>
              <a:gd name="adj" fmla="val 2730"/>
            </a:avLst>
          </a:prstGeom>
          <a:solidFill>
            <a:srgbClr val="FFF3F4"/>
          </a:solidFill>
          <a:ln/>
        </p:spPr>
      </p:sp>
      <p:sp>
        <p:nvSpPr>
          <p:cNvPr id="10" name="Text 6"/>
          <p:cNvSpPr/>
          <p:nvPr/>
        </p:nvSpPr>
        <p:spPr>
          <a:xfrm>
            <a:off x="5669280" y="13167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tools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5669280" y="1691640"/>
            <a:ext cx="2743200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Narrator (instructor only):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+ Win + Enter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walk: press Tab through the whole page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Lighthouse: F12 → Lighthouse → Accessibility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406908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F5EBD8"/>
          </a:solidFill>
          <a:ln/>
        </p:spPr>
      </p:sp>
      <p:sp>
        <p:nvSpPr>
          <p:cNvPr id="13" name="Text 9"/>
          <p:cNvSpPr/>
          <p:nvPr/>
        </p:nvSpPr>
        <p:spPr>
          <a:xfrm>
            <a:off x="749808" y="4069080"/>
            <a:ext cx="7644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7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Lighthouse works offline.  </a:t>
            </a:r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inside Chrome. D(LH) bugs in the bug lists = Lighthouse shows them.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3" name="Image 0" descr="C:\Users\Bedanga.BEDANGA-PC\.claude\skills\tsi-deck-theme-v2\icons\search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48463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8992" y="32004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D2-03  ·  A11y audit: TSI Admissions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7315200" y="402336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5EBD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9A7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548640" y="10789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minutes  ·  solo  ·  W2D2/classwork/D2-03-a11y-audit/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66928" y="1554480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005840" y="152704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index.html with Live Server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66928" y="2011680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005840" y="198424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walk: press Tab through the whole page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566928" y="2468880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005840" y="244144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F12 → Lighthouse → Accessibility → Analyze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66928" y="2926080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005840" y="289864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Ctrl+Shift+M: read the HTMLHint problems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66928" y="3383280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005840" y="335584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head and every alt yourself (R bugs)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5760720" y="1554480"/>
            <a:ext cx="2834640" cy="2331720"/>
          </a:xfrm>
          <a:prstGeom prst="roundRect">
            <a:avLst>
              <a:gd name="adj" fmla="val 3137"/>
            </a:avLst>
          </a:prstGeom>
          <a:solidFill>
            <a:srgbClr val="FFF3F4"/>
          </a:solidFill>
          <a:ln/>
        </p:spPr>
      </p:sp>
      <p:sp>
        <p:nvSpPr>
          <p:cNvPr id="19" name="Text 15"/>
          <p:cNvSpPr/>
          <p:nvPr/>
        </p:nvSpPr>
        <p:spPr>
          <a:xfrm>
            <a:off x="5943600" y="168249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DONE looks like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5943600" y="2057400"/>
            <a:ext cx="2468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lang="en", a real title, every meaningful img has alt, the pattern has alt="", links say where they go, the phone input has a label.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Lighthouse a11y score goes up.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548640" y="4206240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F5EBD8"/>
          </a:solidFill>
          <a:ln/>
        </p:spPr>
      </p:sp>
      <p:sp>
        <p:nvSpPr>
          <p:cNvPr id="22" name="Text 18"/>
          <p:cNvSpPr/>
          <p:nvPr/>
        </p:nvSpPr>
        <p:spPr>
          <a:xfrm>
            <a:off x="749808" y="4206240"/>
            <a:ext cx="7644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7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bugs. Find at least 4.  </a:t>
            </a:r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the reveal: solution/BUGS.md on the projector. Write your score line in the README.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3" name="Image 0" descr="C:\Users\Bedanga.BEDANGA-PC\.claude\skills\tsi-deck-theme-v2\icons\monitor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48463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8992" y="32004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TV, radio and a window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7315200" y="402336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5EBD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9A7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548640" y="10789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Code-along  ·  2 min  ·  type with me  ·  W2D2/instructor-demos/B3-media/step-01-audio … step-03-iframe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8046720" cy="2697480"/>
          </a:xfrm>
          <a:prstGeom prst="roundRect">
            <a:avLst>
              <a:gd name="adj" fmla="val 2712"/>
            </a:avLst>
          </a:prstGeom>
          <a:solidFill>
            <a:srgbClr val="16274A"/>
          </a:solidFill>
          <a:ln/>
        </p:spPr>
      </p:sp>
      <p:sp>
        <p:nvSpPr>
          <p:cNvPr id="9" name="Shape 5"/>
          <p:cNvSpPr/>
          <p:nvPr/>
        </p:nvSpPr>
        <p:spPr>
          <a:xfrm>
            <a:off x="694944" y="1581912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Shape 6"/>
          <p:cNvSpPr/>
          <p:nvPr/>
        </p:nvSpPr>
        <p:spPr>
          <a:xfrm>
            <a:off x="841248" y="1581912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7"/>
          <p:cNvSpPr/>
          <p:nvPr/>
        </p:nvSpPr>
        <p:spPr>
          <a:xfrm>
            <a:off x="987552" y="1581912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Text 8"/>
          <p:cNvSpPr/>
          <p:nvPr/>
        </p:nvSpPr>
        <p:spPr>
          <a:xfrm>
            <a:off x="1188720" y="1517904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8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  (inside &lt;body&gt;)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749808" y="1810512"/>
            <a:ext cx="76809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&lt;audio src="media/canteen-bell.wav" controls&gt;&lt;/audio&gt;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&lt;video controls width="640" poster="images/poster-momo-steam.svg"&gt;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&lt;source src="media/momo-steam.mp4" type="video/mp4"&gt;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Your browser cannot play this video.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&lt;/video&gt;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&lt;iframe src="kathmandu-map.html" title="Map of Kathmandu"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width="600" height="340"&gt;&lt;/iframe&gt;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279392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F5EBD8"/>
          </a:solidFill>
          <a:ln/>
        </p:spPr>
      </p:sp>
      <p:sp>
        <p:nvSpPr>
          <p:cNvPr id="15" name="Text 11"/>
          <p:cNvSpPr/>
          <p:nvPr/>
        </p:nvSpPr>
        <p:spPr>
          <a:xfrm>
            <a:off x="749808" y="4279392"/>
            <a:ext cx="7644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7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Radio, TV, window:  </a:t>
            </a:r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= the radio, video = the TV, iframe = a window into another room (another page).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3" name="Image 0" descr="C:\Users\Bedanga.BEDANGA-PC\.claude\skills\tsi-deck-theme-v2\icons\monitor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48463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8992" y="3200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Autoplay needs muted · poster · fallback text</a:t>
            </a:r>
            <a:endParaRPr lang="en-US" sz="2700" dirty="0"/>
          </a:p>
        </p:txBody>
      </p:sp>
      <p:sp>
        <p:nvSpPr>
          <p:cNvPr id="6" name="Shape 2"/>
          <p:cNvSpPr/>
          <p:nvPr/>
        </p:nvSpPr>
        <p:spPr>
          <a:xfrm>
            <a:off x="548640" y="118872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F9F6F5"/>
          </a:solidFill>
          <a:ln w="9525">
            <a:solidFill>
              <a:srgbClr val="E8E2E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31520" y="131673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Autoplay needs muted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731520" y="16916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Browsers block sound that starts by itself.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&lt;video autoplay muted loop&gt;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3291840" y="118872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FFF3F4"/>
          </a:solidFill>
          <a:ln/>
        </p:spPr>
      </p:sp>
      <p:sp>
        <p:nvSpPr>
          <p:cNvPr id="10" name="Text 6"/>
          <p:cNvSpPr/>
          <p:nvPr/>
        </p:nvSpPr>
        <p:spPr>
          <a:xfrm>
            <a:off x="3474720" y="131673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poster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474720" y="16916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picture before play. Wrong path = an empty box.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poster="images/poster-momo-steam.svg"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035040" y="118872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F9F6F5"/>
          </a:solidFill>
          <a:ln w="9525">
            <a:solidFill>
              <a:srgbClr val="E8E2E1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217920" y="131673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Fallback text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217920" y="16916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inside &lt;video&gt;…&lt;/video&gt; show only when video cannot play at all.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333756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F5EBD8"/>
          </a:solidFill>
          <a:ln/>
        </p:spPr>
      </p:sp>
      <p:sp>
        <p:nvSpPr>
          <p:cNvPr id="16" name="Text 12"/>
          <p:cNvSpPr/>
          <p:nvPr/>
        </p:nvSpPr>
        <p:spPr>
          <a:xfrm>
            <a:off x="749808" y="3337560"/>
            <a:ext cx="7644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7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&lt;source&gt; goes INSIDE &lt;video&gt;,  </a:t>
            </a:r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its type matches the file: video/mp4 for a .mp4 file.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3" name="Image 0" descr="C:\Users\Bedanga.BEDANGA-PC\.claude\skills\tsi-deck-theme-v2\icons\wrench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48463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8992" y="32004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D2-04  ·  Broken media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7315200" y="402336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5EBD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9A7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548640" y="10789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minutes  ·  solo  ·  W2D2/classwork/D2-04-broken-media/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66928" y="1554480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005840" y="152704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index.html with Live Server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66928" y="2011680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005840" y="198424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see and play BOTH audio players?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566928" y="2468880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005840" y="244144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see the video controls and the poster?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66928" y="2926080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005840" y="289864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map window showing the map?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66928" y="3383280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005840" y="335584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every file name with the folders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5760720" y="1554480"/>
            <a:ext cx="2834640" cy="2331720"/>
          </a:xfrm>
          <a:prstGeom prst="roundRect">
            <a:avLst>
              <a:gd name="adj" fmla="val 3137"/>
            </a:avLst>
          </a:prstGeom>
          <a:solidFill>
            <a:srgbClr val="FFF3F4"/>
          </a:solidFill>
          <a:ln/>
        </p:spPr>
      </p:sp>
      <p:sp>
        <p:nvSpPr>
          <p:cNvPr id="19" name="Text 15"/>
          <p:cNvSpPr/>
          <p:nvPr/>
        </p:nvSpPr>
        <p:spPr>
          <a:xfrm>
            <a:off x="5943600" y="168249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DONE looks like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5943600" y="2057400"/>
            <a:ext cx="2468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audio players that play the bell.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video has controls and shows the poster before play.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 shows the Kathmandu map.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548640" y="4206240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F5EBD8"/>
          </a:solidFill>
          <a:ln/>
        </p:spPr>
      </p:sp>
      <p:sp>
        <p:nvSpPr>
          <p:cNvPr id="22" name="Text 18"/>
          <p:cNvSpPr/>
          <p:nvPr/>
        </p:nvSpPr>
        <p:spPr>
          <a:xfrm>
            <a:off x="749808" y="4206240"/>
            <a:ext cx="7644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7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bugs. Find at least 3.  </a:t>
            </a:r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the reveal: solution/BUGS.md on the projector. Write your score line in the README.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3" name="Image 0" descr="C:\Users\Bedanga.BEDANGA-PC\.claude\skills\tsi-deck-theme-v2\icons\monitor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48463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8992" y="32004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D2-05  ·  Media corner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7315200" y="402336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5EBD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9A7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548640" y="10789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 ·  solo  ·  W2D2/classwork/D2-05-media-corner/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66928" y="1554480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005840" y="152704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index.html: audio + video are done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66928" y="2011680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005840" y="198424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&lt;iframe&gt; of kathmandu-map.html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566928" y="2468880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005840" y="244144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it a title, a width and a height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66928" y="2926080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005840" y="289864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and check the map shows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66928" y="3383280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005840" y="335584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fallback text inside the &lt;video&gt;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5760720" y="1554480"/>
            <a:ext cx="2834640" cy="2331720"/>
          </a:xfrm>
          <a:prstGeom prst="roundRect">
            <a:avLst>
              <a:gd name="adj" fmla="val 3137"/>
            </a:avLst>
          </a:prstGeom>
          <a:solidFill>
            <a:srgbClr val="FFF3F4"/>
          </a:solidFill>
          <a:ln/>
        </p:spPr>
      </p:sp>
      <p:sp>
        <p:nvSpPr>
          <p:cNvPr id="19" name="Text 15"/>
          <p:cNvSpPr/>
          <p:nvPr/>
        </p:nvSpPr>
        <p:spPr>
          <a:xfrm>
            <a:off x="5943600" y="168249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DONE looks like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5943600" y="2057400"/>
            <a:ext cx="2468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 shows in a window on your page.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iframe has a title (for screen readers).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548640" y="4206240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F5EBD8"/>
          </a:solidFill>
          <a:ln/>
        </p:spPr>
      </p:sp>
      <p:sp>
        <p:nvSpPr>
          <p:cNvPr id="22" name="Text 18"/>
          <p:cNvSpPr/>
          <p:nvPr/>
        </p:nvSpPr>
        <p:spPr>
          <a:xfrm>
            <a:off x="749808" y="4206240"/>
            <a:ext cx="7644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7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iframe needs a title.  </a:t>
            </a:r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screen reader reads it to say what the window shows.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1463040"/>
            <a:ext cx="3291840" cy="3291840"/>
          </a:xfrm>
          <a:prstGeom prst="ellipse">
            <a:avLst/>
          </a:prstGeom>
          <a:solidFill>
            <a:srgbClr val="2A3F63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3657600"/>
            <a:ext cx="2743200" cy="2743200"/>
          </a:xfrm>
          <a:prstGeom prst="ellipse">
            <a:avLst/>
          </a:prstGeom>
          <a:solidFill>
            <a:srgbClr val="2A3F6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minutes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break, the skeleton gets its outfit.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Full Stack Developer  ·  Tech Skills Institute Nepal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1463040"/>
            <a:ext cx="3291840" cy="3291840"/>
          </a:xfrm>
          <a:prstGeom prst="ellipse">
            <a:avLst/>
          </a:prstGeom>
          <a:solidFill>
            <a:srgbClr val="2A3F63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3657600"/>
            <a:ext cx="2743200" cy="2743200"/>
          </a:xfrm>
          <a:prstGeom prst="ellipse">
            <a:avLst/>
          </a:prstGeom>
          <a:solidFill>
            <a:srgbClr val="2A3F6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4  ·  24 MIN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is the outfit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skeleton stays the same. CSS chooses the colours, the fonts, the spacing: the clothes.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Full Stack Developer  ·  Tech Skills Institute Nepal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3" name="Image 0" descr="C:\Users\Bedanga.BEDANGA-PC\.claude\skills\tsi-deck-theme-v2\icons\code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48463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8992" y="3200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CSS rule = who + what</a:t>
            </a:r>
            <a:endParaRPr lang="en-US" sz="2700" dirty="0"/>
          </a:p>
        </p:txBody>
      </p:sp>
      <p:sp>
        <p:nvSpPr>
          <p:cNvPr id="6" name="Text 2"/>
          <p:cNvSpPr/>
          <p:nvPr/>
        </p:nvSpPr>
        <p:spPr>
          <a:xfrm>
            <a:off x="731520" y="1600200"/>
            <a:ext cx="1097280" cy="685800"/>
          </a:xfrm>
          <a:prstGeom prst="roundRect">
            <a:avLst>
              <a:gd name="adj" fmla="val 8000"/>
            </a:avLst>
          </a:prstGeom>
          <a:solidFill>
            <a:srgbClr val="14213D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874520" y="1600200"/>
            <a:ext cx="548640" cy="685800"/>
          </a:xfrm>
          <a:prstGeom prst="roundRect">
            <a:avLst>
              <a:gd name="adj" fmla="val 10000"/>
            </a:avLst>
          </a:prstGeom>
          <a:solidFill>
            <a:srgbClr val="F9F6F5"/>
          </a:solidFill>
          <a:ln w="15875">
            <a:solidFill>
              <a:srgbClr val="B9C2CF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2468880" y="160020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FFF3F4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900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4069080" y="1600200"/>
            <a:ext cx="411480" cy="685800"/>
          </a:xfrm>
          <a:prstGeom prst="roundRect">
            <a:avLst>
              <a:gd name="adj" fmla="val 13333"/>
            </a:avLst>
          </a:prstGeom>
          <a:solidFill>
            <a:srgbClr val="F9F6F5"/>
          </a:solidFill>
          <a:ln w="15875">
            <a:solidFill>
              <a:srgbClr val="B9C2CF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4526280" y="1600200"/>
            <a:ext cx="1737360" cy="685800"/>
          </a:xfrm>
          <a:prstGeom prst="roundRect">
            <a:avLst>
              <a:gd name="adj" fmla="val 8000"/>
            </a:avLst>
          </a:prstGeom>
          <a:solidFill>
            <a:srgbClr val="FFF3F4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900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maroon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309360" y="1600200"/>
            <a:ext cx="411480" cy="685800"/>
          </a:xfrm>
          <a:prstGeom prst="roundRect">
            <a:avLst>
              <a:gd name="adj" fmla="val 13333"/>
            </a:avLst>
          </a:prstGeom>
          <a:solidFill>
            <a:srgbClr val="F9F6F5"/>
          </a:solidFill>
          <a:ln w="15875">
            <a:solidFill>
              <a:srgbClr val="B9C2CF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6766560" y="1600200"/>
            <a:ext cx="548640" cy="685800"/>
          </a:xfrm>
          <a:prstGeom prst="roundRect">
            <a:avLst>
              <a:gd name="adj" fmla="val 10000"/>
            </a:avLst>
          </a:prstGeom>
          <a:solidFill>
            <a:srgbClr val="F9F6F5"/>
          </a:solidFill>
          <a:ln w="15875">
            <a:solidFill>
              <a:srgbClr val="B9C2CF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731520" y="12161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2468880" y="12161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4526280" y="12161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6035040" y="23317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line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1874520" y="2697480"/>
            <a:ext cx="5440680" cy="0"/>
          </a:xfrm>
          <a:prstGeom prst="line">
            <a:avLst/>
          </a:prstGeom>
          <a:noFill/>
          <a:ln w="25400">
            <a:solidFill>
              <a:srgbClr val="990011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874520" y="274320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declaration block = the outfit list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548640" y="310896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F9F6F5"/>
          </a:solidFill>
          <a:ln w="9525">
            <a:solidFill>
              <a:srgbClr val="E8E2E1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31520" y="323697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731520" y="3611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selector picks WHO gets dressed: h1, .card, #menu.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4663440" y="310896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FFF3F4"/>
          </a:solidFill>
          <a:ln/>
        </p:spPr>
      </p:sp>
      <p:sp>
        <p:nvSpPr>
          <p:cNvPr id="23" name="Text 19"/>
          <p:cNvSpPr/>
          <p:nvPr/>
        </p:nvSpPr>
        <p:spPr>
          <a:xfrm>
            <a:off x="4846320" y="323697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4846320" y="3611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property: value; pairs. Colon between, semicolon after.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548640" y="4251960"/>
            <a:ext cx="8046720" cy="457200"/>
          </a:xfrm>
          <a:prstGeom prst="roundRect">
            <a:avLst>
              <a:gd name="adj" fmla="val 16000"/>
            </a:avLst>
          </a:prstGeom>
          <a:solidFill>
            <a:srgbClr val="F5EBD8"/>
          </a:solidFill>
          <a:ln/>
        </p:spPr>
      </p:sp>
      <p:sp>
        <p:nvSpPr>
          <p:cNvPr id="26" name="Text 22"/>
          <p:cNvSpPr/>
          <p:nvPr/>
        </p:nvSpPr>
        <p:spPr>
          <a:xfrm>
            <a:off x="749808" y="4251960"/>
            <a:ext cx="7644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7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comments:  </a:t>
            </a:r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/* like this */.  Never // like JavaScript: it breaks the next rule.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3" name="Image 0" descr="C:\Users\Bedanga.BEDANGA-PC\.claude\skills\tsi-deck-theme-v2\icons\layout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48463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8992" y="32004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to add CSS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7315200" y="402336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5EBD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9A7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548640" y="10789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Code-along  ·  4 min  ·  type with me  ·  W2D2/instructor-demos/B4-css-intro/step-01-inline … step-03-external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5029200" cy="2697480"/>
          </a:xfrm>
          <a:prstGeom prst="roundRect">
            <a:avLst>
              <a:gd name="adj" fmla="val 2712"/>
            </a:avLst>
          </a:prstGeom>
          <a:solidFill>
            <a:srgbClr val="16274A"/>
          </a:solidFill>
          <a:ln/>
        </p:spPr>
      </p:sp>
      <p:sp>
        <p:nvSpPr>
          <p:cNvPr id="9" name="Shape 5"/>
          <p:cNvSpPr/>
          <p:nvPr/>
        </p:nvSpPr>
        <p:spPr>
          <a:xfrm>
            <a:off x="694944" y="1581912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Shape 6"/>
          <p:cNvSpPr/>
          <p:nvPr/>
        </p:nvSpPr>
        <p:spPr>
          <a:xfrm>
            <a:off x="841248" y="1581912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7"/>
          <p:cNvSpPr/>
          <p:nvPr/>
        </p:nvSpPr>
        <p:spPr>
          <a:xfrm>
            <a:off x="987552" y="1581912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Text 8"/>
          <p:cNvSpPr/>
          <p:nvPr/>
        </p:nvSpPr>
        <p:spPr>
          <a:xfrm>
            <a:off x="1188720" y="151790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8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 ways to add CSS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749808" y="1810512"/>
            <a:ext cx="4663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&lt;!-- 1. inline: a sticky note on one shirt --&gt;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 style="color: maroon;"&gt;Hello&lt;/p&gt;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&lt;!-- 2. internal: an outfit list for one page --&gt;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&lt;style&gt;  p { color: navy; }  &lt;/style&gt;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&lt;!-- 3. external: the school uniform --&gt;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 rel="stylesheet" href="css/style.css"&gt;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760720" y="1463040"/>
            <a:ext cx="2834640" cy="2697480"/>
          </a:xfrm>
          <a:prstGeom prst="roundRect">
            <a:avLst>
              <a:gd name="adj" fmla="val 2712"/>
            </a:avLst>
          </a:prstGeom>
          <a:solidFill>
            <a:srgbClr val="FFF3F4"/>
          </a:solidFill>
          <a:ln/>
        </p:spPr>
      </p:sp>
      <p:sp>
        <p:nvSpPr>
          <p:cNvPr id="15" name="Text 11"/>
          <p:cNvSpPr/>
          <p:nvPr/>
        </p:nvSpPr>
        <p:spPr>
          <a:xfrm>
            <a:off x="5943600" y="159105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5943600" y="1965960"/>
            <a:ext cx="24688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note: one element only.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Outfit list: one page only.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uniform: one file, every page wears it.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uniform (external) for real sites.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48640" y="4279392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F5EBD8"/>
          </a:solidFill>
          <a:ln/>
        </p:spPr>
      </p:sp>
      <p:sp>
        <p:nvSpPr>
          <p:cNvPr id="18" name="Text 14"/>
          <p:cNvSpPr/>
          <p:nvPr/>
        </p:nvSpPr>
        <p:spPr>
          <a:xfrm>
            <a:off x="749808" y="4279392"/>
            <a:ext cx="7644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7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= school uniform.  </a:t>
            </a:r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css/style.css once, every page that links it changes.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3" name="Image 0" descr="C:\Users\Bedanga.BEDANGA-PC\.claude\skills\tsi-deck-theme-v2\icons\search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48463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8992" y="3200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cascade + DevTools Styles panel</a:t>
            </a:r>
            <a:endParaRPr lang="en-US" sz="2700" dirty="0"/>
          </a:p>
        </p:txBody>
      </p:sp>
      <p:sp>
        <p:nvSpPr>
          <p:cNvPr id="6" name="Shape 2"/>
          <p:cNvSpPr/>
          <p:nvPr/>
        </p:nvSpPr>
        <p:spPr>
          <a:xfrm>
            <a:off x="548640" y="1188720"/>
            <a:ext cx="4206240" cy="2368296"/>
          </a:xfrm>
          <a:prstGeom prst="roundRect">
            <a:avLst>
              <a:gd name="adj" fmla="val 2317"/>
            </a:avLst>
          </a:prstGeom>
          <a:solidFill>
            <a:srgbClr val="F9F6F5"/>
          </a:solidFill>
          <a:ln w="19050">
            <a:solidFill>
              <a:srgbClr val="9FB3D1"/>
            </a:solidFill>
            <a:prstDash val="dash"/>
          </a:ln>
        </p:spPr>
      </p:sp>
      <p:sp>
        <p:nvSpPr>
          <p:cNvPr id="7" name="Text 3"/>
          <p:cNvSpPr/>
          <p:nvPr/>
        </p:nvSpPr>
        <p:spPr>
          <a:xfrm>
            <a:off x="658368" y="1298448"/>
            <a:ext cx="1325880" cy="256032"/>
          </a:xfrm>
          <a:prstGeom prst="roundRect">
            <a:avLst>
              <a:gd name="adj" fmla="val 46429"/>
            </a:avLst>
          </a:prstGeom>
          <a:solidFill>
            <a:srgbClr val="1421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777240" y="1600200"/>
            <a:ext cx="3749040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right-click the h1 → Inspect → Styles: find the crossed-out rule and the yellow ⚠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4937760" y="1188720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16274A"/>
          </a:solidFill>
          <a:ln/>
        </p:spPr>
      </p:sp>
      <p:sp>
        <p:nvSpPr>
          <p:cNvPr id="10" name="Shape 6"/>
          <p:cNvSpPr/>
          <p:nvPr/>
        </p:nvSpPr>
        <p:spPr>
          <a:xfrm>
            <a:off x="5084064" y="1307592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7"/>
          <p:cNvSpPr/>
          <p:nvPr/>
        </p:nvSpPr>
        <p:spPr>
          <a:xfrm>
            <a:off x="5230368" y="1307592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8"/>
          <p:cNvSpPr/>
          <p:nvPr/>
        </p:nvSpPr>
        <p:spPr>
          <a:xfrm>
            <a:off x="5376672" y="1307592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9"/>
          <p:cNvSpPr/>
          <p:nvPr/>
        </p:nvSpPr>
        <p:spPr>
          <a:xfrm>
            <a:off x="5577840" y="124358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8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css/style.css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138928" y="153619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{ color: navy; }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{ color: maroon; }  /* wins */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4937760" y="2697480"/>
            <a:ext cx="3657600" cy="1280160"/>
          </a:xfrm>
          <a:prstGeom prst="roundRect">
            <a:avLst>
              <a:gd name="adj" fmla="val 5714"/>
            </a:avLst>
          </a:prstGeom>
          <a:solidFill>
            <a:srgbClr val="FFF3F4"/>
          </a:solidFill>
          <a:ln/>
        </p:spPr>
      </p:sp>
      <p:sp>
        <p:nvSpPr>
          <p:cNvPr id="16" name="Text 12"/>
          <p:cNvSpPr/>
          <p:nvPr/>
        </p:nvSpPr>
        <p:spPr>
          <a:xfrm>
            <a:off x="5120640" y="282549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Styles panel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5120640" y="32004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Crossed out = lost the cascade.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triangle = invalid value.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there = the file did not load.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48640" y="416052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F5EBD8"/>
          </a:solidFill>
          <a:ln/>
        </p:spPr>
      </p:sp>
      <p:sp>
        <p:nvSpPr>
          <p:cNvPr id="19" name="Text 15"/>
          <p:cNvSpPr/>
          <p:nvPr/>
        </p:nvSpPr>
        <p:spPr>
          <a:xfrm>
            <a:off x="749808" y="4160520"/>
            <a:ext cx="7644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7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cascade:  </a:t>
            </a:r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rules, same strength → the LAST one wins. Not sure? Right-click → Inspect.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3" name="Image 0" descr="C:\Users\Bedanga.BEDANGA-PC\.claude\skills\tsi-deck-theme-v2\icons\wrench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48463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8992" y="32004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D2-06  ·  Stylesheet not loading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7315200" y="402336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5EBD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9A7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548640" y="10789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minutes  ·  solo  ·  W2D2/classwork/D2-06-stylesheet-not-loading/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66928" y="1554480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005840" y="152704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index.html: no style at all!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66928" y="2011680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005840" y="198424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&lt;link&gt; line letter by letter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566928" y="2468880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005840" y="244144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href with the real file name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66928" y="2926080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005840" y="289864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read css/style.css rule by rule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66928" y="3383280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005840" y="335584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→ Styles: crossed out? yellow triangle?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5760720" y="1554480"/>
            <a:ext cx="2834640" cy="2331720"/>
          </a:xfrm>
          <a:prstGeom prst="roundRect">
            <a:avLst>
              <a:gd name="adj" fmla="val 3137"/>
            </a:avLst>
          </a:prstGeom>
          <a:solidFill>
            <a:srgbClr val="FFF3F4"/>
          </a:solidFill>
          <a:ln/>
        </p:spPr>
      </p:sp>
      <p:sp>
        <p:nvSpPr>
          <p:cNvPr id="19" name="Text 15"/>
          <p:cNvSpPr/>
          <p:nvPr/>
        </p:nvSpPr>
        <p:spPr>
          <a:xfrm>
            <a:off x="5943600" y="168249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DONE looks like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5943600" y="2057400"/>
            <a:ext cx="2468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stylesheet loads.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rule in style.css shows on the page.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yellow triangles in the Styles panel.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548640" y="4206240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F5EBD8"/>
          </a:solidFill>
          <a:ln/>
        </p:spPr>
      </p:sp>
      <p:sp>
        <p:nvSpPr>
          <p:cNvPr id="22" name="Text 18"/>
          <p:cNvSpPr/>
          <p:nvPr/>
        </p:nvSpPr>
        <p:spPr>
          <a:xfrm>
            <a:off x="749808" y="4206240"/>
            <a:ext cx="7644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7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bugs. Find at least 4.  </a:t>
            </a:r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bugs 1 and 2 first: until the stylesheet loads, nothing else is visible.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3" name="Image 0" descr="C:\Users\Bedanga.BEDANGA-PC\.claude\skills\tsi-deck-theme-v2\icons\palette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48463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8992" y="32004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D2-07  ·  Restyle the bio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7315200" y="402336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5EBD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9A7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548640" y="10789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minutes  ·  solo  ·  W2D2/classwork/D2-07-restyle-the-bio/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66928" y="1554480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005840" y="152704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index.html: Sunita's bio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66928" y="2011680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005840" y="198424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css/style.css next to it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566928" y="2468880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005840" y="244144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body background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66928" y="2926080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005840" y="289864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h1 colour and the paragraph font-size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66928" y="3383280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005840" y="335584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link colour. Save after each one.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5760720" y="1554480"/>
            <a:ext cx="2834640" cy="2331720"/>
          </a:xfrm>
          <a:prstGeom prst="roundRect">
            <a:avLst>
              <a:gd name="adj" fmla="val 3137"/>
            </a:avLst>
          </a:prstGeom>
          <a:solidFill>
            <a:srgbClr val="FFF3F4"/>
          </a:solidFill>
          <a:ln/>
        </p:spPr>
      </p:sp>
      <p:sp>
        <p:nvSpPr>
          <p:cNvPr id="19" name="Text 15"/>
          <p:cNvSpPr/>
          <p:nvPr/>
        </p:nvSpPr>
        <p:spPr>
          <a:xfrm>
            <a:off x="5943600" y="168249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DONE looks like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5943600" y="2057400"/>
            <a:ext cx="2468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changes in css/style.css, all visible on the page.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did not touch index.html.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548640" y="4206240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F5EBD8"/>
          </a:solidFill>
          <a:ln/>
        </p:spPr>
      </p:sp>
      <p:sp>
        <p:nvSpPr>
          <p:cNvPr id="22" name="Text 18"/>
          <p:cNvSpPr/>
          <p:nvPr/>
        </p:nvSpPr>
        <p:spPr>
          <a:xfrm>
            <a:off x="749808" y="4206240"/>
            <a:ext cx="7644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7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CSS only.  </a:t>
            </a:r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edit the HTML, you are dressing the skeleton the wrong way.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3" name="Image 0" descr="C:\Users\Bedanga.BEDANGA-PC\.claude\skills\tsi-deck-theme-v2\icons\users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48463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8992" y="3200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Selectors = calling students in class</a:t>
            </a:r>
            <a:endParaRPr lang="en-US" sz="2700" dirty="0"/>
          </a:p>
        </p:txBody>
      </p:sp>
      <p:sp>
        <p:nvSpPr>
          <p:cNvPr id="6" name="Shape 2"/>
          <p:cNvSpPr/>
          <p:nvPr/>
        </p:nvSpPr>
        <p:spPr>
          <a:xfrm>
            <a:off x="548640" y="1188720"/>
            <a:ext cx="1874520" cy="1920240"/>
          </a:xfrm>
          <a:prstGeom prst="roundRect">
            <a:avLst>
              <a:gd name="adj" fmla="val 3902"/>
            </a:avLst>
          </a:prstGeom>
          <a:solidFill>
            <a:srgbClr val="F9F6F5"/>
          </a:solidFill>
          <a:ln w="9525">
            <a:solidFill>
              <a:srgbClr val="E8E2E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31520" y="1316736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"Everyone!"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731520" y="1691640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element: tag name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{ }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&lt;p&gt; on the page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2606040" y="1188720"/>
            <a:ext cx="1874520" cy="1920240"/>
          </a:xfrm>
          <a:prstGeom prst="roundRect">
            <a:avLst>
              <a:gd name="adj" fmla="val 3902"/>
            </a:avLst>
          </a:prstGeom>
          <a:solidFill>
            <a:srgbClr val="F9F6F5"/>
          </a:solidFill>
          <a:ln w="9525">
            <a:solidFill>
              <a:srgbClr val="E8E2E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788920" y="1316736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"Red team!"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2788920" y="1691640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team: .class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.red-team { }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can share it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663440" y="1188720"/>
            <a:ext cx="1874520" cy="1920240"/>
          </a:xfrm>
          <a:prstGeom prst="roundRect">
            <a:avLst>
              <a:gd name="adj" fmla="val 3902"/>
            </a:avLst>
          </a:prstGeom>
          <a:solidFill>
            <a:srgbClr val="FFF3F4"/>
          </a:solidFill>
          <a:ln/>
        </p:spPr>
      </p:sp>
      <p:sp>
        <p:nvSpPr>
          <p:cNvPr id="13" name="Text 9"/>
          <p:cNvSpPr/>
          <p:nvPr/>
        </p:nvSpPr>
        <p:spPr>
          <a:xfrm>
            <a:off x="4846320" y="1316736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"Aarav!"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846320" y="1691640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name: #id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#aarav { }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per page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720840" y="1188720"/>
            <a:ext cx="1874520" cy="1920240"/>
          </a:xfrm>
          <a:prstGeom prst="roundRect">
            <a:avLst>
              <a:gd name="adj" fmla="val 3902"/>
            </a:avLst>
          </a:prstGeom>
          <a:solidFill>
            <a:srgbClr val="F9F6F5"/>
          </a:solidFill>
          <a:ln w="9525">
            <a:solidFill>
              <a:srgbClr val="E8E2E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903720" y="1316736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"Row 2 reds!"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903720" y="1691640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descendant (space)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.row-2 .red-team { }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another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48640" y="333756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F5EBD8"/>
          </a:solidFill>
          <a:ln/>
        </p:spPr>
      </p:sp>
      <p:sp>
        <p:nvSpPr>
          <p:cNvPr id="19" name="Text 15"/>
          <p:cNvSpPr/>
          <p:nvPr/>
        </p:nvSpPr>
        <p:spPr>
          <a:xfrm>
            <a:off x="749808" y="3337560"/>
            <a:ext cx="7644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7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HTML:  </a:t>
            </a:r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class="red-team" (no dot) and id="aarav" (no #). The dot and the # are only in the CSS.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3" name="Image 0" descr="C:\Users\Bedanga.BEDANGA-PC\.claude\skills\tsi-deck-theme-v2\icons\list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48463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8992" y="32004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selector table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7315200" y="402336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5EBD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9A7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548640" y="10789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Code-along  ·  2 min  ·  type with me  ·  W2D2/instructor-demos/B5-selectors/step-01-element … step-04-hover</a:t>
            </a:r>
            <a:endParaRPr lang="en-US" sz="13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81381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91840"/>
                <a:gridCol w="26517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13D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&lt;p&gt;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{ color: #555; }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6F5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.price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element with class="price"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.price { font-weight: bold; }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#todays-special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ONE element with that id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#todays-special { … }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6F5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h1, h2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 AND h2 (grouping)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h1, h2 { color: maroon; }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 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links INSIDE nav (descendant)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 a { text-decoration: none; }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6F5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.card.spicy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element with BOTH classes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.card.spicy { … }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a:hover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link while the mouse is on it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a:hover { color: maroon; }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6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3" name="Image 0" descr="C:\Users\Bedanga.BEDANGA-PC\.claude\skills\tsi-deck-theme-v2\icons\award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48463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8992" y="3200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wins? id &gt; class &gt; element</a:t>
            </a:r>
            <a:endParaRPr lang="en-US" sz="2700" dirty="0"/>
          </a:p>
        </p:txBody>
      </p:sp>
      <p:sp>
        <p:nvSpPr>
          <p:cNvPr id="6" name="Text 2"/>
          <p:cNvSpPr/>
          <p:nvPr/>
        </p:nvSpPr>
        <p:spPr>
          <a:xfrm>
            <a:off x="731520" y="1234440"/>
            <a:ext cx="1417320" cy="2743200"/>
          </a:xfrm>
          <a:prstGeom prst="roundRect">
            <a:avLst>
              <a:gd name="adj" fmla="val 3871"/>
            </a:avLst>
          </a:prstGeom>
          <a:solidFill>
            <a:srgbClr val="99001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#id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731520" y="40416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2331720" y="1965960"/>
            <a:ext cx="1417320" cy="2011680"/>
          </a:xfrm>
          <a:prstGeom prst="roundRect">
            <a:avLst>
              <a:gd name="adj" fmla="val 3871"/>
            </a:avLst>
          </a:prstGeom>
          <a:solidFill>
            <a:srgbClr val="14213D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.class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2331720" y="40416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3931920" y="2697480"/>
            <a:ext cx="1417320" cy="1280160"/>
          </a:xfrm>
          <a:prstGeom prst="roundRect">
            <a:avLst>
              <a:gd name="adj" fmla="val 4286"/>
            </a:avLst>
          </a:prstGeom>
          <a:solidFill>
            <a:srgbClr val="F9F6F5"/>
          </a:solidFill>
          <a:ln w="15875">
            <a:solidFill>
              <a:srgbClr val="B9C2CF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3931920" y="40416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weakest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669280" y="1234440"/>
            <a:ext cx="2926080" cy="1325880"/>
          </a:xfrm>
          <a:prstGeom prst="roundRect">
            <a:avLst>
              <a:gd name="adj" fmla="val 5517"/>
            </a:avLst>
          </a:prstGeom>
          <a:solidFill>
            <a:srgbClr val="16274A"/>
          </a:solidFill>
          <a:ln/>
        </p:spPr>
      </p:sp>
      <p:sp>
        <p:nvSpPr>
          <p:cNvPr id="13" name="Shape 9"/>
          <p:cNvSpPr/>
          <p:nvPr/>
        </p:nvSpPr>
        <p:spPr>
          <a:xfrm>
            <a:off x="5815584" y="1353312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4" name="Shape 10"/>
          <p:cNvSpPr/>
          <p:nvPr/>
        </p:nvSpPr>
        <p:spPr>
          <a:xfrm>
            <a:off x="5961888" y="1353312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5" name="Shape 11"/>
          <p:cNvSpPr/>
          <p:nvPr/>
        </p:nvSpPr>
        <p:spPr>
          <a:xfrm>
            <a:off x="6108192" y="1353312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6" name="Text 12"/>
          <p:cNvSpPr/>
          <p:nvPr/>
        </p:nvSpPr>
        <p:spPr>
          <a:xfrm>
            <a:off x="6309360" y="128930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8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5870448" y="158191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       { color: grey; }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.note    { color: navy; }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#special { color: maroon; }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669280" y="2697480"/>
            <a:ext cx="2926080" cy="1600200"/>
          </a:xfrm>
          <a:prstGeom prst="roundRect">
            <a:avLst>
              <a:gd name="adj" fmla="val 4571"/>
            </a:avLst>
          </a:prstGeom>
          <a:solidFill>
            <a:srgbClr val="FFF3F4"/>
          </a:solidFill>
          <a:ln/>
        </p:spPr>
      </p:sp>
      <p:sp>
        <p:nvSpPr>
          <p:cNvPr id="19" name="Text 15"/>
          <p:cNvSpPr/>
          <p:nvPr/>
        </p:nvSpPr>
        <p:spPr>
          <a:xfrm>
            <a:off x="5852160" y="28254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wins here?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5852160" y="320040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 id="special" class="note"&gt;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maroon. The id wins, whatever the order of the rules.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548640" y="4434840"/>
            <a:ext cx="8046720" cy="411480"/>
          </a:xfrm>
          <a:prstGeom prst="roundRect">
            <a:avLst>
              <a:gd name="adj" fmla="val 17778"/>
            </a:avLst>
          </a:prstGeom>
          <a:solidFill>
            <a:srgbClr val="F5EBD8"/>
          </a:solidFill>
          <a:ln/>
        </p:spPr>
      </p:sp>
      <p:sp>
        <p:nvSpPr>
          <p:cNvPr id="22" name="Text 18"/>
          <p:cNvSpPr/>
          <p:nvPr/>
        </p:nvSpPr>
        <p:spPr>
          <a:xfrm>
            <a:off x="749808" y="4434840"/>
            <a:ext cx="7644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7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strength?  </a:t>
            </a:r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the last rule wins (the cascade).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3" name="Image 0" descr="C:\Users\Bedanga.BEDANGA-PC\.claude\skills\tsi-deck-theme-v2\icons\wrench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48463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8992" y="32004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D2-08  ·  Selector mix-ups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7315200" y="402336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5EBD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9A7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548640" y="10789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minutes  ·  solo  ·  W2D2/classwork/D2-08-selector-mixups/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66928" y="1554480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005840" y="152704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index.html: the Momo House menu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66928" y="2011680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005840" y="198424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index.html and css/style.css side by side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566928" y="2468880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005840" y="244144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rule: does its selector match the HTML?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66928" y="2926080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005840" y="289864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capitals, dots, # and commas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66928" y="3383280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005840" y="335584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over the links too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5760720" y="1554480"/>
            <a:ext cx="2834640" cy="2331720"/>
          </a:xfrm>
          <a:prstGeom prst="roundRect">
            <a:avLst>
              <a:gd name="adj" fmla="val 3137"/>
            </a:avLst>
          </a:prstGeom>
          <a:solidFill>
            <a:srgbClr val="FFF3F4"/>
          </a:solidFill>
          <a:ln/>
        </p:spPr>
      </p:sp>
      <p:sp>
        <p:nvSpPr>
          <p:cNvPr id="19" name="Text 15"/>
          <p:cNvSpPr/>
          <p:nvPr/>
        </p:nvSpPr>
        <p:spPr>
          <a:xfrm>
            <a:off x="5943600" y="168249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DONE looks like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5943600" y="2057400"/>
            <a:ext cx="2468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rule in style.css shows on the page.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cards, the menu, the prices and both headings are styled.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change on hover.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548640" y="4206240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F5EBD8"/>
          </a:solidFill>
          <a:ln/>
        </p:spPr>
      </p:sp>
      <p:sp>
        <p:nvSpPr>
          <p:cNvPr id="22" name="Text 18"/>
          <p:cNvSpPr/>
          <p:nvPr/>
        </p:nvSpPr>
        <p:spPr>
          <a:xfrm>
            <a:off x="749808" y="4206240"/>
            <a:ext cx="7644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7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bugs. Find at least 3.  </a:t>
            </a:r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the reveal: solution/BUGS.md on the projector. Write your score line in the README.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3" name="Image 0" descr="C:\Users\Bedanga.BEDANGA-PC\.claude\skills\tsi-deck-theme-v2\icons\target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48463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8992" y="32004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D2-09  ·  Selector target practice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7315200" y="402336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5EBD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9A7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548640" y="10789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 ·  solo  ·  W2D2/classwork/D2-09-selector-target-practice/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66928" y="1554480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005840" y="152704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 → grey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66928" y="2011680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005840" y="198424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.veg dishes → light-green background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566928" y="2468880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005840" y="244144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#todays-special → bold + bigger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66928" y="2926080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005840" y="289864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links inside nav → no underline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66928" y="3383280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005840" y="335584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.dish.spicy → red border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5760720" y="1554480"/>
            <a:ext cx="2834640" cy="2331720"/>
          </a:xfrm>
          <a:prstGeom prst="roundRect">
            <a:avLst>
              <a:gd name="adj" fmla="val 3137"/>
            </a:avLst>
          </a:prstGeom>
          <a:solidFill>
            <a:srgbClr val="FFF3F4"/>
          </a:solidFill>
          <a:ln/>
        </p:spPr>
      </p:sp>
      <p:sp>
        <p:nvSpPr>
          <p:cNvPr id="19" name="Text 15"/>
          <p:cNvSpPr/>
          <p:nvPr/>
        </p:nvSpPr>
        <p:spPr>
          <a:xfrm>
            <a:off x="5943600" y="168249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DONE looks like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5943600" y="2057400"/>
            <a:ext cx="2468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rules in css/style.css. Each one hits only its target.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did not edit index.html.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548640" y="4206240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F5EBD8"/>
          </a:solidFill>
          <a:ln/>
        </p:spPr>
      </p:sp>
      <p:sp>
        <p:nvSpPr>
          <p:cNvPr id="22" name="Text 18"/>
          <p:cNvSpPr/>
          <p:nvPr/>
        </p:nvSpPr>
        <p:spPr>
          <a:xfrm>
            <a:off x="749808" y="4206240"/>
            <a:ext cx="7644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7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rule per target. No HTML edits.  </a:t>
            </a:r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classes and ids you need are already in the HTML.</a:t>
            </a:r>
            <a:endParaRPr lang="en-US" sz="12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3" name="Image 0" descr="C:\Users\Bedanga.BEDANGA-PC\.claude\skills\tsi-deck-theme-v2\icons\palette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48463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8992" y="3200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Paint shop: named / hex / rgb / rgba</a:t>
            </a:r>
            <a:endParaRPr lang="en-US" sz="2700" dirty="0"/>
          </a:p>
        </p:txBody>
      </p:sp>
      <p:sp>
        <p:nvSpPr>
          <p:cNvPr id="6" name="Text 2"/>
          <p:cNvSpPr/>
          <p:nvPr/>
        </p:nvSpPr>
        <p:spPr>
          <a:xfrm>
            <a:off x="548640" y="1234440"/>
            <a:ext cx="1874520" cy="1143000"/>
          </a:xfrm>
          <a:prstGeom prst="roundRect">
            <a:avLst>
              <a:gd name="adj" fmla="val 4800"/>
            </a:avLst>
          </a:prstGeom>
          <a:solidFill>
            <a:srgbClr val="F9F6F5"/>
          </a:solidFill>
          <a:ln w="15875">
            <a:solidFill>
              <a:srgbClr val="B9C2CF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maroon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white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548640" y="24505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about 140 names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48640" y="272491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2606040" y="1234440"/>
            <a:ext cx="1874520" cy="1143000"/>
          </a:xfrm>
          <a:prstGeom prst="roundRect">
            <a:avLst>
              <a:gd name="adj" fmla="val 6400"/>
            </a:avLst>
          </a:prstGeom>
          <a:solidFill>
            <a:srgbClr val="990011"/>
          </a:solidFill>
          <a:ln/>
        </p:spPr>
      </p:sp>
      <p:sp>
        <p:nvSpPr>
          <p:cNvPr id="10" name="Text 6"/>
          <p:cNvSpPr/>
          <p:nvPr/>
        </p:nvSpPr>
        <p:spPr>
          <a:xfrm>
            <a:off x="2606040" y="24505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#990011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2606040" y="272491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663440" y="1234440"/>
            <a:ext cx="1874520" cy="1143000"/>
          </a:xfrm>
          <a:prstGeom prst="roundRect">
            <a:avLst>
              <a:gd name="adj" fmla="val 6400"/>
            </a:avLst>
          </a:prstGeom>
          <a:solidFill>
            <a:srgbClr val="14213D"/>
          </a:solidFill>
          <a:ln/>
        </p:spPr>
      </p:sp>
      <p:sp>
        <p:nvSpPr>
          <p:cNvPr id="13" name="Text 9"/>
          <p:cNvSpPr/>
          <p:nvPr/>
        </p:nvSpPr>
        <p:spPr>
          <a:xfrm>
            <a:off x="4663440" y="24505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rgb(20, 33, 61)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663440" y="272491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720840" y="1234440"/>
            <a:ext cx="1874520" cy="1143000"/>
          </a:xfrm>
          <a:prstGeom prst="roundRect">
            <a:avLst>
              <a:gd name="adj" fmla="val 6400"/>
            </a:avLst>
          </a:prstGeom>
          <a:solidFill>
            <a:srgbClr val="14213D">
              <a:alpha val="5000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6720840" y="24505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rgba(20,33,61,0.5)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720840" y="272491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rgba = see-through</a:t>
            </a:r>
            <a:endParaRPr lang="en-US" sz="125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108960"/>
          <a:ext cx="81381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1264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13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hex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 + exactly 6 (or 3) of 0–9 and a–f.   #gg0000 and #fffff are invalid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6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rgb / rgba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 numbers 0–255 (+ alpha 0–1). rgb(255, 200) is missing one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3" name="Image 0" descr="C:\Users\Bedanga.BEDANGA-PC\.claude\skills\tsi-deck-theme-v2\icons\target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48463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8992" y="3200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Measuring tape: px / % / rem / em</a:t>
            </a:r>
            <a:endParaRPr lang="en-US" sz="2700" dirty="0"/>
          </a:p>
        </p:txBody>
      </p:sp>
      <p:sp>
        <p:nvSpPr>
          <p:cNvPr id="6" name="Text 2"/>
          <p:cNvSpPr/>
          <p:nvPr/>
        </p:nvSpPr>
        <p:spPr>
          <a:xfrm>
            <a:off x="548640" y="1234440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14213D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px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1508760" y="1344168"/>
            <a:ext cx="1097280" cy="237744"/>
          </a:xfrm>
          <a:prstGeom prst="rect">
            <a:avLst/>
          </a:prstGeom>
          <a:solidFill>
            <a:srgbClr val="9FB3D1"/>
          </a:solidFill>
          <a:ln/>
        </p:spPr>
      </p:sp>
      <p:sp>
        <p:nvSpPr>
          <p:cNvPr id="8" name="Text 4"/>
          <p:cNvSpPr/>
          <p:nvPr/>
        </p:nvSpPr>
        <p:spPr>
          <a:xfrm>
            <a:off x="2743200" y="125272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pixels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2743200" y="1472184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1px = one dot on the screen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548640" y="1856232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14213D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1508760" y="1965960"/>
            <a:ext cx="2011680" cy="237744"/>
          </a:xfrm>
          <a:prstGeom prst="rect">
            <a:avLst/>
          </a:prstGeom>
          <a:solidFill>
            <a:srgbClr val="9FB3D1"/>
          </a:solidFill>
          <a:ln/>
        </p:spPr>
      </p:sp>
      <p:sp>
        <p:nvSpPr>
          <p:cNvPr id="12" name="Text 8"/>
          <p:cNvSpPr/>
          <p:nvPr/>
        </p:nvSpPr>
        <p:spPr>
          <a:xfrm>
            <a:off x="3657600" y="18745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of the parent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657600" y="209397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width: 50% = half the box it sits in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548640" y="2478024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14213D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1508760" y="2587752"/>
            <a:ext cx="2926080" cy="237744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16" name="Text 12"/>
          <p:cNvSpPr/>
          <p:nvPr/>
        </p:nvSpPr>
        <p:spPr>
          <a:xfrm>
            <a:off x="4572000" y="249631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the root font (16px)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4572000" y="271576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2rem = 32px. Use for font sizes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548640" y="3099816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14213D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1508760" y="3209544"/>
            <a:ext cx="3840480" cy="237744"/>
          </a:xfrm>
          <a:prstGeom prst="rect">
            <a:avLst/>
          </a:prstGeom>
          <a:solidFill>
            <a:srgbClr val="9FB3D1"/>
          </a:solidFill>
          <a:ln/>
        </p:spPr>
      </p:sp>
      <p:sp>
        <p:nvSpPr>
          <p:cNvPr id="20" name="Text 16"/>
          <p:cNvSpPr/>
          <p:nvPr/>
        </p:nvSpPr>
        <p:spPr>
          <a:xfrm>
            <a:off x="5486400" y="311810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this element's font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5486400" y="33375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when nested: careful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548640" y="384048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5EBD8"/>
          </a:solidFill>
          <a:ln/>
        </p:spPr>
      </p:sp>
      <p:sp>
        <p:nvSpPr>
          <p:cNvPr id="23" name="Text 19"/>
          <p:cNvSpPr/>
          <p:nvPr/>
        </p:nvSpPr>
        <p:spPr>
          <a:xfrm>
            <a:off x="749808" y="3840480"/>
            <a:ext cx="7644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7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size needs a unit, with no space:  </a:t>
            </a:r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width: 300px; font-size: 1.5rem;   The exception: line-height: 1.6 (no unit, it means 1.6 × the font size).</a:t>
            </a:r>
            <a:endParaRPr lang="en-US" sz="12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3" name="Image 0" descr="C:\Users\Bedanga.BEDANGA-PC\.claude\skills\tsi-deck-theme-v2\icons\edit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48463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8992" y="3200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Fonts and text: stacks, line-height, text-align</a:t>
            </a:r>
            <a:endParaRPr lang="en-US" sz="2700" dirty="0"/>
          </a:p>
        </p:txBody>
      </p:sp>
      <p:sp>
        <p:nvSpPr>
          <p:cNvPr id="6" name="Shape 2"/>
          <p:cNvSpPr/>
          <p:nvPr/>
        </p:nvSpPr>
        <p:spPr>
          <a:xfrm>
            <a:off x="548640" y="1188720"/>
            <a:ext cx="5120640" cy="2743200"/>
          </a:xfrm>
          <a:prstGeom prst="roundRect">
            <a:avLst>
              <a:gd name="adj" fmla="val 2667"/>
            </a:avLst>
          </a:prstGeom>
          <a:solidFill>
            <a:srgbClr val="16274A"/>
          </a:solidFill>
          <a:ln/>
        </p:spPr>
      </p:sp>
      <p:sp>
        <p:nvSpPr>
          <p:cNvPr id="7" name="Shape 3"/>
          <p:cNvSpPr/>
          <p:nvPr/>
        </p:nvSpPr>
        <p:spPr>
          <a:xfrm>
            <a:off x="694944" y="1307592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4"/>
          <p:cNvSpPr/>
          <p:nvPr/>
        </p:nvSpPr>
        <p:spPr>
          <a:xfrm>
            <a:off x="841248" y="1307592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5"/>
          <p:cNvSpPr/>
          <p:nvPr/>
        </p:nvSpPr>
        <p:spPr>
          <a:xfrm>
            <a:off x="987552" y="1307592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6"/>
          <p:cNvSpPr/>
          <p:nvPr/>
        </p:nvSpPr>
        <p:spPr>
          <a:xfrm>
            <a:off x="1188720" y="1243584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8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css/style.css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749808" y="1536192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{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font-family: "Momo Sans", Arial, sans-serif;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font-size: 1rem;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line-height: 1.6;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{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font-weight: bold;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text-align: center;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letter-spacing: 2px;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{ text-decoration: none; }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852160" y="1188720"/>
            <a:ext cx="2743200" cy="2743200"/>
          </a:xfrm>
          <a:prstGeom prst="roundRect">
            <a:avLst>
              <a:gd name="adj" fmla="val 2667"/>
            </a:avLst>
          </a:prstGeom>
          <a:solidFill>
            <a:srgbClr val="FFF3F4"/>
          </a:solidFill>
          <a:ln/>
        </p:spPr>
      </p:sp>
      <p:sp>
        <p:nvSpPr>
          <p:cNvPr id="13" name="Text 9"/>
          <p:cNvSpPr/>
          <p:nvPr/>
        </p:nvSpPr>
        <p:spPr>
          <a:xfrm>
            <a:off x="6035040" y="131673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font stack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035040" y="1691640"/>
            <a:ext cx="2377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 first font.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installed? Try the next.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end with a family: sans-serif or serif.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fallback = Times New Roman.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11480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F5EBD8"/>
          </a:solidFill>
          <a:ln/>
        </p:spPr>
      </p:sp>
      <p:sp>
        <p:nvSpPr>
          <p:cNvPr id="16" name="Text 12"/>
          <p:cNvSpPr/>
          <p:nvPr/>
        </p:nvSpPr>
        <p:spPr>
          <a:xfrm>
            <a:off x="749808" y="4114800"/>
            <a:ext cx="7644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7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line-height: 1.6  </a:t>
            </a:r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no unit on purpose. 1.5px would squash the lines on top of each other.</a:t>
            </a:r>
            <a:endParaRPr lang="en-US" sz="12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3" name="Image 0" descr="C:\Users\Bedanga.BEDANGA-PC\.claude\skills\tsi-deck-theme-v2\icons\wrench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48463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8992" y="32004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D2-10  ·  Units &amp; colours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7315200" y="402336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5EBD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9A7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548640" y="10789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minutes  ·  solo  ·  W2D2/classwork/D2-10-units-and-colours/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66928" y="1554480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005840" y="152704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index.html: the canteen price page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66928" y="2011680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005840" y="198424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each element → Styles panel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566928" y="2468880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005840" y="244144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yellow triangles (invalid values)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66928" y="2926080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005840" y="289864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every number has a unit (with no space)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66928" y="3383280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005840" y="335584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font and the line spacing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5760720" y="1554480"/>
            <a:ext cx="2834640" cy="2331720"/>
          </a:xfrm>
          <a:prstGeom prst="roundRect">
            <a:avLst>
              <a:gd name="adj" fmla="val 3137"/>
            </a:avLst>
          </a:prstGeom>
          <a:solidFill>
            <a:srgbClr val="FFF3F4"/>
          </a:solidFill>
          <a:ln/>
        </p:spPr>
      </p:sp>
      <p:sp>
        <p:nvSpPr>
          <p:cNvPr id="19" name="Text 15"/>
          <p:cNvSpPr/>
          <p:nvPr/>
        </p:nvSpPr>
        <p:spPr>
          <a:xfrm>
            <a:off x="5943600" y="168249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DONE looks like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5943600" y="2057400"/>
            <a:ext cx="2468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box has its width.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heading is red.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price is big.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font is Arial, not Times.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do not overlap.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548640" y="4206240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F5EBD8"/>
          </a:solidFill>
          <a:ln/>
        </p:spPr>
      </p:sp>
      <p:sp>
        <p:nvSpPr>
          <p:cNvPr id="22" name="Text 18"/>
          <p:cNvSpPr/>
          <p:nvPr/>
        </p:nvSpPr>
        <p:spPr>
          <a:xfrm>
            <a:off x="749808" y="4206240"/>
            <a:ext cx="7644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7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bugs. Find at least 3.  </a:t>
            </a:r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the reveal: solution/BUGS.md on the projector. Write your score line in the README.</a:t>
            </a:r>
            <a:endParaRPr lang="en-US" sz="12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3" name="Image 0" descr="C:\Users\Bedanga.BEDANGA-PC\.claude\skills\tsi-deck-theme-v2\icons\palette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48463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8992" y="32004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D2-11  ·  Theme the canteen menu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7315200" y="402336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5EBD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9A7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548640" y="10789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 ·  solo  ·  W2D2/classwork/D2-11-theme-the-canteen-menu/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66928" y="1554480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005840" y="152704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index.html + css/style.css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66928" y="2011680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005840" y="198424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3 hex colours given in the README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566928" y="2468880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005840" y="244144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font stack with a fallback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66928" y="2926080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005840" y="289864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Sizes in rem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66928" y="3383280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005840" y="335584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line-height: 1.6 on the body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5760720" y="1554480"/>
            <a:ext cx="2834640" cy="2331720"/>
          </a:xfrm>
          <a:prstGeom prst="roundRect">
            <a:avLst>
              <a:gd name="adj" fmla="val 3137"/>
            </a:avLst>
          </a:prstGeom>
          <a:solidFill>
            <a:srgbClr val="FFF3F4"/>
          </a:solidFill>
          <a:ln/>
        </p:spPr>
      </p:sp>
      <p:sp>
        <p:nvSpPr>
          <p:cNvPr id="19" name="Text 15"/>
          <p:cNvSpPr/>
          <p:nvPr/>
        </p:nvSpPr>
        <p:spPr>
          <a:xfrm>
            <a:off x="5943600" y="168249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DONE looks like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5943600" y="2057400"/>
            <a:ext cx="2468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menu uses the 3 colours, a font stack, rem sizes and line-height 1.6.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yellow triangles in the Styles panel.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548640" y="4206240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F5EBD8"/>
          </a:solidFill>
          <a:ln/>
        </p:spPr>
      </p:sp>
      <p:sp>
        <p:nvSpPr>
          <p:cNvPr id="22" name="Text 18"/>
          <p:cNvSpPr/>
          <p:nvPr/>
        </p:nvSpPr>
        <p:spPr>
          <a:xfrm>
            <a:off x="749808" y="4206240"/>
            <a:ext cx="7644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7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hex codes exactly.  </a:t>
            </a:r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+ 6 characters. One wrong letter and the colour is dropped.</a:t>
            </a:r>
            <a:endParaRPr lang="en-US" sz="12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1463040"/>
            <a:ext cx="3291840" cy="3291840"/>
          </a:xfrm>
          <a:prstGeom prst="ellipse">
            <a:avLst/>
          </a:prstGeom>
          <a:solidFill>
            <a:srgbClr val="2A3F63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3657600"/>
            <a:ext cx="2743200" cy="2743200"/>
          </a:xfrm>
          <a:prstGeom prst="ellipse">
            <a:avLst/>
          </a:prstGeom>
          <a:solidFill>
            <a:srgbClr val="2A3F6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minutes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Teaser: everything on a web page is a box being shipped.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Full Stack Developer  ·  Tech Skills Institute Nepal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3" name="Image 0" descr="C:\Users\Bedanga.BEDANGA-PC\.claude\skills\tsi-deck-theme-v2\icons\box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48463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8992" y="3200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is a box being shipped</a:t>
            </a:r>
            <a:endParaRPr lang="en-US" sz="2700" dirty="0"/>
          </a:p>
        </p:txBody>
      </p:sp>
      <p:sp>
        <p:nvSpPr>
          <p:cNvPr id="6" name="Shape 2"/>
          <p:cNvSpPr/>
          <p:nvPr/>
        </p:nvSpPr>
        <p:spPr>
          <a:xfrm>
            <a:off x="822960" y="1234440"/>
            <a:ext cx="4572000" cy="3017520"/>
          </a:xfrm>
          <a:prstGeom prst="rect">
            <a:avLst/>
          </a:prstGeom>
          <a:solidFill>
            <a:srgbClr val="FFFFFF"/>
          </a:solidFill>
          <a:ln w="15875">
            <a:solidFill>
              <a:srgbClr val="B9C2CF"/>
            </a:solidFill>
            <a:prstDash val="dash"/>
          </a:ln>
        </p:spPr>
      </p:sp>
      <p:sp>
        <p:nvSpPr>
          <p:cNvPr id="7" name="Shape 3"/>
          <p:cNvSpPr/>
          <p:nvPr/>
        </p:nvSpPr>
        <p:spPr>
          <a:xfrm>
            <a:off x="1280160" y="1645920"/>
            <a:ext cx="3657600" cy="21945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8" name="Shape 4"/>
          <p:cNvSpPr/>
          <p:nvPr/>
        </p:nvSpPr>
        <p:spPr>
          <a:xfrm>
            <a:off x="1444752" y="1810512"/>
            <a:ext cx="3328416" cy="1865376"/>
          </a:xfrm>
          <a:prstGeom prst="rect">
            <a:avLst/>
          </a:prstGeom>
          <a:solidFill>
            <a:srgbClr val="FFF3F4"/>
          </a:solidFill>
          <a:ln/>
        </p:spPr>
      </p:sp>
      <p:sp>
        <p:nvSpPr>
          <p:cNvPr id="9" name="Text 5"/>
          <p:cNvSpPr/>
          <p:nvPr/>
        </p:nvSpPr>
        <p:spPr>
          <a:xfrm>
            <a:off x="2057400" y="2331720"/>
            <a:ext cx="2103120" cy="822960"/>
          </a:xfrm>
          <a:prstGeom prst="roundRect">
            <a:avLst>
              <a:gd name="adj" fmla="val 6667"/>
            </a:avLst>
          </a:prstGeom>
          <a:solidFill>
            <a:srgbClr val="F9F6F5"/>
          </a:solidFill>
          <a:ln w="15875">
            <a:solidFill>
              <a:srgbClr val="B9C2CF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item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822960" y="1307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= the gap between parcels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444752" y="1874520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 = the bubble wrap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280160" y="3867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= the cardboard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669280" y="1234440"/>
            <a:ext cx="2926080" cy="3017520"/>
          </a:xfrm>
          <a:prstGeom prst="roundRect">
            <a:avLst>
              <a:gd name="adj" fmla="val 2500"/>
            </a:avLst>
          </a:prstGeom>
          <a:solidFill>
            <a:srgbClr val="FFF3F4"/>
          </a:solidFill>
          <a:ln/>
        </p:spPr>
      </p:sp>
      <p:sp>
        <p:nvSpPr>
          <p:cNvPr id="14" name="Text 10"/>
          <p:cNvSpPr/>
          <p:nvPr/>
        </p:nvSpPr>
        <p:spPr>
          <a:xfrm>
            <a:off x="5852160" y="136245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→ out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5852160" y="1737360"/>
            <a:ext cx="2560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content: the item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padding: bubble wrap (inside, takes the background)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border: the cardboard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margin: the gap to the next parcel (always clear)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4434840"/>
            <a:ext cx="8046720" cy="411480"/>
          </a:xfrm>
          <a:prstGeom prst="roundRect">
            <a:avLst>
              <a:gd name="adj" fmla="val 17778"/>
            </a:avLst>
          </a:prstGeom>
          <a:solidFill>
            <a:srgbClr val="F5EBD8"/>
          </a:solidFill>
          <a:ln/>
        </p:spPr>
      </p:sp>
      <p:sp>
        <p:nvSpPr>
          <p:cNvPr id="17" name="Text 13"/>
          <p:cNvSpPr/>
          <p:nvPr/>
        </p:nvSpPr>
        <p:spPr>
          <a:xfrm>
            <a:off x="749808" y="4434840"/>
            <a:ext cx="7644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7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it:  </a:t>
            </a:r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→ Computed → the box diagram shows all four sizes.</a:t>
            </a:r>
            <a:endParaRPr lang="en-US" sz="12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3" name="Image 0" descr="C:\Users\Bedanga.BEDANGA-PC\.claude\skills\tsi-deck-theme-v2\icons\code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48463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8992" y="32004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Box model shorthand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7315200" y="402336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5EBD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9A7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548640" y="10789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Code-along  ·  3 min  ·  type with me  ·  W2D2/instructor-demos/B7-box-model/  (steps 01–04)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8046720" cy="2697480"/>
          </a:xfrm>
          <a:prstGeom prst="roundRect">
            <a:avLst>
              <a:gd name="adj" fmla="val 2712"/>
            </a:avLst>
          </a:prstGeom>
          <a:solidFill>
            <a:srgbClr val="16274A"/>
          </a:solidFill>
          <a:ln/>
        </p:spPr>
      </p:sp>
      <p:sp>
        <p:nvSpPr>
          <p:cNvPr id="9" name="Shape 5"/>
          <p:cNvSpPr/>
          <p:nvPr/>
        </p:nvSpPr>
        <p:spPr>
          <a:xfrm>
            <a:off x="694944" y="1581912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Shape 6"/>
          <p:cNvSpPr/>
          <p:nvPr/>
        </p:nvSpPr>
        <p:spPr>
          <a:xfrm>
            <a:off x="841248" y="1581912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7"/>
          <p:cNvSpPr/>
          <p:nvPr/>
        </p:nvSpPr>
        <p:spPr>
          <a:xfrm>
            <a:off x="987552" y="1581912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Text 8"/>
          <p:cNvSpPr/>
          <p:nvPr/>
        </p:nvSpPr>
        <p:spPr>
          <a:xfrm>
            <a:off x="1188720" y="1517904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8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css/style.css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749808" y="1810512"/>
            <a:ext cx="76809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 {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width: 300px;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20px;               /* all 4 sides */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10px 20px;          /* top+bottom  left+right */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10px 20px 5px 0;    /* top right bottom left */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border: 2px solid #990011;   /* width style colour */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margin: 0 auto;              /* centre: needs a width */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border-radius: 12px;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279392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F5EBD8"/>
          </a:solidFill>
          <a:ln/>
        </p:spPr>
      </p:sp>
      <p:sp>
        <p:nvSpPr>
          <p:cNvPr id="15" name="Text 11"/>
          <p:cNvSpPr/>
          <p:nvPr/>
        </p:nvSpPr>
        <p:spPr>
          <a:xfrm>
            <a:off x="749808" y="4279392"/>
            <a:ext cx="7644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7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values go clockwise from the top:  </a:t>
            </a:r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top, right, bottom, left (TRouBLe). margin: 0 auto only centres a box that has a width.</a:t>
            </a:r>
            <a:endParaRPr lang="en-US" sz="12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3" name="Image 0" descr="C:\Users\Bedanga.BEDANGA-PC\.claude\skills\tsi-deck-theme-v2\icons\box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48463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8992" y="3200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width trap: content-box vs border-box</a:t>
            </a:r>
            <a:endParaRPr lang="en-US" sz="2700" dirty="0"/>
          </a:p>
        </p:txBody>
      </p:sp>
      <p:sp>
        <p:nvSpPr>
          <p:cNvPr id="6" name="Shape 2"/>
          <p:cNvSpPr/>
          <p:nvPr/>
        </p:nvSpPr>
        <p:spPr>
          <a:xfrm>
            <a:off x="548640" y="1188720"/>
            <a:ext cx="3931920" cy="2103120"/>
          </a:xfrm>
          <a:prstGeom prst="roundRect">
            <a:avLst>
              <a:gd name="adj" fmla="val 3478"/>
            </a:avLst>
          </a:prstGeom>
          <a:solidFill>
            <a:srgbClr val="FBE9EA"/>
          </a:solidFill>
          <a:ln/>
        </p:spPr>
      </p:sp>
      <p:sp>
        <p:nvSpPr>
          <p:cNvPr id="7" name="Text 3"/>
          <p:cNvSpPr/>
          <p:nvPr/>
        </p:nvSpPr>
        <p:spPr>
          <a:xfrm>
            <a:off x="731520" y="131673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content-box (default): adds up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731520" y="1737360"/>
            <a:ext cx="3566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2C3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width: 300px;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2C3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padding: 20px;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2C3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border: 5px solid;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2C3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 width = 300+40+10 = 350px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4663440" y="1188720"/>
            <a:ext cx="3931920" cy="2103120"/>
          </a:xfrm>
          <a:prstGeom prst="roundRect">
            <a:avLst>
              <a:gd name="adj" fmla="val 3478"/>
            </a:avLst>
          </a:prstGeom>
          <a:solidFill>
            <a:srgbClr val="E8F3EA"/>
          </a:solidFill>
          <a:ln/>
        </p:spPr>
      </p:sp>
      <p:sp>
        <p:nvSpPr>
          <p:cNvPr id="10" name="Text 6"/>
          <p:cNvSpPr/>
          <p:nvPr/>
        </p:nvSpPr>
        <p:spPr>
          <a:xfrm>
            <a:off x="4846320" y="131673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6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border-box: what you say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846320" y="1737360"/>
            <a:ext cx="3566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2C3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box-sizing: border-box;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2C3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width: 300px;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2C3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padding: 20px; border: 5px solid;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2C3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 width = 300px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429000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16274A"/>
          </a:solidFill>
          <a:ln/>
        </p:spPr>
      </p:sp>
      <p:sp>
        <p:nvSpPr>
          <p:cNvPr id="13" name="Shape 9"/>
          <p:cNvSpPr/>
          <p:nvPr/>
        </p:nvSpPr>
        <p:spPr>
          <a:xfrm>
            <a:off x="694944" y="3547872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4" name="Shape 10"/>
          <p:cNvSpPr/>
          <p:nvPr/>
        </p:nvSpPr>
        <p:spPr>
          <a:xfrm>
            <a:off x="841248" y="3547872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5" name="Shape 11"/>
          <p:cNvSpPr/>
          <p:nvPr/>
        </p:nvSpPr>
        <p:spPr>
          <a:xfrm>
            <a:off x="987552" y="3547872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6" name="Text 12"/>
          <p:cNvSpPr/>
          <p:nvPr/>
        </p:nvSpPr>
        <p:spPr>
          <a:xfrm>
            <a:off x="1188720" y="3483864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8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 of css/style.css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749808" y="377647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{ box-sizing: border-box; }   /* many developers start with this */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48640" y="4297680"/>
            <a:ext cx="8046720" cy="457200"/>
          </a:xfrm>
          <a:prstGeom prst="roundRect">
            <a:avLst>
              <a:gd name="adj" fmla="val 16000"/>
            </a:avLst>
          </a:prstGeom>
          <a:solidFill>
            <a:srgbClr val="F5EBD8"/>
          </a:solidFill>
          <a:ln/>
        </p:spPr>
      </p:sp>
      <p:sp>
        <p:nvSpPr>
          <p:cNvPr id="19" name="Text 15"/>
          <p:cNvSpPr/>
          <p:nvPr/>
        </p:nvSpPr>
        <p:spPr>
          <a:xfrm>
            <a:off x="749808" y="4297680"/>
            <a:ext cx="7644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7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avatar:  </a:t>
            </a:r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border-radius: 50% gives a circle only when width = height.</a:t>
            </a:r>
            <a:endParaRPr lang="en-US" sz="12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3" name="Image 0" descr="C:\Users\Bedanga.BEDANGA-PC\.claude\skills\tsi-deck-theme-v2\icons\wrench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48463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8992" y="32004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D2-12  ·  Broken cards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7315200" y="402336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5EBD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9A7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548640" y="10789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minutes  ·  solo  ·  W2D2/classwork/D2-12-broken-cards/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66928" y="1554480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005840" y="152704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index.html: 3 student cards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66928" y="2011680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005840" y="198424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the third card wrap?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566928" y="2468880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005840" y="244144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wrapper in the middle?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66928" y="2926080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005840" y="289864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→ Computed: check every box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66928" y="3383280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005840" y="335584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borders and the avatars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5760720" y="1554480"/>
            <a:ext cx="2834640" cy="2331720"/>
          </a:xfrm>
          <a:prstGeom prst="roundRect">
            <a:avLst>
              <a:gd name="adj" fmla="val 3137"/>
            </a:avLst>
          </a:prstGeom>
          <a:solidFill>
            <a:srgbClr val="FFF3F4"/>
          </a:solidFill>
          <a:ln/>
        </p:spPr>
      </p:sp>
      <p:sp>
        <p:nvSpPr>
          <p:cNvPr id="19" name="Text 15"/>
          <p:cNvSpPr/>
          <p:nvPr/>
        </p:nvSpPr>
        <p:spPr>
          <a:xfrm>
            <a:off x="5943600" y="168249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DONE looks like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5943600" y="2057400"/>
            <a:ext cx="2468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cards in one row.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wrapper is centred.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card has padding and a visible border.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avatars are round circles.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548640" y="4206240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F5EBD8"/>
          </a:solidFill>
          <a:ln/>
        </p:spPr>
      </p:sp>
      <p:sp>
        <p:nvSpPr>
          <p:cNvPr id="22" name="Text 18"/>
          <p:cNvSpPr/>
          <p:nvPr/>
        </p:nvSpPr>
        <p:spPr>
          <a:xfrm>
            <a:off x="749808" y="4206240"/>
            <a:ext cx="7644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7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bugs. Find at least 3.  </a:t>
            </a:r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the reveal: solution/BUGS.md on the projector. Write your score line in the README.</a:t>
            </a:r>
            <a:endParaRPr lang="en-US" sz="12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3" name="Image 0" descr="C:\Users\Bedanga.BEDANGA-PC\.claude\skills\tsi-deck-theme-v2\icons\users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48463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8992" y="32004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D2-13  ·  Profile card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7315200" y="402336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5EBD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9A7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548640" y="10789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minutes  ·  solo  ·  W2D2/classwork/D2-13-profile-card/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66928" y="1554480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005840" y="152704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index.html + the empty css/style.css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66928" y="2011680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005840" y="198424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card with a width, padding and a border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566928" y="2468880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005840" y="244144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border-radius + box-sizing: border-box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66928" y="2926080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005840" y="289864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it with margin: 0 auto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66928" y="3383280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005840" y="335584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Sunita's avatar a round circle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5760720" y="1554480"/>
            <a:ext cx="2834640" cy="2331720"/>
          </a:xfrm>
          <a:prstGeom prst="roundRect">
            <a:avLst>
              <a:gd name="adj" fmla="val 3137"/>
            </a:avLst>
          </a:prstGeom>
          <a:solidFill>
            <a:srgbClr val="FFF3F4"/>
          </a:solidFill>
          <a:ln/>
        </p:spPr>
      </p:sp>
      <p:sp>
        <p:nvSpPr>
          <p:cNvPr id="19" name="Text 15"/>
          <p:cNvSpPr/>
          <p:nvPr/>
        </p:nvSpPr>
        <p:spPr>
          <a:xfrm>
            <a:off x="5943600" y="168249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DONE looks like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5943600" y="2057400"/>
            <a:ext cx="2468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centred card with padding, a border and round corners.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avatar is a circle.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shows the width you wrote.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548640" y="4206240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F5EBD8"/>
          </a:solidFill>
          <a:ln/>
        </p:spPr>
      </p:sp>
      <p:sp>
        <p:nvSpPr>
          <p:cNvPr id="22" name="Text 18"/>
          <p:cNvSpPr/>
          <p:nvPr/>
        </p:nvSpPr>
        <p:spPr>
          <a:xfrm>
            <a:off x="749808" y="4206240"/>
            <a:ext cx="7644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7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&amp; tell next:  </a:t>
            </a:r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cards go on the projector. Be ready to explain one rule.</a:t>
            </a:r>
            <a:endParaRPr lang="en-US" sz="12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3" name="Image 0" descr="C:\Users\Bedanga.BEDANGA-PC\.claude\skills\tsi-deck-theme-v2\icons\users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48463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8992" y="32004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D2-13  ·  Show &amp; tell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7315200" y="402336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5EBD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9A7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548640" y="10789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 ·  2–3 volunteers  ·  your profile card on the projector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548640" y="1508760"/>
            <a:ext cx="8046720" cy="1188720"/>
          </a:xfrm>
          <a:prstGeom prst="roundRect">
            <a:avLst>
              <a:gd name="adj" fmla="val 6154"/>
            </a:avLst>
          </a:prstGeom>
          <a:solidFill>
            <a:srgbClr val="FFF3F4"/>
          </a:solidFill>
          <a:ln/>
        </p:spPr>
      </p:sp>
      <p:sp>
        <p:nvSpPr>
          <p:cNvPr id="9" name="Text 5"/>
          <p:cNvSpPr/>
          <p:nvPr/>
        </p:nvSpPr>
        <p:spPr>
          <a:xfrm>
            <a:off x="868680" y="164592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gets shown, not hidden.</a:t>
            </a:r>
            <a:endParaRPr lang="en-US" sz="2400" dirty="0"/>
          </a:p>
        </p:txBody>
      </p:sp>
      <p:sp>
        <p:nvSpPr>
          <p:cNvPr id="10" name="Shape 6"/>
          <p:cNvSpPr/>
          <p:nvPr/>
        </p:nvSpPr>
        <p:spPr>
          <a:xfrm>
            <a:off x="548640" y="288036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F9F6F5"/>
          </a:solidFill>
          <a:ln w="9525">
            <a:solidFill>
              <a:srgbClr val="E8E2E1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31520" y="300837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31520" y="33832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card in Live Server on the big screen.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3291840" y="288036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FFF3F4"/>
          </a:solidFill>
          <a:ln/>
        </p:spPr>
      </p:sp>
      <p:sp>
        <p:nvSpPr>
          <p:cNvPr id="14" name="Text 10"/>
          <p:cNvSpPr/>
          <p:nvPr/>
        </p:nvSpPr>
        <p:spPr>
          <a:xfrm>
            <a:off x="3474720" y="300837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Inspect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474720" y="33832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tab: read the real width aloud.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035040" y="288036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F9F6F5"/>
          </a:solidFill>
          <a:ln w="9525">
            <a:solidFill>
              <a:srgbClr val="E8E2E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217920" y="300837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6217920" y="33832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at the rule that makes the avatar round.</a:t>
            </a:r>
            <a:endParaRPr lang="en-US" sz="12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3" name="Image 0" descr="C:\Users\Bedanga.BEDANGA-PC\.claude\skills\tsi-deck-theme-v2\icons\layout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48463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8992" y="32004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Display: the queue vs the bench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7315200" y="402336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5EBD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9A7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548640" y="10789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Code-along  ·  3 min  ·  type with me  ·  W2D2/instructor-demos/B8-display/  (steps 01–02)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48640" y="146304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14213D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2240280" y="15544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queue: each on its own line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48640" y="2029968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14213D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inline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2240280" y="21214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bench: side by side, no up / down push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48640" y="2596896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99001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inline-block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240280" y="26883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bench, but each keeps its own size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48640" y="3163824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14213D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240280" y="32552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the room: no gap left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303520" y="1463040"/>
            <a:ext cx="3291840" cy="2194560"/>
          </a:xfrm>
          <a:prstGeom prst="roundRect">
            <a:avLst>
              <a:gd name="adj" fmla="val 3333"/>
            </a:avLst>
          </a:prstGeom>
          <a:solidFill>
            <a:srgbClr val="16274A"/>
          </a:solidFill>
          <a:ln/>
        </p:spPr>
      </p:sp>
      <p:sp>
        <p:nvSpPr>
          <p:cNvPr id="17" name="Shape 13"/>
          <p:cNvSpPr/>
          <p:nvPr/>
        </p:nvSpPr>
        <p:spPr>
          <a:xfrm>
            <a:off x="5449824" y="1581912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8" name="Shape 14"/>
          <p:cNvSpPr/>
          <p:nvPr/>
        </p:nvSpPr>
        <p:spPr>
          <a:xfrm>
            <a:off x="5596128" y="1581912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9" name="Shape 15"/>
          <p:cNvSpPr/>
          <p:nvPr/>
        </p:nvSpPr>
        <p:spPr>
          <a:xfrm>
            <a:off x="5742432" y="1581912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0" name="Text 16"/>
          <p:cNvSpPr/>
          <p:nvPr/>
        </p:nvSpPr>
        <p:spPr>
          <a:xfrm>
            <a:off x="5943600" y="151790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8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css/style.css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5504688" y="1810512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.menu {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list-style: none;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0;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.menu li {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inline-block;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548640" y="3931920"/>
            <a:ext cx="8046720" cy="685800"/>
          </a:xfrm>
          <a:prstGeom prst="roundRect">
            <a:avLst>
              <a:gd name="adj" fmla="val 10667"/>
            </a:avLst>
          </a:prstGeom>
          <a:solidFill>
            <a:srgbClr val="F5EBD8"/>
          </a:solidFill>
          <a:ln/>
        </p:spPr>
      </p:sp>
      <p:sp>
        <p:nvSpPr>
          <p:cNvPr id="23" name="Text 19"/>
          <p:cNvSpPr/>
          <p:nvPr/>
        </p:nvSpPr>
        <p:spPr>
          <a:xfrm>
            <a:off x="749808" y="3931920"/>
            <a:ext cx="7644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7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display: none vs visibility: hidden:  </a:t>
            </a:r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= gone, no gap. hidden = invisible, but the gap stays. Inline boxes ignore margin-top.</a:t>
            </a:r>
            <a:endParaRPr lang="en-US" sz="12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3" name="Image 0" descr="C:\Users\Bedanga.BEDANGA-PC\.claude\skills\tsi-deck-theme-v2\icons\wrench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48463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8992" y="32004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D2-14  ·  Nav won't behave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7315200" y="402336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5EBD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9A7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548640" y="10789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minutes  ·  solo  ·  W2D2/classwork/D2-14-nav-wont-behave/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66928" y="1554480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005840" y="152704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index.html: the Momo House header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66928" y="2011680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005840" y="198424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the logo?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566928" y="2468880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005840" y="244144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are there bullets? Why is it a column?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66928" y="2926080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005840" y="289864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a nav link: padding and margin-top?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66928" y="3383280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005840" y="335584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every class name with the HTML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5760720" y="1554480"/>
            <a:ext cx="2834640" cy="2331720"/>
          </a:xfrm>
          <a:prstGeom prst="roundRect">
            <a:avLst>
              <a:gd name="adj" fmla="val 3137"/>
            </a:avLst>
          </a:prstGeom>
          <a:solidFill>
            <a:srgbClr val="FFF3F4"/>
          </a:solidFill>
          <a:ln/>
        </p:spPr>
      </p:sp>
      <p:sp>
        <p:nvSpPr>
          <p:cNvPr id="19" name="Text 15"/>
          <p:cNvSpPr/>
          <p:nvPr/>
        </p:nvSpPr>
        <p:spPr>
          <a:xfrm>
            <a:off x="5943600" y="168249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DONE looks like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5943600" y="2057400"/>
            <a:ext cx="2468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logo shows.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nav is ONE row, no bullets.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links have clean padding and do not overlap the hero.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548640" y="4206240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F5EBD8"/>
          </a:solidFill>
          <a:ln/>
        </p:spPr>
      </p:sp>
      <p:sp>
        <p:nvSpPr>
          <p:cNvPr id="22" name="Text 18"/>
          <p:cNvSpPr/>
          <p:nvPr/>
        </p:nvSpPr>
        <p:spPr>
          <a:xfrm>
            <a:off x="749808" y="4206240"/>
            <a:ext cx="7644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7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bugs. Find at least 3.  </a:t>
            </a:r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the reveal: solution/BUGS.md on the projector. Write your score line in the README.</a:t>
            </a:r>
            <a:endParaRPr lang="en-US" sz="12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3" name="Image 0" descr="C:\Users\Bedanga.BEDANGA-PC\.claude\skills\tsi-deck-theme-v2\icons\rocket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48463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8992" y="32004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D2-15  ·  Style Momo House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7315200" y="402336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5EBD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9A7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548640" y="10789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minutes  ·  solo  ·  W2D2/classwork/D2-15-style-momo-house/  ·  one css/style.css for 4 pages</a:t>
            </a:r>
            <a:endParaRPr lang="en-US" sz="13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81381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914400"/>
                <a:gridCol w="64008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page has…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1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0:06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&lt;link&gt; on ALL 4 pages + body font and background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6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0:12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header + a horizontal nav (no bullets, inline-block)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0:18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hero banner (images/hero-momo.svg) + the h1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6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0:24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menu table + 3 dish cards (padding, border, radius)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0:28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footer + :hover on the links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6F5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48640" y="4160520"/>
            <a:ext cx="8046720" cy="594360"/>
          </a:xfrm>
          <a:prstGeom prst="roundRect">
            <a:avLst>
              <a:gd name="adj" fmla="val 12308"/>
            </a:avLst>
          </a:prstGeom>
          <a:solidFill>
            <a:srgbClr val="F5EBD8"/>
          </a:solidFill>
          <a:ln/>
        </p:spPr>
      </p:sp>
      <p:sp>
        <p:nvSpPr>
          <p:cNvPr id="10" name="Text 5"/>
          <p:cNvSpPr/>
          <p:nvPr/>
        </p:nvSpPr>
        <p:spPr>
          <a:xfrm>
            <a:off x="749808" y="4160520"/>
            <a:ext cx="7644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7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looks like: all 4 pages wear the same uniform.  </a:t>
            </a:r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through index, menu, order, about. One file, css/style.css, dresses them all.</a:t>
            </a:r>
            <a:endParaRPr lang="en-US" sz="12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3" name="Image 0" descr="C:\Users\Bedanga.BEDANGA-PC\.claude\skills\tsi-deck-theme-v2\icons\box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48463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8992" y="3200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Bootstrap = IKEA for websites</a:t>
            </a:r>
            <a:endParaRPr lang="en-US" sz="2700" dirty="0"/>
          </a:p>
        </p:txBody>
      </p:sp>
      <p:sp>
        <p:nvSpPr>
          <p:cNvPr id="6" name="Shape 2"/>
          <p:cNvSpPr/>
          <p:nvPr/>
        </p:nvSpPr>
        <p:spPr>
          <a:xfrm>
            <a:off x="548640" y="1188720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F9F6F5"/>
          </a:solidFill>
          <a:ln w="9525">
            <a:solidFill>
              <a:srgbClr val="E8E2E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31520" y="131673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wood = your CSS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731520" y="1691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cut every piece. Slow, but you understand every joint.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548640" y="2148840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FFF3F4"/>
          </a:solidFill>
          <a:ln/>
        </p:spPr>
      </p:sp>
      <p:sp>
        <p:nvSpPr>
          <p:cNvPr id="10" name="Text 6"/>
          <p:cNvSpPr/>
          <p:nvPr/>
        </p:nvSpPr>
        <p:spPr>
          <a:xfrm>
            <a:off x="731520" y="227685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IKEA = Bootstrap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31520" y="26517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Ready-made parts with names. Fast. Looks like many other sites.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310896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F9F6F5"/>
          </a:solidFill>
          <a:ln w="9525">
            <a:solidFill>
              <a:srgbClr val="E8E2E1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31520" y="323697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 later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31520" y="3611880"/>
            <a:ext cx="3200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D2-FF6 Bootstrap try-it, or at home.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4297680" y="1188720"/>
            <a:ext cx="4297680" cy="2697480"/>
          </a:xfrm>
          <a:prstGeom prst="roundRect">
            <a:avLst>
              <a:gd name="adj" fmla="val 2712"/>
            </a:avLst>
          </a:prstGeom>
          <a:solidFill>
            <a:srgbClr val="16274A"/>
          </a:solidFill>
          <a:ln/>
        </p:spPr>
      </p:sp>
      <p:sp>
        <p:nvSpPr>
          <p:cNvPr id="16" name="Shape 12"/>
          <p:cNvSpPr/>
          <p:nvPr/>
        </p:nvSpPr>
        <p:spPr>
          <a:xfrm>
            <a:off x="4443984" y="1307592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7" name="Shape 13"/>
          <p:cNvSpPr/>
          <p:nvPr/>
        </p:nvSpPr>
        <p:spPr>
          <a:xfrm>
            <a:off x="4590288" y="1307592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8" name="Shape 14"/>
          <p:cNvSpPr/>
          <p:nvPr/>
        </p:nvSpPr>
        <p:spPr>
          <a:xfrm>
            <a:off x="4736592" y="1307592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9" name="Text 15"/>
          <p:cNvSpPr/>
          <p:nvPr/>
        </p:nvSpPr>
        <p:spPr>
          <a:xfrm>
            <a:off x="4937760" y="124358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8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step-02-bootstrap/index.html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4498848" y="1536192"/>
            <a:ext cx="39319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class="container"&gt;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class="card"&gt;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 class="card-body"&gt;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&lt;h2&gt;Steam momo&lt;/h2&gt;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&lt;button class="btn btn-primary"&gt;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Order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&lt;/button&gt;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&lt;/div&gt;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&lt;/div&gt;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548640" y="406908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F5EBD8"/>
          </a:solidFill>
          <a:ln/>
        </p:spPr>
      </p:sp>
      <p:sp>
        <p:nvSpPr>
          <p:cNvPr id="22" name="Text 18"/>
          <p:cNvSpPr/>
          <p:nvPr/>
        </p:nvSpPr>
        <p:spPr>
          <a:xfrm>
            <a:off x="749808" y="4069080"/>
            <a:ext cx="7644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7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copy:  </a:t>
            </a:r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&lt;link rel="stylesheet" href="css/bootstrap.min.css"&gt; (5.3.3) works with no internet.</a:t>
            </a:r>
            <a:endParaRPr lang="en-US" sz="12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3" name="Image 0" descr="C:\Users\Bedanga.BEDANGA-PC\.claude\skills\tsi-deck-theme-v2\icons\award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48463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8992" y="32004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Rapid quiz: 10 questions, Kahoot-style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7315200" y="402336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5EBD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9A7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548640" y="10789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 ·  everyone  ·  30 seconds each  ·  Kahoot or hands up A / B / C / D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548640" y="1508760"/>
            <a:ext cx="2560320" cy="1600200"/>
          </a:xfrm>
          <a:prstGeom prst="roundRect">
            <a:avLst>
              <a:gd name="adj" fmla="val 4571"/>
            </a:avLst>
          </a:prstGeom>
          <a:solidFill>
            <a:srgbClr val="F9F6F5"/>
          </a:solidFill>
          <a:ln w="9525">
            <a:solidFill>
              <a:srgbClr val="E8E2E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" y="163677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Kahoot (Wi-Fi)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731520" y="201168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on your phone. 30 seconds per question.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3291840" y="1508760"/>
            <a:ext cx="2560320" cy="1600200"/>
          </a:xfrm>
          <a:prstGeom prst="roundRect">
            <a:avLst>
              <a:gd name="adj" fmla="val 4571"/>
            </a:avLst>
          </a:prstGeom>
          <a:solidFill>
            <a:srgbClr val="FFF3F4"/>
          </a:solidFill>
          <a:ln/>
        </p:spPr>
      </p:sp>
      <p:sp>
        <p:nvSpPr>
          <p:cNvPr id="12" name="Text 8"/>
          <p:cNvSpPr/>
          <p:nvPr/>
        </p:nvSpPr>
        <p:spPr>
          <a:xfrm>
            <a:off x="3474720" y="163677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Wi-Fi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474720" y="201168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read the question. Show 1 – 4 fingers for A – D.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035040" y="1508760"/>
            <a:ext cx="2560320" cy="1600200"/>
          </a:xfrm>
          <a:prstGeom prst="roundRect">
            <a:avLst>
              <a:gd name="adj" fmla="val 4571"/>
            </a:avLst>
          </a:prstGeom>
          <a:solidFill>
            <a:srgbClr val="F9F6F5"/>
          </a:solidFill>
          <a:ln w="9525">
            <a:solidFill>
              <a:srgbClr val="E8E2E1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217920" y="163677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Topics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217920" y="201168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main, alt, button, video, link, selectors, who wins, units, box model, display.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48640" y="3291840"/>
            <a:ext cx="8046720" cy="822960"/>
          </a:xfrm>
          <a:prstGeom prst="roundRect">
            <a:avLst>
              <a:gd name="adj" fmla="val 8889"/>
            </a:avLst>
          </a:prstGeom>
          <a:solidFill>
            <a:srgbClr val="FFF3F4"/>
          </a:solidFill>
          <a:ln/>
        </p:spPr>
      </p:sp>
      <p:sp>
        <p:nvSpPr>
          <p:cNvPr id="18" name="Text 14"/>
          <p:cNvSpPr/>
          <p:nvPr/>
        </p:nvSpPr>
        <p:spPr>
          <a:xfrm>
            <a:off x="868680" y="342900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Wrong answers are welcome. We fix them together.</a:t>
            </a:r>
            <a:endParaRPr lang="en-US" sz="2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3" name="Image 0" descr="C:\Users\Bedanga.BEDANGA-PC\.claude\skills\tsi-deck-theme-v2\icons\book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48463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8992" y="32004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Homework + exit ticket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7315200" y="402336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5EBD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9A7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548640" y="10789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  ·  1 minute  ·  everyone  ·  on paper or in chat</a:t>
            </a:r>
            <a:endParaRPr lang="en-US" sz="13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81381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4480560"/>
                <a:gridCol w="1097280"/>
                <a:gridCol w="1280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 ·  about 2.5 h: MUST-DO first (1 h), HW2 if you can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13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D2-HW1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MUST-DO · Haunted portfolio repair (fix the &lt;link&gt; first)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bug-hunt 12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min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6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D2-HW2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you can · Style your portfolio: CHECKLIST.md, 12 items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 1.5 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D2-HW3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MUST-DO · Self-check &amp; interview prep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min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6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D2-HW4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Patan Craft Shop replay (stretch, optional)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bug-hunt 10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+30 min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48640" y="3611880"/>
            <a:ext cx="8046720" cy="566928"/>
          </a:xfrm>
          <a:prstGeom prst="roundRect">
            <a:avLst>
              <a:gd name="adj" fmla="val 12903"/>
            </a:avLst>
          </a:prstGeom>
          <a:solidFill>
            <a:srgbClr val="FFF3F4"/>
          </a:solidFill>
          <a:ln/>
        </p:spPr>
      </p:sp>
      <p:sp>
        <p:nvSpPr>
          <p:cNvPr id="10" name="Text 5"/>
          <p:cNvSpPr/>
          <p:nvPr/>
        </p:nvSpPr>
        <p:spPr>
          <a:xfrm>
            <a:off x="749808" y="3611880"/>
            <a:ext cx="7644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ticket:  </a:t>
            </a:r>
            <a:pPr indent="0" marL="0">
              <a:buNone/>
            </a:pPr>
            <a:r>
              <a:rPr lang="en-US" sz="1250" dirty="0">
                <a:solidFill>
                  <a:srgbClr val="2C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One CSS bug you fixed today and how you found it.  2) One thing that is still confusing.</a:t>
            </a:r>
            <a:endParaRPr lang="en-US" sz="1250" dirty="0"/>
          </a:p>
        </p:txBody>
      </p:sp>
      <p:sp>
        <p:nvSpPr>
          <p:cNvPr id="11" name="Shape 6"/>
          <p:cNvSpPr/>
          <p:nvPr/>
        </p:nvSpPr>
        <p:spPr>
          <a:xfrm>
            <a:off x="548640" y="4315968"/>
            <a:ext cx="8046720" cy="457200"/>
          </a:xfrm>
          <a:prstGeom prst="roundRect">
            <a:avLst>
              <a:gd name="adj" fmla="val 16000"/>
            </a:avLst>
          </a:prstGeom>
          <a:solidFill>
            <a:srgbClr val="14213D"/>
          </a:solidFill>
          <a:ln/>
        </p:spPr>
      </p:sp>
      <p:sp>
        <p:nvSpPr>
          <p:cNvPr id="12" name="Text 7"/>
          <p:cNvSpPr/>
          <p:nvPr/>
        </p:nvSpPr>
        <p:spPr>
          <a:xfrm>
            <a:off x="749808" y="4315968"/>
            <a:ext cx="7644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CSS deeper. Flexbox and layout: boxes side by side, the modern way.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W2D2 — From Skeleton to Outfit: Semantic HTML &amp; CSS Basics</dc:title>
  <dc:subject>PptxGenJS Presentation</dc:subject>
  <dc:creator>PptxGenJS</dc:creator>
  <cp:lastModifiedBy>PptxGenJS</cp:lastModifiedBy>
  <cp:revision>1</cp:revision>
  <dcterms:created xsi:type="dcterms:W3CDTF">2026-10-25T14:28:21Z</dcterms:created>
  <dcterms:modified xsi:type="dcterms:W3CDTF">2026-10-25T14:28:21Z</dcterms:modified>
</cp:coreProperties>
</file>